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53a9bb5631436a" /><Relationship Type="http://schemas.openxmlformats.org/officeDocument/2006/relationships/extended-properties" Target="/docProps/app.xml" Id="R7fc5b35bf3f84a99" /><Relationship Type="http://schemas.openxmlformats.org/officeDocument/2006/relationships/officeDocument" Target="/ppt/presentation.xml" Id="R1387bb55acac4c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07b97114d643e1"/>
  </p:sldMasterIdLst>
  <p:notesMasterIdLst>
    <p:notesMasterId xmlns:r="http://schemas.openxmlformats.org/officeDocument/2006/relationships" r:id="Re97c9c8968fa45ae"/>
  </p:notesMasterIdLst>
  <p:sldIdLst>
    <p:sldId xmlns:r="http://schemas.openxmlformats.org/officeDocument/2006/relationships" id="256" r:id="R090b274b5468419c"/>
    <p:sldId xmlns:r="http://schemas.openxmlformats.org/officeDocument/2006/relationships" id="257" r:id="R17eb967b28e54ea6"/>
    <p:sldId xmlns:r="http://schemas.openxmlformats.org/officeDocument/2006/relationships" id="258" r:id="R209bdb7c17114a5f"/>
    <p:sldId xmlns:r="http://schemas.openxmlformats.org/officeDocument/2006/relationships" id="259" r:id="R6124f1c60ea44c3e"/>
    <p:sldId xmlns:r="http://schemas.openxmlformats.org/officeDocument/2006/relationships" id="260" r:id="R794572bb4e2a48e9"/>
    <p:sldId xmlns:r="http://schemas.openxmlformats.org/officeDocument/2006/relationships" id="261" r:id="R958526a4164c4c30"/>
    <p:sldId xmlns:r="http://schemas.openxmlformats.org/officeDocument/2006/relationships" id="262" r:id="Rf82e9792e5c7433b"/>
    <p:sldId xmlns:r="http://schemas.openxmlformats.org/officeDocument/2006/relationships" id="263" r:id="R2d78bb49081d4718"/>
    <p:sldId xmlns:r="http://schemas.openxmlformats.org/officeDocument/2006/relationships" id="264" r:id="R4ea64cb3378546d4"/>
    <p:sldId xmlns:r="http://schemas.openxmlformats.org/officeDocument/2006/relationships" id="265" r:id="Racbc0f0851644313"/>
    <p:sldId xmlns:r="http://schemas.openxmlformats.org/officeDocument/2006/relationships" id="266" r:id="R7744cbdae93542dd"/>
    <p:sldId xmlns:r="http://schemas.openxmlformats.org/officeDocument/2006/relationships" id="267" r:id="R654a07bed7b5471e"/>
    <p:sldId xmlns:r="http://schemas.openxmlformats.org/officeDocument/2006/relationships" id="268" r:id="Rbacfc03cd020404c"/>
    <p:sldId xmlns:r="http://schemas.openxmlformats.org/officeDocument/2006/relationships" id="269" r:id="R6a69796dc7e042d5"/>
    <p:sldId xmlns:r="http://schemas.openxmlformats.org/officeDocument/2006/relationships" id="270" r:id="Rd512dca8d3924213"/>
    <p:sldId xmlns:r="http://schemas.openxmlformats.org/officeDocument/2006/relationships" id="271" r:id="R0096b210e697497b"/>
    <p:sldId xmlns:r="http://schemas.openxmlformats.org/officeDocument/2006/relationships" id="272" r:id="R62d39deb55c94866"/>
    <p:sldId xmlns:r="http://schemas.openxmlformats.org/officeDocument/2006/relationships" id="273" r:id="R305bfdc169134cb7"/>
    <p:sldId xmlns:r="http://schemas.openxmlformats.org/officeDocument/2006/relationships" id="274" r:id="Rfbfe130a0bcb4d7f"/>
    <p:sldId xmlns:r="http://schemas.openxmlformats.org/officeDocument/2006/relationships" id="275" r:id="R1dd81d6a4592411f"/>
    <p:sldId xmlns:r="http://schemas.openxmlformats.org/officeDocument/2006/relationships" id="276" r:id="R65c0416ddcbe4c26"/>
    <p:sldId xmlns:r="http://schemas.openxmlformats.org/officeDocument/2006/relationships" id="277" r:id="R5acb947f6ec44df8"/>
    <p:sldId xmlns:r="http://schemas.openxmlformats.org/officeDocument/2006/relationships" id="278" r:id="R99b501f1e32e499a"/>
    <p:sldId xmlns:r="http://schemas.openxmlformats.org/officeDocument/2006/relationships" id="279" r:id="R5dac791d0456413f"/>
    <p:sldId xmlns:r="http://schemas.openxmlformats.org/officeDocument/2006/relationships" id="280" r:id="Re3dbcd58fbd3499b"/>
    <p:sldId xmlns:r="http://schemas.openxmlformats.org/officeDocument/2006/relationships" id="281" r:id="R7b8ece7b433e4cab"/>
    <p:sldId xmlns:r="http://schemas.openxmlformats.org/officeDocument/2006/relationships" id="282" r:id="Re7b3fc20d4af4087"/>
    <p:sldId xmlns:r="http://schemas.openxmlformats.org/officeDocument/2006/relationships" id="283" r:id="R85e5955ddcad4464"/>
    <p:sldId xmlns:r="http://schemas.openxmlformats.org/officeDocument/2006/relationships" id="284" r:id="R40e16206fb92425c"/>
    <p:sldId xmlns:r="http://schemas.openxmlformats.org/officeDocument/2006/relationships" id="285" r:id="Rd5d9ee0b30b54db3"/>
  </p:sldIdLst>
  <p:sldSz cx="12192000" cy="76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ed697293284830" /><Relationship Type="http://schemas.openxmlformats.org/officeDocument/2006/relationships/slideMaster" Target="/ppt/slideMasters/slideMaster1.xml" Id="R9007b97114d643e1" /><Relationship Type="http://schemas.openxmlformats.org/officeDocument/2006/relationships/notesMaster" Target="/ppt/notesMasters/notesMaster1.xml" Id="Re97c9c8968fa45ae" /><Relationship Type="http://schemas.openxmlformats.org/officeDocument/2006/relationships/presProps" Target="/ppt/presProps.xml" Id="Re96e57040aa84830" /><Relationship Type="http://schemas.openxmlformats.org/officeDocument/2006/relationships/tableStyles" Target="/ppt/tableStyles.xml" Id="Rc58a236612b741e0" /><Relationship Type="http://schemas.openxmlformats.org/officeDocument/2006/relationships/slide" Target="/ppt/slides/slide1.xml" Id="R090b274b5468419c" /><Relationship Type="http://schemas.openxmlformats.org/officeDocument/2006/relationships/slide" Target="/ppt/slides/slide2.xml" Id="R17eb967b28e54ea6" /><Relationship Type="http://schemas.openxmlformats.org/officeDocument/2006/relationships/slide" Target="/ppt/slides/slide3.xml" Id="R209bdb7c17114a5f" /><Relationship Type="http://schemas.openxmlformats.org/officeDocument/2006/relationships/slide" Target="/ppt/slides/slide4.xml" Id="R6124f1c60ea44c3e" /><Relationship Type="http://schemas.openxmlformats.org/officeDocument/2006/relationships/slide" Target="/ppt/slides/slide5.xml" Id="R794572bb4e2a48e9" /><Relationship Type="http://schemas.openxmlformats.org/officeDocument/2006/relationships/slide" Target="/ppt/slides/slide6.xml" Id="R958526a4164c4c30" /><Relationship Type="http://schemas.openxmlformats.org/officeDocument/2006/relationships/slide" Target="/ppt/slides/slide7.xml" Id="Rf82e9792e5c7433b" /><Relationship Type="http://schemas.openxmlformats.org/officeDocument/2006/relationships/slide" Target="/ppt/slides/slide8.xml" Id="R2d78bb49081d4718" /><Relationship Type="http://schemas.openxmlformats.org/officeDocument/2006/relationships/slide" Target="/ppt/slides/slide9.xml" Id="R4ea64cb3378546d4" /><Relationship Type="http://schemas.openxmlformats.org/officeDocument/2006/relationships/slide" Target="/ppt/slides/slide10.xml" Id="Racbc0f0851644313" /><Relationship Type="http://schemas.openxmlformats.org/officeDocument/2006/relationships/slide" Target="/ppt/slides/slide11.xml" Id="R7744cbdae93542dd" /><Relationship Type="http://schemas.openxmlformats.org/officeDocument/2006/relationships/slide" Target="/ppt/slides/slide12.xml" Id="R654a07bed7b5471e" /><Relationship Type="http://schemas.openxmlformats.org/officeDocument/2006/relationships/slide" Target="/ppt/slides/slide13.xml" Id="Rbacfc03cd020404c" /><Relationship Type="http://schemas.openxmlformats.org/officeDocument/2006/relationships/slide" Target="/ppt/slides/slide14.xml" Id="R6a69796dc7e042d5" /><Relationship Type="http://schemas.openxmlformats.org/officeDocument/2006/relationships/slide" Target="/ppt/slides/slide15.xml" Id="Rd512dca8d3924213" /><Relationship Type="http://schemas.openxmlformats.org/officeDocument/2006/relationships/slide" Target="/ppt/slides/slide16.xml" Id="R0096b210e697497b" /><Relationship Type="http://schemas.openxmlformats.org/officeDocument/2006/relationships/slide" Target="/ppt/slides/slide17.xml" Id="R62d39deb55c94866" /><Relationship Type="http://schemas.openxmlformats.org/officeDocument/2006/relationships/slide" Target="/ppt/slides/slide18.xml" Id="R305bfdc169134cb7" /><Relationship Type="http://schemas.openxmlformats.org/officeDocument/2006/relationships/slide" Target="/ppt/slides/slide19.xml" Id="Rfbfe130a0bcb4d7f" /><Relationship Type="http://schemas.openxmlformats.org/officeDocument/2006/relationships/slide" Target="/ppt/slides/slide20.xml" Id="R1dd81d6a4592411f" /><Relationship Type="http://schemas.openxmlformats.org/officeDocument/2006/relationships/slide" Target="/ppt/slides/slide21.xml" Id="R65c0416ddcbe4c26" /><Relationship Type="http://schemas.openxmlformats.org/officeDocument/2006/relationships/slide" Target="/ppt/slides/slide22.xml" Id="R5acb947f6ec44df8" /><Relationship Type="http://schemas.openxmlformats.org/officeDocument/2006/relationships/slide" Target="/ppt/slides/slide23.xml" Id="R99b501f1e32e499a" /><Relationship Type="http://schemas.openxmlformats.org/officeDocument/2006/relationships/slide" Target="/ppt/slides/slide24.xml" Id="R5dac791d0456413f" /><Relationship Type="http://schemas.openxmlformats.org/officeDocument/2006/relationships/slide" Target="/ppt/slides/slide25.xml" Id="Re3dbcd58fbd3499b" /><Relationship Type="http://schemas.openxmlformats.org/officeDocument/2006/relationships/slide" Target="/ppt/slides/slide26.xml" Id="R7b8ece7b433e4cab" /><Relationship Type="http://schemas.openxmlformats.org/officeDocument/2006/relationships/slide" Target="/ppt/slides/slide27.xml" Id="Re7b3fc20d4af4087" /><Relationship Type="http://schemas.openxmlformats.org/officeDocument/2006/relationships/slide" Target="/ppt/slides/slide28.xml" Id="R85e5955ddcad4464" /><Relationship Type="http://schemas.openxmlformats.org/officeDocument/2006/relationships/slide" Target="/ppt/slides/slide29.xml" Id="R40e16206fb92425c" /><Relationship Type="http://schemas.openxmlformats.org/officeDocument/2006/relationships/slide" Target="/ppt/slides/slide30.xml" Id="Rd5d9ee0b30b54d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f9d54670304c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0665fe226f4db7" /><Relationship Type="http://schemas.openxmlformats.org/officeDocument/2006/relationships/notesMaster" Target="/ppt/notesMasters/notesMaster1.xml" Id="Rfeb01039c6f24a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9709adff8243e1" /><Relationship Type="http://schemas.openxmlformats.org/officeDocument/2006/relationships/notesMaster" Target="/ppt/notesMasters/notesMaster1.xml" Id="Rc680a824fed84f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01d8bebff54310" /><Relationship Type="http://schemas.openxmlformats.org/officeDocument/2006/relationships/notesMaster" Target="/ppt/notesMasters/notesMaster1.xml" Id="R7e21eb0a1fc449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69990ab8754f3b" /><Relationship Type="http://schemas.openxmlformats.org/officeDocument/2006/relationships/notesMaster" Target="/ppt/notesMasters/notesMaster1.xml" Id="R5101d9af753140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db92bbc3bc4428" /><Relationship Type="http://schemas.openxmlformats.org/officeDocument/2006/relationships/notesMaster" Target="/ppt/notesMasters/notesMaster1.xml" Id="R404fdf7fd41840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36a12f48304e54" /><Relationship Type="http://schemas.openxmlformats.org/officeDocument/2006/relationships/notesMaster" Target="/ppt/notesMasters/notesMaster1.xml" Id="R9f69e2f2b47042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168383210043a6" /><Relationship Type="http://schemas.openxmlformats.org/officeDocument/2006/relationships/notesMaster" Target="/ppt/notesMasters/notesMaster1.xml" Id="R033f6a5b794849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b6b3cc0d4f47c1" /><Relationship Type="http://schemas.openxmlformats.org/officeDocument/2006/relationships/notesMaster" Target="/ppt/notesMasters/notesMaster1.xml" Id="R505b33af42a94c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2042aac4134078" /><Relationship Type="http://schemas.openxmlformats.org/officeDocument/2006/relationships/notesMaster" Target="/ppt/notesMasters/notesMaster1.xml" Id="Ra8ef581969bc40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e8974494bd43d3" /><Relationship Type="http://schemas.openxmlformats.org/officeDocument/2006/relationships/notesMaster" Target="/ppt/notesMasters/notesMaster1.xml" Id="Rc97f58d189594f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ed9f2c36a749c1" /><Relationship Type="http://schemas.openxmlformats.org/officeDocument/2006/relationships/notesMaster" Target="/ppt/notesMasters/notesMaster1.xml" Id="Rc67b4bd6788742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3650bf8a8a4782" /><Relationship Type="http://schemas.openxmlformats.org/officeDocument/2006/relationships/notesMaster" Target="/ppt/notesMasters/notesMaster1.xml" Id="R7ebe61c7822d4d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d306ff007d42df" /><Relationship Type="http://schemas.openxmlformats.org/officeDocument/2006/relationships/notesMaster" Target="/ppt/notesMasters/notesMaster1.xml" Id="Rc0069053c82d47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ec1a8c7cfed43e1" /><Relationship Type="http://schemas.openxmlformats.org/officeDocument/2006/relationships/notesMaster" Target="/ppt/notesMasters/notesMaster1.xml" Id="R4225e5efcc0742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39f6e01f9c42c8" /><Relationship Type="http://schemas.openxmlformats.org/officeDocument/2006/relationships/notesMaster" Target="/ppt/notesMasters/notesMaster1.xml" Id="R3711f533b73244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5e3ed3fd43b46e1" /><Relationship Type="http://schemas.openxmlformats.org/officeDocument/2006/relationships/notesMaster" Target="/ppt/notesMasters/notesMaster1.xml" Id="R37af60a1102a460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ae1f76ffc834d30" /><Relationship Type="http://schemas.openxmlformats.org/officeDocument/2006/relationships/notesMaster" Target="/ppt/notesMasters/notesMaster1.xml" Id="R2cde03a4d921454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4de692edf846a4" /><Relationship Type="http://schemas.openxmlformats.org/officeDocument/2006/relationships/notesMaster" Target="/ppt/notesMasters/notesMaster1.xml" Id="Rc081ac5dadc6460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d5aa52505b34fcd" /><Relationship Type="http://schemas.openxmlformats.org/officeDocument/2006/relationships/notesMaster" Target="/ppt/notesMasters/notesMaster1.xml" Id="Rade33428f7bb412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c07523d304b4734" /><Relationship Type="http://schemas.openxmlformats.org/officeDocument/2006/relationships/notesMaster" Target="/ppt/notesMasters/notesMaster1.xml" Id="Re7f380c31f794b0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c4b0ee3c7344976" /><Relationship Type="http://schemas.openxmlformats.org/officeDocument/2006/relationships/notesMaster" Target="/ppt/notesMasters/notesMaster1.xml" Id="R6801e1ab9d82496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7dc4b4e3872466f" /><Relationship Type="http://schemas.openxmlformats.org/officeDocument/2006/relationships/notesMaster" Target="/ppt/notesMasters/notesMaster1.xml" Id="Rd2fae6a530b9473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510bfe412014f4f" /><Relationship Type="http://schemas.openxmlformats.org/officeDocument/2006/relationships/notesMaster" Target="/ppt/notesMasters/notesMaster1.xml" Id="R8b3aaebf00d6416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3bba1dadd5f4195" /><Relationship Type="http://schemas.openxmlformats.org/officeDocument/2006/relationships/notesMaster" Target="/ppt/notesMasters/notesMaster1.xml" Id="Rd64b7e9332ff45b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e1e657fed1f4094" /><Relationship Type="http://schemas.openxmlformats.org/officeDocument/2006/relationships/notesMaster" Target="/ppt/notesMasters/notesMaster1.xml" Id="Rfab605b67705405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1a259e0406642a3" /><Relationship Type="http://schemas.openxmlformats.org/officeDocument/2006/relationships/notesMaster" Target="/ppt/notesMasters/notesMaster1.xml" Id="Rc8161d7142d548d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2dbb322bcdc4080" /><Relationship Type="http://schemas.openxmlformats.org/officeDocument/2006/relationships/notesMaster" Target="/ppt/notesMasters/notesMaster1.xml" Id="R869624e0b4ed431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5944257436e4387" /><Relationship Type="http://schemas.openxmlformats.org/officeDocument/2006/relationships/notesMaster" Target="/ppt/notesMasters/notesMaster1.xml" Id="Rd1aa7f58655546b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fda83fcbfee4f89" /><Relationship Type="http://schemas.openxmlformats.org/officeDocument/2006/relationships/notesMaster" Target="/ppt/notesMasters/notesMaster1.xml" Id="Ra5153f4bb7cc494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b88b4bb39c942a9" /><Relationship Type="http://schemas.openxmlformats.org/officeDocument/2006/relationships/notesMaster" Target="/ppt/notesMasters/notesMaster1.xml" Id="R12615a729b264d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GUARDIAN: presentazione prodotto. Fotografie fornite dal proprietario. Copertina elaborata fotograficamente, schermate aggiornate fornite dal proprietario; rete, credenziali e seriali sostituiti con dati dimostrativi. Fonti complete nelle slide finali e nel manuale: https://sensirion.com/resource/datasheet/SEN6x ; https://www.who.int/publications/i/item/9789240034228 ; https://www.who.int/publications-detail-redirect/9789289002134 ; https://www.epa.gov/chemical-research/3d-printing-research-epa . Dichiarazioni dei componenti non equivalgono a certificazione GUARDIAN.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ac524eed5042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f80bbdc9248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60e2bf990d45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f815882b245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f29268ce014c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1c945e08546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AFCF53-5E13-4C93-9C83-C3F5F6CC4D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78667"/>
            <a:ext cx="9753600" cy="1100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76334A-EE74-43A8-A3D1-433820981E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4191000"/>
            <a:ext cx="8534400" cy="846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364DE5-3336-402C-8375-0F09CA3BAA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3175000"/>
            <a:ext cx="97536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9503EB-5B44-4005-8E32-B7A038DB19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2667"/>
            <a:ext cx="10820400" cy="931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D062C7C-291E-4B8E-9720-923FD2072C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16667"/>
            <a:ext cx="10820400" cy="4741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9BD2FE-A4CF-4998-BDE9-13AA2C8308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2667"/>
            <a:ext cx="10820400" cy="931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F35E02-3EEC-491B-A3E1-B7025D4840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16667"/>
            <a:ext cx="5029200" cy="4741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7FB4AD4-AAA5-4108-917C-D6C461EC05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2116667"/>
            <a:ext cx="5029200" cy="4741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AB7776-A986-4159-B1DA-9BBF2894B2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92667"/>
            <a:ext cx="10820400" cy="931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5C47CE-82F2-412D-897E-5C8D38E239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16667"/>
            <a:ext cx="5029200" cy="4741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56d84447ce4806" /><Relationship Type="http://schemas.openxmlformats.org/officeDocument/2006/relationships/slideLayout" Target="/ppt/slideLayouts/slideLayout1.xml" Id="R6071a6a5eb0744fe" /><Relationship Type="http://schemas.openxmlformats.org/officeDocument/2006/relationships/slideLayout" Target="/ppt/slideLayouts/slideLayout2.xml" Id="R7a31a98a764c4a54" /><Relationship Type="http://schemas.openxmlformats.org/officeDocument/2006/relationships/slideLayout" Target="/ppt/slideLayouts/slideLayout3.xml" Id="R7d3d59a536fb4a25" /><Relationship Type="http://schemas.openxmlformats.org/officeDocument/2006/relationships/slideLayout" Target="/ppt/slideLayouts/slideLayout4.xml" Id="Ree72d0d2947c432b" /><Relationship Type="http://schemas.openxmlformats.org/officeDocument/2006/relationships/slideLayout" Target="/ppt/slideLayouts/slideLayout5.xml" Id="R752919927984405f" /><Relationship Type="http://schemas.openxmlformats.org/officeDocument/2006/relationships/slideLayout" Target="/ppt/slideLayouts/slideLayout6.xml" Id="R7d884a6d66a040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71a6a5eb0744fe"/>
    <p:sldLayoutId xmlns:r="http://schemas.openxmlformats.org/officeDocument/2006/relationships" id="2147483650" r:id="R7a31a98a764c4a54"/>
    <p:sldLayoutId xmlns:r="http://schemas.openxmlformats.org/officeDocument/2006/relationships" id="2147483651" r:id="R7d3d59a536fb4a25"/>
    <p:sldLayoutId xmlns:r="http://schemas.openxmlformats.org/officeDocument/2006/relationships" id="2147483652" r:id="Ree72d0d2947c432b"/>
    <p:sldLayoutId xmlns:r="http://schemas.openxmlformats.org/officeDocument/2006/relationships" id="2147483653" r:id="R752919927984405f"/>
    <p:sldLayoutId xmlns:r="http://schemas.openxmlformats.org/officeDocument/2006/relationships" id="2147483654" r:id="R7d884a6d66a040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bd59c5bfcb4ac5" /><Relationship Type="http://schemas.openxmlformats.org/officeDocument/2006/relationships/image" Target="/ppt/media/image.png" Id="R1b06bd7fddff484d" /><Relationship Type="http://schemas.openxmlformats.org/officeDocument/2006/relationships/notesSlide" Target="/ppt/notesSlides/notesSlide1.xml" Id="Rbed939dcb0584a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4f60de69244f0b" /><Relationship Type="http://schemas.openxmlformats.org/officeDocument/2006/relationships/image" Target="/ppt/media/image2.png" Id="Ra2911ac363bc4771" /><Relationship Type="http://schemas.openxmlformats.org/officeDocument/2006/relationships/notesSlide" Target="/ppt/notesSlides/notesSlide2.xml" Id="Rfca3c64443c34a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ea5b685b234dd6" /><Relationship Type="http://schemas.openxmlformats.org/officeDocument/2006/relationships/notesSlide" Target="/ppt/notesSlides/notesSlide3.xml" Id="R5b9d8a55a2894e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1926ab8646497b" /><Relationship Type="http://schemas.openxmlformats.org/officeDocument/2006/relationships/image" Target="/ppt/media/image3.png" Id="R93b4b01c55f643ff" /><Relationship Type="http://schemas.openxmlformats.org/officeDocument/2006/relationships/notesSlide" Target="/ppt/notesSlides/notesSlide4.xml" Id="Ra0ded26a256247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bdf2c1c854f36" /><Relationship Type="http://schemas.openxmlformats.org/officeDocument/2006/relationships/image" Target="/ppt/media/image4.png" Id="R48ae68fe2fef46d4" /><Relationship Type="http://schemas.openxmlformats.org/officeDocument/2006/relationships/notesSlide" Target="/ppt/notesSlides/notesSlide5.xml" Id="Rfeaae72869884d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2f8a53f19545a8" /><Relationship Type="http://schemas.openxmlformats.org/officeDocument/2006/relationships/image" Target="/ppt/media/image5.png" Id="R50180a4777434064" /><Relationship Type="http://schemas.openxmlformats.org/officeDocument/2006/relationships/notesSlide" Target="/ppt/notesSlides/notesSlide6.xml" Id="R17815571488342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e5497d196b461a" /><Relationship Type="http://schemas.openxmlformats.org/officeDocument/2006/relationships/image" Target="/ppt/media/image6.png" Id="Rfcbbceb4d9fc4818" /><Relationship Type="http://schemas.openxmlformats.org/officeDocument/2006/relationships/notesSlide" Target="/ppt/notesSlides/notesSlide7.xml" Id="R585c280dc1174d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0b3b44091e4f64" /><Relationship Type="http://schemas.openxmlformats.org/officeDocument/2006/relationships/image" Target="/ppt/media/image7.png" Id="R1262ad83281f4c87" /><Relationship Type="http://schemas.openxmlformats.org/officeDocument/2006/relationships/notesSlide" Target="/ppt/notesSlides/notesSlide8.xml" Id="R6e74966768634c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394f0739e44965" /><Relationship Type="http://schemas.openxmlformats.org/officeDocument/2006/relationships/image" Target="/ppt/media/image8.png" Id="R1ae902397f1a4b8d" /><Relationship Type="http://schemas.openxmlformats.org/officeDocument/2006/relationships/notesSlide" Target="/ppt/notesSlides/notesSlide9.xml" Id="R63c174899bd84b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57aeebca2495c" /><Relationship Type="http://schemas.openxmlformats.org/officeDocument/2006/relationships/image" Target="/ppt/media/image9.png" Id="R7b4b08bf463043e5" /><Relationship Type="http://schemas.openxmlformats.org/officeDocument/2006/relationships/notesSlide" Target="/ppt/notesSlides/notesSlide10.xml" Id="R047c6a44f86a47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13503cc8f04e8a" /><Relationship Type="http://schemas.openxmlformats.org/officeDocument/2006/relationships/image" Target="/ppt/media/image10.png" Id="R081bafa965b548ba" /><Relationship Type="http://schemas.openxmlformats.org/officeDocument/2006/relationships/notesSlide" Target="/ppt/notesSlides/notesSlide11.xml" Id="R6d01fb4a646946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543d7697e491a" /><Relationship Type="http://schemas.openxmlformats.org/officeDocument/2006/relationships/image" Target="/ppt/media/image11.png" Id="R3ef7cc5d0b9d4340" /><Relationship Type="http://schemas.openxmlformats.org/officeDocument/2006/relationships/notesSlide" Target="/ppt/notesSlides/notesSlide12.xml" Id="Rd10926b8e44d4e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a98b91e19644ec" /><Relationship Type="http://schemas.openxmlformats.org/officeDocument/2006/relationships/image" Target="/ppt/media/image.jpeg" Id="Rb1e8b67ecbba4af9" /><Relationship Type="http://schemas.openxmlformats.org/officeDocument/2006/relationships/image" Target="/ppt/media/image2.jpeg" Id="Rf2797b4ee26247b6" /><Relationship Type="http://schemas.openxmlformats.org/officeDocument/2006/relationships/notesSlide" Target="/ppt/notesSlides/notesSlide13.xml" Id="Rdb7d911bd5694e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1d1e2dc792452e" /><Relationship Type="http://schemas.openxmlformats.org/officeDocument/2006/relationships/notesSlide" Target="/ppt/notesSlides/notesSlide14.xml" Id="R5cee1c84e0a342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54da7c8892434a" /><Relationship Type="http://schemas.openxmlformats.org/officeDocument/2006/relationships/notesSlide" Target="/ppt/notesSlides/notesSlide15.xml" Id="R2c8ea8f837034c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45cf3db53246c7" /><Relationship Type="http://schemas.openxmlformats.org/officeDocument/2006/relationships/notesSlide" Target="/ppt/notesSlides/notesSlide16.xml" Id="R5ee7a1e707a042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57ad919b384ef5" /><Relationship Type="http://schemas.openxmlformats.org/officeDocument/2006/relationships/notesSlide" Target="/ppt/notesSlides/notesSlide17.xml" Id="R635da5bad7d84d0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51e480a41b4c4d" /><Relationship Type="http://schemas.openxmlformats.org/officeDocument/2006/relationships/image" Target="/ppt/media/image12.png" Id="R48f6407fb0d34260" /><Relationship Type="http://schemas.openxmlformats.org/officeDocument/2006/relationships/notesSlide" Target="/ppt/notesSlides/notesSlide18.xml" Id="R4abea915f1564b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1e7ea597264f5c" /><Relationship Type="http://schemas.openxmlformats.org/officeDocument/2006/relationships/image" Target="/ppt/media/image13.png" Id="R09f9062eb5534de6" /><Relationship Type="http://schemas.openxmlformats.org/officeDocument/2006/relationships/notesSlide" Target="/ppt/notesSlides/notesSlide19.xml" Id="R9f9df8acb3ac41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57f0eb1d0c45fb" /><Relationship Type="http://schemas.openxmlformats.org/officeDocument/2006/relationships/notesSlide" Target="/ppt/notesSlides/notesSlide20.xml" Id="R970a7e4852fc4dc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b42082fec84207" /><Relationship Type="http://schemas.openxmlformats.org/officeDocument/2006/relationships/notesSlide" Target="/ppt/notesSlides/notesSlide21.xml" Id="R7b0ad42f794a4e2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c6f7a1db6c41d0" /><Relationship Type="http://schemas.openxmlformats.org/officeDocument/2006/relationships/image" Target="/ppt/media/image14.png" Id="R2747fc4bc7c24897" /><Relationship Type="http://schemas.openxmlformats.org/officeDocument/2006/relationships/image" Target="/ppt/media/image15.png" Id="Ra42981721ac54087" /><Relationship Type="http://schemas.openxmlformats.org/officeDocument/2006/relationships/image" Target="/ppt/media/image16.png" Id="Rb401d2f0a8e64bac" /><Relationship Type="http://schemas.openxmlformats.org/officeDocument/2006/relationships/image" Target="/ppt/media/image17.png" Id="R08fa0af39d9848a8" /><Relationship Type="http://schemas.openxmlformats.org/officeDocument/2006/relationships/notesSlide" Target="/ppt/notesSlides/notesSlide22.xml" Id="R9e039147a7234cc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e73111a084055" /><Relationship Type="http://schemas.openxmlformats.org/officeDocument/2006/relationships/image" Target="/ppt/media/image18.png" Id="R6f72edfd3f814b6b" /><Relationship Type="http://schemas.openxmlformats.org/officeDocument/2006/relationships/image" Target="/ppt/media/image19.png" Id="Rca02ba91566244ef" /><Relationship Type="http://schemas.openxmlformats.org/officeDocument/2006/relationships/image" Target="/ppt/media/image20.png" Id="R1483574df3c34e2e" /><Relationship Type="http://schemas.openxmlformats.org/officeDocument/2006/relationships/image" Target="/ppt/media/image21.png" Id="R3017b7e2b5c64887" /><Relationship Type="http://schemas.openxmlformats.org/officeDocument/2006/relationships/notesSlide" Target="/ppt/notesSlides/notesSlide23.xml" Id="Re1a80d452cb94ad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3286e3fd674e90" /><Relationship Type="http://schemas.openxmlformats.org/officeDocument/2006/relationships/image" Target="/ppt/media/image22.png" Id="Rb3da2a8f74d44994" /><Relationship Type="http://schemas.openxmlformats.org/officeDocument/2006/relationships/image" Target="/ppt/media/image23.png" Id="R33410fd49596465e" /><Relationship Type="http://schemas.openxmlformats.org/officeDocument/2006/relationships/image" Target="/ppt/media/image24.png" Id="Rb8fbb2bf2e254dcf" /><Relationship Type="http://schemas.openxmlformats.org/officeDocument/2006/relationships/image" Target="/ppt/media/image25.png" Id="R33426bddf8014de8" /><Relationship Type="http://schemas.openxmlformats.org/officeDocument/2006/relationships/notesSlide" Target="/ppt/notesSlides/notesSlide24.xml" Id="R061e0ae310c2496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22420e45b44de5" /><Relationship Type="http://schemas.openxmlformats.org/officeDocument/2006/relationships/image" Target="/ppt/media/image26.png" Id="R04cded65f4f9480d" /><Relationship Type="http://schemas.openxmlformats.org/officeDocument/2006/relationships/image" Target="/ppt/media/image27.png" Id="R5df4c150ac424bdb" /><Relationship Type="http://schemas.openxmlformats.org/officeDocument/2006/relationships/image" Target="/ppt/media/image28.png" Id="R6ffcb57e685644ce" /><Relationship Type="http://schemas.openxmlformats.org/officeDocument/2006/relationships/image" Target="/ppt/media/image29.png" Id="Rbb5d539edaf14995" /><Relationship Type="http://schemas.openxmlformats.org/officeDocument/2006/relationships/notesSlide" Target="/ppt/notesSlides/notesSlide25.xml" Id="R566dbf119ba843d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f32ba36a9b4d56" /><Relationship Type="http://schemas.openxmlformats.org/officeDocument/2006/relationships/image" Target="/ppt/media/image30.png" Id="Rb93cc5e8bfb34961" /><Relationship Type="http://schemas.openxmlformats.org/officeDocument/2006/relationships/notesSlide" Target="/ppt/notesSlides/notesSlide26.xml" Id="Rbb9007d48d414ce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576565e73c492d" /><Relationship Type="http://schemas.openxmlformats.org/officeDocument/2006/relationships/notesSlide" Target="/ppt/notesSlides/notesSlide27.xml" Id="R2af19d4641c94a9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25f6c76da84c7a" /><Relationship Type="http://schemas.openxmlformats.org/officeDocument/2006/relationships/hyperlink" Target="https://sensirion.com/resource/datasheet/SEN6x" TargetMode="External" Id="Rdbec1a75e8b84c23" /><Relationship Type="http://schemas.openxmlformats.org/officeDocument/2006/relationships/hyperlink" Target="https://sensirion.com/media/documents/85536ECA/6A0D6A53/CalibrationCertification_SEN5x_6x.pdf" TargetMode="External" Id="Rd2aa1f86a689417d" /><Relationship Type="http://schemas.openxmlformats.org/officeDocument/2006/relationships/hyperlink" Target="https://sensirion.com/media/documents/4C2A5D87/6A70A6FF/SEN6x_Mechanical_Design_and_Assembly_Guidelines.pdf" TargetMode="External" Id="R1eb662bfa25741a3" /><Relationship Type="http://schemas.openxmlformats.org/officeDocument/2006/relationships/hyperlink" Target="https://sensirion.com/media/documents/63F6CCF0/69709F54/PS_AN_SEN6x_Sensor_Specification_Statement_D1.pdf" TargetMode="External" Id="Raf8c3325fbe248cb" /><Relationship Type="http://schemas.openxmlformats.org/officeDocument/2006/relationships/hyperlink" Target="https://sensirion.com/media/documents/C964FCC8/69709EC3/PS_AN_SEN6x_Temperature_Compensation_and_Acceleration_Application_No.pdf" TargetMode="External" Id="R0f02e886d58a496d" /><Relationship Type="http://schemas.openxmlformats.org/officeDocument/2006/relationships/hyperlink" Target="https://www.who.int/publications/i/item/9789240034228" TargetMode="External" Id="Rdd67d7821c644d33" /><Relationship Type="http://schemas.openxmlformats.org/officeDocument/2006/relationships/hyperlink" Target="https://www.who.int/publications-detail-redirect/9789289002134" TargetMode="External" Id="R4c5fe4ff363341d8" /><Relationship Type="http://schemas.openxmlformats.org/officeDocument/2006/relationships/notesSlide" Target="/ppt/notesSlides/notesSlide28.xml" Id="R9e5b822259bd40d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40d61898324a39" /><Relationship Type="http://schemas.openxmlformats.org/officeDocument/2006/relationships/hyperlink" Target="https://www.epa.gov/chemical-research/3d-printing-research-epa" TargetMode="External" Id="R9c7ec1a0d7544aed" /><Relationship Type="http://schemas.openxmlformats.org/officeDocument/2006/relationships/hyperlink" Target="https://www.epa.gov/air-sensor-toolbox" TargetMode="External" Id="R039456cc985d4b86" /><Relationship Type="http://schemas.openxmlformats.org/officeDocument/2006/relationships/hyperlink" Target="https://www.umweltbundesamt.de/richtig-lueften-in-schulen" TargetMode="External" Id="R8bf0820319344899" /><Relationship Type="http://schemas.openxmlformats.org/officeDocument/2006/relationships/hyperlink" Target="https://eur-lex.europa.eu/eli/dir/2014/53/oj" TargetMode="External" Id="R5ef133ca33df4a84" /><Relationship Type="http://schemas.openxmlformats.org/officeDocument/2006/relationships/hyperlink" Target="https://eur-lex.europa.eu/eli/dir/2011/65/oj" TargetMode="External" Id="R7474d69b13984c0b" /><Relationship Type="http://schemas.openxmlformats.org/officeDocument/2006/relationships/hyperlink" Target="https://eur-lex.europa.eu/eli/dir_del/2015/863/oj" TargetMode="External" Id="R420b776490fe4c46" /><Relationship Type="http://schemas.openxmlformats.org/officeDocument/2006/relationships/hyperlink" Target="https://eur-lex.europa.eu/eli/dir/2012/19/oj" TargetMode="External" Id="R492e99c13ca64f95" /><Relationship Type="http://schemas.openxmlformats.org/officeDocument/2006/relationships/notesSlide" Target="/ppt/notesSlides/notesSlide29.xml" Id="Rf0aa6dd4b5134c8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daaa27f04449cd" /><Relationship Type="http://schemas.openxmlformats.org/officeDocument/2006/relationships/hyperlink" Target="https://eur-lex.europa.eu/eli/reg/2006/1907/oj" TargetMode="External" Id="Rb41c8dd5564b4a57" /><Relationship Type="http://schemas.openxmlformats.org/officeDocument/2006/relationships/hyperlink" Target="https://sensirion.com/media/documents/09CF2E68/69DFAAD0/Sensirion_REACH-RoHS_Particulate-Matter-Sensor.pdf" TargetMode="External" Id="R7bf8dc4d359e478a" /><Relationship Type="http://schemas.openxmlformats.org/officeDocument/2006/relationships/hyperlink" Target="https://docs.espressif.com/projects/arduino-esp32/en/latest/installing.html" TargetMode="External" Id="R4b1601c038aa464c" /><Relationship Type="http://schemas.openxmlformats.org/officeDocument/2006/relationships/hyperlink" Target="https://github.com/Freenove/Freenove_ESP32_S3_Display_FNK0115" TargetMode="External" Id="Rc1e53e9d7bd9419e" /><Relationship Type="http://schemas.openxmlformats.org/officeDocument/2006/relationships/hyperlink" Target="https://sensirion.com/products/catalog/SEN69C" TargetMode="External" Id="Rdebcb0081907473f" /><Relationship Type="http://schemas.openxmlformats.org/officeDocument/2006/relationships/notesSlide" Target="/ppt/notesSlides/notesSlide30.xml" Id="Re4d63c80129f43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1B63E-B153-4BA1-B22C-86DF65F2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CE611-C8DC-4DDA-BAB2-48F12819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C8EAD-9A8D-4B3A-AE18-96416AA7BF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6bd7fddff484d"/>
          <a:stretch xmlns:a="http://schemas.openxmlformats.org/drawingml/2006/main"/>
        </p:blipFill>
        <p:spPr>
          <a:xfrm xmlns:a="http://schemas.openxmlformats.org/drawingml/2006/main">
            <a:off x="4927600" y="787400"/>
            <a:ext cx="6858000" cy="5143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FEEE4-0F4C-4EE4-95F4-69D77BAC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53340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4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GUARDIAN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9549B-D86C-425B-A5E5-2DD2A343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435100"/>
            <a:ext cx="41910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MAKERS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3BE7A-6EA4-4D9A-BAA3-5EB44260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476500"/>
            <a:ext cx="4191000" cy="843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The environment during</a:t>
            </a:r>
          </a:p>
          <a:p xmlns:a="http://schemas.openxmlformats.org/drawingml/2006/main">
            <a:pPr>
              <a:defRPr sz="2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3D printing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3BE79-EA77-46DF-879D-DC509756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759200"/>
            <a:ext cx="361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Environmental monitoring</a:t>
            </a:r>
          </a:p>
          <a:p xmlns:a="http://schemas.openxmlformats.org/drawingml/2006/main">
            <a:pPr>
              <a:defRPr sz="15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for maker workspaces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F6A32-1B6F-46C0-B333-024441E0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057900"/>
            <a:ext cx="35560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Product presentation</a:t>
            </a:r>
          </a:p>
          <a:p xmlns:a="http://schemas.openxmlformats.org/drawingml/2006/main">
            <a:pPr>
              <a:defRPr sz="11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18366966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69185-0F21-4D01-A4F5-F0FDACA8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PROJECT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C5523-5FC8-4587-A731-87924944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Designed for the workbench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3D03A-DA97-4EC0-A1C0-52C0FF4C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4891A-2C8A-40B4-ADAE-5F47F1DB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BE560-9772-441C-AA79-0D5D59D47E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1ac363bc4771"/>
          <a:stretch xmlns:a="http://schemas.openxmlformats.org/drawingml/2006/main"/>
        </p:blipFill>
        <p:spPr>
          <a:xfrm xmlns:a="http://schemas.openxmlformats.org/drawingml/2006/main">
            <a:off x="521719" y="1651000"/>
            <a:ext cx="5712963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6A354-6C75-482A-A31A-B5550F03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1651000"/>
            <a:ext cx="4940300" cy="29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7D8FA-85EB-464B-B210-329A70DA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1987550"/>
            <a:ext cx="49403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Follow environmental changes while working and compare different</a:t>
            </a:r>
          </a:p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moments within the same session.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6CA32-FF1C-49E0-8086-525D850C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2645410"/>
            <a:ext cx="4940300" cy="29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B461D-D799-45DC-B515-F0CD78CA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2981960"/>
            <a:ext cx="49403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Save readings in CSV files alongside print status and filament</a:t>
            </a:r>
          </a:p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information reported by the printer.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7A8E2-A8E7-4D53-B954-B26831C4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3639820"/>
            <a:ext cx="4940300" cy="29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Interpret with care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46A09-3BB3-43E8-8AAA-C442F723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3976370"/>
            <a:ext cx="49403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GUARDIAN is an environmental monitor, not a reference</a:t>
            </a:r>
          </a:p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instrument, a safety detector or proof of healthy air.</a:t>
            </a:r>
          </a:p>
        </p:txBody>
      </p:sp>
    </p:spTree>
    <p:extLst>
      <p:ext uri="{BB962C8B-B14F-4D97-AF65-F5344CB8AC3E}">
        <p14:creationId xmlns:p14="http://schemas.microsoft.com/office/powerpoint/2010/main" val="8432784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5EACF-2900-46F7-8A52-4EF0EE50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MONITORED PARAMETERS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C0DFC9-FCF1-4A16-A86C-6700576A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Ten parameters in one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6F7C4-CF5C-421A-AC37-CC830B8C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D9E7F-1E45-4BC7-BB5F-7874E49D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87D01-9DF5-4659-9603-14D160A5CB68}"/>
              </a:ext>
            </a:extLst>
          </p:cNvPr>
          <p:cNvGraphicFramePr/>
          <p:nvPr/>
        </p:nvGraphicFramePr>
        <p:xfrm>
          <a:off xmlns:a="http://schemas.openxmlformats.org/drawingml/2006/main" x="457200" y="1574800"/>
          <a:ext xmlns:a="http://schemas.openxmlformats.org/drawingml/2006/main" cx="11277600" cy="25069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21000"/>
                <a:gridCol w="1460500"/>
                <a:gridCol w="6896100"/>
              </a:tblGrid>
              <a:tr h="41783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1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Parameter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T w="4763">
                      <a:solidFill>
                        <a:srgbClr val="263B59"/>
                      </a:solidFill>
                      <a:prstDash val="solid"/>
                    </a:lnT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63B5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1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Unit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T w="4763">
                      <a:solidFill>
                        <a:srgbClr val="263B59"/>
                      </a:solidFill>
                      <a:prstDash val="solid"/>
                    </a:lnT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63B5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1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T w="4763">
                      <a:solidFill>
                        <a:srgbClr val="263B59"/>
                      </a:solidFill>
                      <a:prstDash val="solid"/>
                    </a:lnT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63B59"/>
                    </a:solidFill>
                  </a:tcPr>
                </a:tc>
              </a:tr>
              <a:tr h="41783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PM1 / PM2.5 / PM4 / PM10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µg/m³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Optically estimated mass concentrations by particle-size fraction.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</a:tr>
              <a:tr h="41783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CO2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ppm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Helps interpret ventilation and room occupancy.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</a:tr>
              <a:tr h="41783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Temperature / humidity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°C / % RH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Personal comfort ranges, separate from alerts.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</a:tr>
              <a:tr h="41783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VOC / NOx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Index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Relative indicators, not concentrations of individual substances.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</a:tr>
              <a:tr h="41783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HCHO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ppb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3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Formaldehyde; a 30-minute average is also available.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E0111-143E-454E-AEC0-7D919BA1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25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Integrated Sensirion SEN69C sensor. Specifications and limitations: S1, S4, S19. It does not directly measure the ultrafine particles typical of some 3D-printing emissions.</a:t>
            </a:r>
          </a:p>
        </p:txBody>
      </p:sp>
    </p:spTree>
    <p:extLst>
      <p:ext uri="{BB962C8B-B14F-4D97-AF65-F5344CB8AC3E}">
        <p14:creationId xmlns:p14="http://schemas.microsoft.com/office/powerpoint/2010/main" val="7260029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7AE8C-73CD-438A-A6BE-0B39339A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GUARDIAN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13661-7A72-4288-B673-648AA6D8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HOME: readings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CE6F8-92D5-42A5-911E-F3243DEB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AA59E7-1267-4258-B3F5-43FEA2F3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47B58-EA01-4264-8BAB-32C9FCE2D9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4b01c55f643ff"/>
          <a:stretch xmlns:a="http://schemas.openxmlformats.org/drawingml/2006/main"/>
        </p:blipFill>
        <p:spPr>
          <a:xfrm xmlns:a="http://schemas.openxmlformats.org/drawingml/2006/main">
            <a:off x="1005417" y="1435100"/>
            <a:ext cx="5926667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58103-06C5-4070-903B-9A20A152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Values and units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501E4-1507-4F92-939D-1A678756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Ten panels bring together measurements, indices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and status indicators.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8D34B-E593-42A1-82A7-226CEDDC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Thresholds and comfort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2A41D-3F62-4825-97C6-ADE98875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Personal thresholds are separate from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temperature and humidity comfort ranges.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BE4F6-D143-4733-AF63-B6C88C39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Simple navigation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9C1CE-8812-489C-A70F-D9FEFDCB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HOME, CHARTS, PRINTER 3D, ALERTS and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OTHER remain accessible.</a:t>
            </a:r>
          </a:p>
        </p:txBody>
      </p:sp>
    </p:spTree>
    <p:extLst>
      <p:ext uri="{BB962C8B-B14F-4D97-AF65-F5344CB8AC3E}">
        <p14:creationId xmlns:p14="http://schemas.microsoft.com/office/powerpoint/2010/main" val="1248533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7530B-1F93-4363-89FE-90885298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GUARDIAN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C4A59-59A1-40E3-9CEE-BC72D085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Charts: following the trends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F9452-ECAC-482A-86D1-A8EBD83F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2BF1D-3FA3-414E-A8FA-8DBF6129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0B35A-17BA-4B2D-B672-F1D0D3B93C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e68fe2fef46d4"/>
          <a:stretch xmlns:a="http://schemas.openxmlformats.org/drawingml/2006/main"/>
        </p:blipFill>
        <p:spPr>
          <a:xfrm xmlns:a="http://schemas.openxmlformats.org/drawingml/2006/main">
            <a:off x="1180703" y="1435100"/>
            <a:ext cx="5576094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14A17-92FB-48FD-B9D7-61B956D1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Time windows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F255C-EB4E-4BF3-BE5C-25F43A21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2, 6, 12 and 24-hour views, with a light grid and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integer labels on the vertical axis.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26513-474F-4890-9B77-0318FD1C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Information retained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DB07A-0041-46CC-AFB0-8EAF233B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The current reading, statistics and reference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information remain below the chart.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CB66C-E086-40C5-9B3D-06198549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Relevant averages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D72CD-397C-4A8E-B7A5-D6DEA0CB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PM2.5 and PM10: 24 hours. HCHO: 30 minutes.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Incomplete periods are identified.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7F011-8AB5-4059-A6A1-E5CA27E8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54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Chart history uses volatile memory; microSD provides persistent recording. Averaging does not make the device a regulatory instrument.</a:t>
            </a:r>
          </a:p>
        </p:txBody>
      </p:sp>
    </p:spTree>
    <p:extLst>
      <p:ext uri="{BB962C8B-B14F-4D97-AF65-F5344CB8AC3E}">
        <p14:creationId xmlns:p14="http://schemas.microsoft.com/office/powerpoint/2010/main" val="12121401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3A5CC-20D2-4389-8535-74975724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GUARDIAN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7EABE-B1BB-434C-9594-253989BE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Printing in its environmental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56415-B29C-4AC1-A9C2-3127A594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2135F-83E9-46A1-A5E8-54694D34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44726-E325-4F75-9A8F-A3589EE848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80a4777434064"/>
          <a:stretch xmlns:a="http://schemas.openxmlformats.org/drawingml/2006/main"/>
        </p:blipFill>
        <p:spPr>
          <a:xfrm xmlns:a="http://schemas.openxmlformats.org/drawingml/2006/main">
            <a:off x="1239708" y="1435100"/>
            <a:ext cx="5458083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23CA0-1211-4D27-B701-18569FD4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Before, during and peak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3640A-3391-4269-8D29-E8EF9DC8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Compare the selected parameter with the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preceding period and the session readings.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763DD-4060-4EB3-9E47-A273737D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Overall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BA2F6-5CE1-44F9-BB38-917BA368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 bar summarises assessable parameters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against the configured thresholds.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C9173-40ED-4A39-BA87-8E5716C5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Interpreting a correlation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16C97-49EF-435D-BB14-2711AD90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Simultaneous changes do not prove the printer is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the only cause.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4F88D-C9E9-413B-BC9A-783DC2B5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54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A session started after printing began, or containing data gaps, is identified as partial.</a:t>
            </a:r>
          </a:p>
        </p:txBody>
      </p:sp>
    </p:spTree>
    <p:extLst>
      <p:ext uri="{BB962C8B-B14F-4D97-AF65-F5344CB8AC3E}">
        <p14:creationId xmlns:p14="http://schemas.microsoft.com/office/powerpoint/2010/main" val="9227147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423FE-EA57-4F2F-996A-951FC807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GUARDIAN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F9FEA-E488-4CC3-AB25-E7602515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The complete PRINTER 3D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FB4EC-48C7-407D-8401-89E1EDFC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229C2-EB83-40F0-AD32-A9D3D1FE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3E280-E52A-4E1C-A331-2AE9A30686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bceb4d9fc4818"/>
          <a:stretch xmlns:a="http://schemas.openxmlformats.org/drawingml/2006/main"/>
        </p:blipFill>
        <p:spPr>
          <a:xfrm xmlns:a="http://schemas.openxmlformats.org/drawingml/2006/main">
            <a:off x="381000" y="1480437"/>
            <a:ext cx="7175500" cy="43543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19031-C19E-4F88-BF95-FB12841A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Tested printer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2B94F-9FEB-4C5D-9409-968FED67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71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One Bambu Lab A1 on the local network, configured</a:t>
            </a:r>
          </a:p>
          <a:p xmlns:a="http://schemas.openxmlformats.org/drawingml/2006/main">
            <a:pPr>
              <a:defRPr sz="1275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with its address, serial number and access code.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4F893-7274-44A2-9FAB-9938CBCE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Print information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AA9BD-D7C2-4097-ADE5-6F7B18FB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Preview, progress, layers, remaining time,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temperatures and filament, when available.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C0C64-96F5-4A59-BF6C-56B7BA0A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Data continuity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9E4AB-156A-4CFE-BB93-329B6C28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After a disconnection, retained readings remain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distinguishable from fresh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5C43F-AC70-468B-BA26-A1B6978D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54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The connection is for monitoring: GUARDIAN does not stop the printer. Preview and job name depend on the data and file available on the A1.</a:t>
            </a:r>
          </a:p>
        </p:txBody>
      </p:sp>
    </p:spTree>
    <p:extLst>
      <p:ext uri="{BB962C8B-B14F-4D97-AF65-F5344CB8AC3E}">
        <p14:creationId xmlns:p14="http://schemas.microsoft.com/office/powerpoint/2010/main" val="858303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A9AB9-FA5C-4C6A-9B20-1DC9DEA5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GUARDIAN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56297-B677-49C1-A3A5-1B8C6F23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Alerts and comfort serve different purposes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BD44F-D8A0-400A-AF6A-201EB637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B0A3B-1896-420F-9251-9C149511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55530-45F9-45FB-A319-3D23F0EA11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2ad83281f4c87"/>
          <a:stretch xmlns:a="http://schemas.openxmlformats.org/drawingml/2006/main"/>
        </p:blipFill>
        <p:spPr>
          <a:xfrm xmlns:a="http://schemas.openxmlformats.org/drawingml/2006/main">
            <a:off x="1115839" y="1435100"/>
            <a:ext cx="5705822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17AC5-67FA-441B-847F-8C560CDA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Alert centre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83AC8-4A61-4518-8991-BFD22C4D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Collects events and shows threshold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exceedances and conditions requiring attention.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FC050-AEBB-4637-BE6D-8FF28B32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Personal thresholds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B23CA-A8A9-49CF-88AD-9203EC40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User-defined operating values are not certified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health limits.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C6305-C241-4758-A07B-CA1B2738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Comfort indication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C776D-789F-4DDF-AFB2-6E636C4E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Temperature or humidity outside the personal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range generates a comfort indication.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A9100-EFE2-44CF-8101-309EBC9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54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A normally switched-off or idle printer is not treated as a fault. Loss of data during a print is a separate condition.</a:t>
            </a:r>
          </a:p>
        </p:txBody>
      </p:sp>
    </p:spTree>
    <p:extLst>
      <p:ext uri="{BB962C8B-B14F-4D97-AF65-F5344CB8AC3E}">
        <p14:creationId xmlns:p14="http://schemas.microsoft.com/office/powerpoint/2010/main" val="15019181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2454FE-7998-4831-945D-D4AC882D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GUARDIAN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AE984-D951-4C4B-B541-3FE30ADC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Viewing beyond the device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1D9E7-73F4-4956-B709-F7BE7717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4CAA5-DC97-4FB1-BC41-9832786C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4EB26-2DAA-4EA0-A09E-87A4DA3EA1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902397f1a4b8d"/>
          <a:stretch xmlns:a="http://schemas.openxmlformats.org/drawingml/2006/main"/>
        </p:blipFill>
        <p:spPr>
          <a:xfrm xmlns:a="http://schemas.openxmlformats.org/drawingml/2006/main">
            <a:off x="1389199" y="1435100"/>
            <a:ext cx="5159102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1EA7C-CCB8-4096-BDF1-67D9C75F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PC and smartphone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584399-7888-4BA2-A78B-EE4D3887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Browser access on the local network; remote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access through your network VPN.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EBC6D-A5AD-4C8B-8E1D-93DBC2C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2244E-C241-428A-AEF5-2A3F4104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Network, time, lighting and the settings available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in the web interface.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975B8-600A-4F61-9233-9DFD7CB4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Device identification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15632-A884-40BE-B8E1-F732F832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The NETWORK page shows the device address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and numerical Wi-Fi signal strength.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68E803-ED61-4331-B6CB-E036668B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54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Anonymised photograph with example details. The local web service uses HTTP: do not expose it directly to the Internet.</a:t>
            </a:r>
          </a:p>
        </p:txBody>
      </p:sp>
    </p:spTree>
    <p:extLst>
      <p:ext uri="{BB962C8B-B14F-4D97-AF65-F5344CB8AC3E}">
        <p14:creationId xmlns:p14="http://schemas.microsoft.com/office/powerpoint/2010/main" val="7510982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8B2C3-9786-4969-B790-C3245D07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GUARDIAN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F138D-0CC0-471B-BF70-8CC19A24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Lighting and time settings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D403E-C545-471B-B6C3-3E4CCB1A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86634-3C2B-44E6-A1B7-DC9257C7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333E4-1EF6-4A97-8F7F-C410B51F8D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b08bf463043e5"/>
          <a:stretch xmlns:a="http://schemas.openxmlformats.org/drawingml/2006/main"/>
        </p:blipFill>
        <p:spPr>
          <a:xfrm xmlns:a="http://schemas.openxmlformats.org/drawingml/2006/main">
            <a:off x="1088777" y="1435100"/>
            <a:ext cx="5759946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23384-E9E6-4879-ACB8-49DC5D8B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783F1-58C3-43D1-BB25-94F85453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Adjust brightness from the display or smartphone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browser.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9A2A9-B649-4D54-A6CE-0AD24B1B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Automatic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9753E-C17A-4BE0-AF98-1237B42D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Day/night brightness with start and stop times,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including periods crossing midnight.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90105-9091-4E5C-AD48-6469AD15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Time zone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A6F41-AF07-4148-BC9A-57561343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Select a time-zone profile; daylight saving follows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the selected profile.</a:t>
            </a:r>
          </a:p>
        </p:txBody>
      </p:sp>
    </p:spTree>
    <p:extLst>
      <p:ext uri="{BB962C8B-B14F-4D97-AF65-F5344CB8AC3E}">
        <p14:creationId xmlns:p14="http://schemas.microsoft.com/office/powerpoint/2010/main" val="19226296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7FED5-3C8C-4E8E-B045-F96BCC4E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GUARDIAN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F8100-7C79-474C-8043-01D25E18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Keeping a record of the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3D048-00D6-4285-BCDA-000E37F3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EDA7A-6A65-4A02-B2D9-48968B47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49D21-A835-4D65-B84C-12B0536DD8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bafa965b548ba"/>
          <a:stretch xmlns:a="http://schemas.openxmlformats.org/drawingml/2006/main"/>
        </p:blipFill>
        <p:spPr>
          <a:xfrm xmlns:a="http://schemas.openxmlformats.org/drawingml/2006/main">
            <a:off x="1191615" y="1435100"/>
            <a:ext cx="5554269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900DD-76C7-4175-B9E3-6CFD4452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microSD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C52BC-06BA-4C6A-855D-FF201B62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Periodic CSV recording with units and session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6FF1F-F8F7-4235-8477-A0795F73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Browser download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EA579-E47F-4484-A496-871F7A11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 dedicated current-CSV link and subsequent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pages for historical 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73939-67DE-4DF1-9D5C-CFB03529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Local management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3FFA9-1F40-4C7D-BFA7-C5D8F44F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Read, test and format the card, with explicit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confirmation.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6931C-177D-4AF6-B43C-3B6D4587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54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FORMAT erases every file on the microSD card.</a:t>
            </a:r>
          </a:p>
        </p:txBody>
      </p:sp>
    </p:spTree>
    <p:extLst>
      <p:ext uri="{BB962C8B-B14F-4D97-AF65-F5344CB8AC3E}">
        <p14:creationId xmlns:p14="http://schemas.microsoft.com/office/powerpoint/2010/main" val="5109740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E8FB4-47A2-4476-BBFD-1C885386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GUARDIAN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F2705-B7E6-411C-9235-D44075BF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Maintenance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1C842-A785-4E1A-87D9-61C2D525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CA676-2A9C-4AA5-B264-41867A10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AF67B-254B-4287-9756-70257BA5C7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7cc5d0b9d4340"/>
          <a:stretch xmlns:a="http://schemas.openxmlformats.org/drawingml/2006/main"/>
        </p:blipFill>
        <p:spPr>
          <a:xfrm xmlns:a="http://schemas.openxmlformats.org/drawingml/2006/main">
            <a:off x="1322640" y="1435100"/>
            <a:ext cx="5292219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1AB45-77AE-4676-BF0C-10F7F9AA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Fan cleaning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D3154-43B6-4F55-A343-12335EE8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 dedicated command reports procedure status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and resumes measurements.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24DB7-9D09-45D3-A725-0B8B3C37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CO2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EC53D-2323-4662-9F7F-A70D627C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Preparation is separate from calibration, which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requires a reliable reference.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534D3-1D45-45FD-AE15-96C997F3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Separate reset functions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7CB81-CED4-4E65-BCA8-4435D5AE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CO2 reset, GUARDIAN reset and SD formatting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have different effects.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7646C-3D6B-470E-AB0B-45213F69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54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The availability of a command does not establish accuracy after it runs. Follow the manufacturer’s conditions and the manual.</a:t>
            </a:r>
          </a:p>
        </p:txBody>
      </p:sp>
    </p:spTree>
    <p:extLst>
      <p:ext uri="{BB962C8B-B14F-4D97-AF65-F5344CB8AC3E}">
        <p14:creationId xmlns:p14="http://schemas.microsoft.com/office/powerpoint/2010/main" val="4385395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714B3-04AB-440D-ACC0-E429CA66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67E0F-08C0-4D3B-A1D3-75C9E64D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Accessible and serviceable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74690-64B0-4C18-B0C3-59935E9B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2767C-AF87-44A1-9DFE-3F32531A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758BF-581C-49CB-BEAF-CD281B0048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8b67ecbba4af9"/>
          <a:stretch xmlns:a="http://schemas.openxmlformats.org/drawingml/2006/main"/>
        </p:blipFill>
        <p:spPr>
          <a:xfrm xmlns:a="http://schemas.openxmlformats.org/drawingml/2006/main">
            <a:off x="901700" y="1397000"/>
            <a:ext cx="4572000" cy="34290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AD884-F586-47EE-A57F-548226035B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97b4ee26247b6"/>
          <a:stretch xmlns:a="http://schemas.openxmlformats.org/drawingml/2006/main"/>
        </p:blipFill>
        <p:spPr>
          <a:xfrm xmlns:a="http://schemas.openxmlformats.org/drawingml/2006/main">
            <a:off x="6756400" y="1397000"/>
            <a:ext cx="457200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28FB9-04AD-403F-BCDB-E91EED8F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45100"/>
            <a:ext cx="1127760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Two USB-C access points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93D1A-867B-43B9-AF34-08E6CA94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5140"/>
            <a:ext cx="11277600" cy="248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Rear socket for power; side socket for programming, protected by a TPU cap.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AF6F2-AFA1-4A3F-9D04-4EBE9648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91860"/>
            <a:ext cx="1127760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Sensor and electronics compartments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30402-2E0F-45B3-8B9D-A79FE607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11900"/>
            <a:ext cx="11277600" cy="248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Rear-mounted SEN69C, removable support and internal partition. Keep the airflow paths clear and separate.</a:t>
            </a:r>
          </a:p>
        </p:txBody>
      </p:sp>
    </p:spTree>
    <p:extLst>
      <p:ext uri="{BB962C8B-B14F-4D97-AF65-F5344CB8AC3E}">
        <p14:creationId xmlns:p14="http://schemas.microsoft.com/office/powerpoint/2010/main" val="17437472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EB945-958D-46A7-9D77-54CF0954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MEASUREMENTS, AVERAGES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FD347-FAB3-4EA0-B874-5DC6490C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Understanding the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FC04E-C652-4A2A-AA89-72543867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A816E-387C-43AE-A7D5-43CC0EE9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6A5FC-1D9D-4005-B595-1CE32606E0BA}"/>
              </a:ext>
            </a:extLst>
          </p:cNvPr>
          <p:cNvGraphicFramePr/>
          <p:nvPr/>
        </p:nvGraphicFramePr>
        <p:xfrm>
          <a:off xmlns:a="http://schemas.openxmlformats.org/drawingml/2006/main" x="457200" y="1587500"/>
          <a:ext xmlns:a="http://schemas.openxmlformats.org/drawingml/2006/main" cx="11277600" cy="200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87500"/>
                <a:gridCol w="3365500"/>
                <a:gridCol w="6324600"/>
              </a:tblGrid>
              <a:tr h="40132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Indication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T w="4763">
                      <a:solidFill>
                        <a:srgbClr val="263B59"/>
                      </a:solidFill>
                      <a:prstDash val="solid"/>
                    </a:lnT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63B5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T w="4763">
                      <a:solidFill>
                        <a:srgbClr val="263B59"/>
                      </a:solidFill>
                      <a:prstDash val="solid"/>
                    </a:lnT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63B59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1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Correct use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T w="4763">
                      <a:solidFill>
                        <a:srgbClr val="263B59"/>
                      </a:solidFill>
                      <a:prstDash val="solid"/>
                    </a:lnT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63B59"/>
                    </a:solidFill>
                  </a:tcPr>
                </a:tc>
              </a:tr>
              <a:tr h="40132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PM2.5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WHO 2021: 15 µg/m³ / 24 h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Complete after 24 hours of valid recording; earlier averages are partial.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</a:tr>
              <a:tr h="40132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PM10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WHO 2021: 45 µg/m³ / 24 h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Complete after 24 hours of valid recording; earlier averages are partial.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</a:tr>
              <a:tr h="40132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HCHO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WHO 2010: 0.1 mg/m³ / 30 min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About 81 ppb at 25 °C and 1 atm; conversion depends on conditions.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1A2331"/>
                    </a:solidFill>
                  </a:tcPr>
                </a:tc>
              </a:tr>
              <a:tr h="40132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CO2, VOC, NOx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263B59"/>
                      </a:solidFill>
                      <a:prstDash val="solid"/>
                    </a:lnL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Ventilation / relative indices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200" b="0">
                          <a:solidFill>
                            <a:srgbClr val="F6F8FC"/>
                          </a:solidFill>
                          <a:latin typeface="Arial"/>
                          <a:ea typeface="Arial"/>
                          <a:cs typeface="Arial"/>
                        </a:rPr>
                        <a:t>They do not detect every pollutant or establish safe air on their own.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263B59"/>
                      </a:solidFill>
                      <a:prstDash val="solid"/>
                    </a:lnR>
                    <a:lnB w="4763">
                      <a:solidFill>
                        <a:srgbClr val="263B59"/>
                      </a:solidFill>
                      <a:prstDash val="solid"/>
                    </a:lnB>
                    <a:solidFill>
                      <a:srgbClr val="202C3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F02E0-9B55-4F5B-BA0B-9B9AD502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85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S6, S7, S10. WHO guidelines do not certify GUARDIAN or replace assessment of occupational exposure.</a:t>
            </a:r>
          </a:p>
        </p:txBody>
      </p:sp>
    </p:spTree>
    <p:extLst>
      <p:ext uri="{BB962C8B-B14F-4D97-AF65-F5344CB8AC3E}">
        <p14:creationId xmlns:p14="http://schemas.microsoft.com/office/powerpoint/2010/main" val="21225154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C9CAD-A8CD-438E-B2D4-C1C12E7B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USE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0F47E-42FE-4348-9634-91DBE41F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Interpreting measurements correctly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BF97E-514D-4608-A8C8-6213E930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D15C1-A911-46AC-B1A9-3AE0F8BF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50C5D-C24A-4066-94F5-8DAF642B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1000"/>
            <a:ext cx="112776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Continuous monitoring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9D93B-A11C-4C30-A43D-9D679BF3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0570"/>
            <a:ext cx="11277600" cy="29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GUARDIAN combines environmental readings, history, microSD recording, web access and printer information in one interface.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9D7A5-411D-49C6-A5B3-94F60B25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4470"/>
            <a:ext cx="112776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Accuracy and operating conditions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E7324-2CCB-40A4-B6F4-C3070471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040"/>
            <a:ext cx="1127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Readings also depend on placement, ventilation and thermal conditions. Independent metrological validation of the complete device</a:t>
            </a:r>
          </a:p>
          <a:p xmlns:a="http://schemas.openxmlformats.org/drawingml/2006/main">
            <a: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is not available.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51977-7655-43D3-BAF7-20E85525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37940"/>
            <a:ext cx="112776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Limits that remain relevant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5AF9D-2985-4D7A-99C5-173C720C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7510"/>
            <a:ext cx="1127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Optical PM does not directly measure the entire ultrafine fraction. Gas indices do not identify every compound. Low readings do not</a:t>
            </a:r>
          </a:p>
          <a:p xmlns:a="http://schemas.openxmlformats.org/drawingml/2006/main">
            <a:pPr>
              <a:defRPr sz="15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automatically mean safe air. [S1, S8, S9]</a:t>
            </a:r>
          </a:p>
        </p:txBody>
      </p:sp>
    </p:spTree>
    <p:extLst>
      <p:ext uri="{BB962C8B-B14F-4D97-AF65-F5344CB8AC3E}">
        <p14:creationId xmlns:p14="http://schemas.microsoft.com/office/powerpoint/2010/main" val="12394768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8BAE7-C115-43D3-A0BE-26C4AE2A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TECHNICAL DOCUMENTATION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CA396-2814-4DB0-B334-A766A12C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Calibration and conformity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92C39-0EE2-4C10-98AE-72C6FF9F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D88D0-F9A6-4CC3-A38B-331E5C6B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90AF6-D05A-4058-BB40-88219C9A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100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Sensirion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50243-C245-46B2-9130-8E89A63F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4060"/>
            <a:ext cx="11277600" cy="744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Sensirion states that each device in the listed families, including SEN69C, is individually tested after calibration. The statement covers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SEN5x/SEN6x particulate-matter sensors; the original is attached to the manual. It is not an individual GUARDIAN calibration report or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certification of all its channels. [S2]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9E2BA-CB0A-405A-B811-68FB0CBF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The complete 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49441-CBDC-4BA9-B0CD-078B3ABF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9140"/>
            <a:ext cx="1127760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Component REACH/RoHS documents contribute to the technical file; they are not a declaration of conformity for the whole device. [S16]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2CA42-48D2-4CC8-A071-D8FE740A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002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Before any commercial distribution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0D733-D640-4B3A-8E20-DAF527FE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308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Determine the obligations applicable to the finished product and assess safety, radio/EMC and documentation. RED, RoHS, WEEE and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REACH are references to assess; no completed certification is claimed here. [S11–S15]</a:t>
            </a:r>
          </a:p>
        </p:txBody>
      </p:sp>
    </p:spTree>
    <p:extLst>
      <p:ext uri="{BB962C8B-B14F-4D97-AF65-F5344CB8AC3E}">
        <p14:creationId xmlns:p14="http://schemas.microsoft.com/office/powerpoint/2010/main" val="4456221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AE48DD-37D7-42C4-9172-56AD5D04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OCTOBER 2026 EDITION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0AD46-FC56-48B6-9788-D483EBFA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Display lighting: validated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2E74C-EEA0-47C3-8B5B-DA9D34D7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835EA-9F5C-4158-AEE8-B7A08412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1182E-C87A-4A05-A02D-231BEEF8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100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25 kHz backlight PWM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DE281-E74D-467E-A3F2-6F888CD3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406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The owner confirmed that the 5 kHz whine disappeared after the change to 25 kHz. Manual brightness and the automatic day/night schedule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were tested successfully.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822BB-B60C-4E99-97ED-91BBC66A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494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Version identification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75FDA-D88A-4BD5-AE65-19311DA2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This edition describes bilingual GUARDIAN with the 25 kHz modification. The tested sketch is labelled 1.0.0-rc3-pwm25-test1; this identifier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may still appear on the device and in the browser.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35374-8ED7-43AD-8D2A-09716D69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888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Settings and updates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6CF6B-6053-46D4-AE71-B8BC7A91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1940"/>
            <a:ext cx="1127760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Brightness remains adjustable from the display and browser. This change requires neither a factory reset nor microSD formatting.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C6461-8AAF-49E0-8614-2470B144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168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Scope of testing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43B4A-AA5E-49A4-AF7E-FC0CAA88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474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Functional checks on the owner’s prototype support retaining this setting. They do not constitute metrological validation or certification of the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complete product.</a:t>
            </a:r>
          </a:p>
        </p:txBody>
      </p:sp>
    </p:spTree>
    <p:extLst>
      <p:ext uri="{BB962C8B-B14F-4D97-AF65-F5344CB8AC3E}">
        <p14:creationId xmlns:p14="http://schemas.microsoft.com/office/powerpoint/2010/main" val="20300650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0DBF1-63C1-49C6-8DA1-3303E906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DISPLAY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B861B-373A-46AB-BEE1-4CFCE581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The OTHER menu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757CF5-1C6C-48C4-BC0C-145ACDB2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1E295-E786-4081-9D1A-C75EFBAB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91B09-A6AA-4D62-86E4-047B15181E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6407fb0d34260"/>
          <a:stretch xmlns:a="http://schemas.openxmlformats.org/drawingml/2006/main"/>
        </p:blipFill>
        <p:spPr>
          <a:xfrm xmlns:a="http://schemas.openxmlformats.org/drawingml/2006/main">
            <a:off x="2707938" y="1333500"/>
            <a:ext cx="6776124" cy="406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C30CB-46ED-4F35-90CF-E3E58D4A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8500"/>
            <a:ext cx="11277600" cy="265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Select SYSTEM (SISTEMA) to choose the language or access restart and reset.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39E65-9B12-40C0-B7B8-73DA2BF4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945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Retouched from the supplied photograph: reflections removed and perspective corrected. Original labels and controls retained.</a:t>
            </a:r>
          </a:p>
        </p:txBody>
      </p:sp>
    </p:spTree>
    <p:extLst>
      <p:ext uri="{BB962C8B-B14F-4D97-AF65-F5344CB8AC3E}">
        <p14:creationId xmlns:p14="http://schemas.microsoft.com/office/powerpoint/2010/main" val="4683911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38706-1B16-43F1-A119-DDA4D5A6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DISPLAY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BFAED-CF6C-497B-98EC-DF6E7728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System and interface language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FE2BB-4333-4F04-8908-C518A3D5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97FC9-BAE1-4F43-B74D-BAE6EDE8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7F916-F3C6-4D56-A399-121DA8E41D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9062eb5534de6"/>
          <a:stretch xmlns:a="http://schemas.openxmlformats.org/drawingml/2006/main"/>
        </p:blipFill>
        <p:spPr>
          <a:xfrm xmlns:a="http://schemas.openxmlformats.org/drawingml/2006/main">
            <a:off x="2707938" y="1333500"/>
            <a:ext cx="6776124" cy="406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A8E65-4D34-4C53-A14C-06258881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8500"/>
            <a:ext cx="112776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Choose Italiano or English: the language is saved without restarting. RESTART keeps settings; FACTORY RESET clears GUARDIAN settings and web</a:t>
            </a:r>
          </a:p>
          <a:p xmlns:a="http://schemas.openxmlformats.org/drawingml/2006/main">
            <a:pPr>
              <a:defRPr sz="13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access. CSV files remain on microSD.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EDBEA-0356-4459-A77E-9797DF8D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945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Retouched from the supplied photograph: reflections removed and perspective corrected. Original labels and controls retained.</a:t>
            </a:r>
          </a:p>
        </p:txBody>
      </p:sp>
    </p:spTree>
    <p:extLst>
      <p:ext uri="{BB962C8B-B14F-4D97-AF65-F5344CB8AC3E}">
        <p14:creationId xmlns:p14="http://schemas.microsoft.com/office/powerpoint/2010/main" val="15022255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192E7-5510-4FBD-BBBE-08D0384B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INTERFACE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3DA14-A4E0-4C59-BFEC-66A5C8E7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Italian and English on the same device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9AA1C-B0B3-474C-AA95-B5C5D4CB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E9D32-A395-4365-BBCC-5757A631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38F6A-178D-44C8-92B8-2C9C201F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100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Selection on the display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A9E2A-CFB1-47F6-A762-7DB1C077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406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OTHER → SYSTEM: choose Italiano or English. The choice is saved without restarting. With no saved preference, the initial language is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Italian.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FEBC0-0CB2-434C-8602-E57E43A4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494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PC and smartphone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134A8-CF7B-4381-A9C6-5039A1B6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7760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They follow the display language by reloading within about three seconds while reachable. Save open forms before changing language.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8F8F6-CDB4-4B00-B7EE-3611FC53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0774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After restarting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8BE01-6FEC-49E8-A385-21B3DC9C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0800"/>
            <a:ext cx="1127760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The choice is retained. A GUARDIAN factory reset restores Italian. Job names, user-entered data and the CSV format remain unchanged.</a:t>
            </a:r>
          </a:p>
        </p:txBody>
      </p:sp>
    </p:spTree>
    <p:extLst>
      <p:ext uri="{BB962C8B-B14F-4D97-AF65-F5344CB8AC3E}">
        <p14:creationId xmlns:p14="http://schemas.microsoft.com/office/powerpoint/2010/main" val="18065731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879D1C-D864-491A-BF8B-780159AE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IMAGE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2A939-62FD-4911-83FA-6AF83000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Real readings and compatibility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B37FD-865C-43B8-93D0-314BB61B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9E2EC-4795-4138-AEC8-3097C767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E6721-9AD8-477A-A69B-E07E5802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100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24 hours for a complete average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A2BE1-1DE5-4D06-9DCA-26628EE1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406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 complete PM2.5 / PM10 average requires 24 hours of valid recording. Earlier averages cover only the available period and are partial. HCHO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uses a separate 30-minute period.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42F43-015E-4AD7-BEEE-0781822F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494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Photographs and demonstrations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DFC23-CF67-493C-8F37-527A3DDA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Display photographs show real readings collected over partial periods, not complete 24-hour averages. Network details and credentials are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examples. Firmware reconstructions are identified separately.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7437B-6DEF-4736-ABD2-CED70267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888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Printer used for testing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3F72B-5ACF-4622-A04A-9BAAE1E7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194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Testing used a Bambu Lab A1. GUARDIAN uses Bambu Lab protocols; other models require verification. Other brands require investigation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and possible adaptation.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39F75-B597-4019-BBBC-8D5CA588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282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Bilingual edition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D61EE-FDFF-4F42-BF7B-D05ACA98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3588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This documentation describes the Italian and English interface. The owner reports successful initial functional testing; software testing is not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metrological validation.</a:t>
            </a:r>
          </a:p>
        </p:txBody>
      </p:sp>
    </p:spTree>
    <p:extLst>
      <p:ext uri="{BB962C8B-B14F-4D97-AF65-F5344CB8AC3E}">
        <p14:creationId xmlns:p14="http://schemas.microsoft.com/office/powerpoint/2010/main" val="97717044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36927-6B1E-4B51-8F19-849E72C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SCREEN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D2D97-90D6-4F3A-8CFE-9541B599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Other service screens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69F1B-C938-45CA-B789-8630AB68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C31E6-71D9-482B-A0F1-B60500F3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2261C-202B-4A94-B86B-FF6DCCE550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7fc4bc7c24897"/>
          <a:stretch xmlns:a="http://schemas.openxmlformats.org/drawingml/2006/main"/>
        </p:blipFill>
        <p:spPr>
          <a:xfrm xmlns:a="http://schemas.openxmlformats.org/drawingml/2006/main">
            <a:off x="1673673" y="1587500"/>
            <a:ext cx="2964554" cy="177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5A54B-7C03-4CAA-B7F4-F88F38C4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1700"/>
            <a:ext cx="11480800" cy="23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OTHER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5C7F8-15BF-43B0-94B1-16FF1162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1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Access to additional functions.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6FC5F-0E29-4F46-8765-A2F4F330B0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981721ac54087"/>
          <a:stretch xmlns:a="http://schemas.openxmlformats.org/drawingml/2006/main"/>
        </p:blipFill>
        <p:spPr>
          <a:xfrm xmlns:a="http://schemas.openxmlformats.org/drawingml/2006/main">
            <a:off x="7850717" y="1587500"/>
            <a:ext cx="2370667" cy="1778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940FA-60DA-4836-B3E4-3659B681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441700"/>
            <a:ext cx="5600700" cy="23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SENSOR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86318-C878-4022-870F-B6BD85A5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721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Module presence and status information.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194F7-DC5A-481E-9E4A-1F61DDD879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1d2f0a8e64bac"/>
          <a:stretch xmlns:a="http://schemas.openxmlformats.org/drawingml/2006/main"/>
        </p:blipFill>
        <p:spPr>
          <a:xfrm xmlns:a="http://schemas.openxmlformats.org/drawingml/2006/main">
            <a:off x="2057310" y="4254500"/>
            <a:ext cx="2197280" cy="1778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7EC9E-60B8-4C95-B0C4-6BD9B28A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8700"/>
            <a:ext cx="11480800" cy="23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DIAGNOSTICS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CEC55-D3E3-4DD5-842E-2CFC1EED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8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Display, touch and SD tests.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E5F5A2-CA11-47C6-99EE-1AE6D4FE87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a0af39d9848a8"/>
          <a:stretch xmlns:a="http://schemas.openxmlformats.org/drawingml/2006/main"/>
        </p:blipFill>
        <p:spPr>
          <a:xfrm xmlns:a="http://schemas.openxmlformats.org/drawingml/2006/main">
            <a:off x="7964112" y="4254500"/>
            <a:ext cx="2143876" cy="1778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0BF05-9F7B-4767-AE04-29344668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6108700"/>
            <a:ext cx="5600700" cy="23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SD CARD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F3E5A-5B35-49DB-B866-DFC8FD52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6388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Recording status and local commands.</a:t>
            </a:r>
          </a:p>
        </p:txBody>
      </p:sp>
    </p:spTree>
    <p:extLst>
      <p:ext uri="{BB962C8B-B14F-4D97-AF65-F5344CB8AC3E}">
        <p14:creationId xmlns:p14="http://schemas.microsoft.com/office/powerpoint/2010/main" val="14372344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705B0-255E-4605-BE9D-EEC07CC2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SCREEN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3DF7A-C974-476E-BA4D-1EBC5BDB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Controls and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ACAE9-DBEA-4BEC-A9C1-B9F2F79D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6C69A-6931-42E7-AACB-92C47FA9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8E3DC-46A7-4E88-A392-8F2B35D530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2edfd3f814b6b"/>
          <a:stretch xmlns:a="http://schemas.openxmlformats.org/drawingml/2006/main"/>
        </p:blipFill>
        <p:spPr>
          <a:xfrm xmlns:a="http://schemas.openxmlformats.org/drawingml/2006/main">
            <a:off x="2025513" y="1587500"/>
            <a:ext cx="2260874" cy="177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CD07C-B855-4A22-9C5B-675B7456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41700"/>
            <a:ext cx="11480800" cy="23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PARAMETER THRESHOLD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58693-C235-4AA4-B39A-E43AAF76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1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Set a personal operating threshold.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5E722-3144-4F22-8C3D-114E047EA6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2ba91566244ef"/>
          <a:stretch xmlns:a="http://schemas.openxmlformats.org/drawingml/2006/main"/>
        </p:blipFill>
        <p:spPr>
          <a:xfrm xmlns:a="http://schemas.openxmlformats.org/drawingml/2006/main">
            <a:off x="7915448" y="1587500"/>
            <a:ext cx="2241203" cy="1778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FF7BD-E93A-47DD-9F51-93440987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441700"/>
            <a:ext cx="5600700" cy="23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TIME AND TIME ZONE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5BDD8-5512-4294-A987-D026E740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721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Geographical clock profile.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CB902-BC9C-4418-93C2-DA45F8F491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3574df3c34e2e"/>
          <a:stretch xmlns:a="http://schemas.openxmlformats.org/drawingml/2006/main"/>
        </p:blipFill>
        <p:spPr>
          <a:xfrm xmlns:a="http://schemas.openxmlformats.org/drawingml/2006/main">
            <a:off x="1995716" y="4254500"/>
            <a:ext cx="2320468" cy="1778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FC6E52-DFAD-497B-B45E-C1FA70BE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8700"/>
            <a:ext cx="11480800" cy="23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CO2 RESET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84724-3A1E-4377-98DD-FD22B03D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8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Separate confirmation for the CO2 channel.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8B950B-F4A5-4522-B64C-EE2D91A55B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7b7e2b5c64887"/>
          <a:stretch xmlns:a="http://schemas.openxmlformats.org/drawingml/2006/main"/>
        </p:blipFill>
        <p:spPr>
          <a:xfrm xmlns:a="http://schemas.openxmlformats.org/drawingml/2006/main">
            <a:off x="7553773" y="4254500"/>
            <a:ext cx="2964554" cy="1778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055B0-5AD3-4E5A-BEB7-3DFD9D23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6108700"/>
            <a:ext cx="5600700" cy="232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70F59D-D7C6-427A-BDFD-423C5DE0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6388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Restart or reset GUARDIAN.</a:t>
            </a:r>
          </a:p>
        </p:txBody>
      </p:sp>
    </p:spTree>
    <p:extLst>
      <p:ext uri="{BB962C8B-B14F-4D97-AF65-F5344CB8AC3E}">
        <p14:creationId xmlns:p14="http://schemas.microsoft.com/office/powerpoint/2010/main" val="16544596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968A0-52B2-4C07-AF9D-4CC17505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SCREEN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5F8A8-49C1-4D8A-B7F5-B92F53FB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Recognising environmental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DB834-88A9-4F16-89A3-10825E16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DE2D4-0E49-404C-84F9-7218F542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D3D0B-900F-4D86-8864-A9215D0859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da2a8f74d44994"/>
          <a:stretch xmlns:a="http://schemas.openxmlformats.org/drawingml/2006/main"/>
        </p:blipFill>
        <p:spPr>
          <a:xfrm xmlns:a="http://schemas.openxmlformats.org/drawingml/2006/main">
            <a:off x="1972525" y="1587500"/>
            <a:ext cx="2366850" cy="177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1AF9D-1FC2-4E05-877F-09638111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4400"/>
            <a:ext cx="114808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HOME: CO2 alert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6EE94-EC1B-4C2A-B372-D11DEDA7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1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Colour indicates the state against the configured threshold.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33AAB-FC52-46B2-BDDB-DC44847318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10fd49596465e"/>
          <a:stretch xmlns:a="http://schemas.openxmlformats.org/drawingml/2006/main"/>
        </p:blipFill>
        <p:spPr>
          <a:xfrm xmlns:a="http://schemas.openxmlformats.org/drawingml/2006/main">
            <a:off x="7850717" y="1587500"/>
            <a:ext cx="2370667" cy="1778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D69E3-AD0E-4C77-B43F-3BF51B0B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454400"/>
            <a:ext cx="56007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ALERT CENTRE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EB992-9C5B-4280-BF25-5AA108E2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721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Read the cause and current value; alerts are informational.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64A23-A833-4A29-857B-5FD4076DDD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bb2bf2e254dcf"/>
          <a:stretch xmlns:a="http://schemas.openxmlformats.org/drawingml/2006/main"/>
        </p:blipFill>
        <p:spPr>
          <a:xfrm xmlns:a="http://schemas.openxmlformats.org/drawingml/2006/main">
            <a:off x="2105944" y="4254500"/>
            <a:ext cx="2100012" cy="1778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28D44-BAE5-415B-B440-1672A54C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1400"/>
            <a:ext cx="114808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ANALYSIS: print completed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C8A5B-3E0E-4286-8944-03E56B95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8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Session summary and available samples.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C24F3-6DF8-4831-B6DA-368ED5A0AF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26bddf8014de8"/>
          <a:stretch xmlns:a="http://schemas.openxmlformats.org/drawingml/2006/main"/>
        </p:blipFill>
        <p:spPr>
          <a:xfrm xmlns:a="http://schemas.openxmlformats.org/drawingml/2006/main">
            <a:off x="7933090" y="4254500"/>
            <a:ext cx="2205920" cy="1778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1C580-13D6-41C4-B3C2-25787ECB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6121400"/>
            <a:ext cx="56007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FORMAT: confirmation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30AA38-FE67-44F4-8B01-0631D094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6388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Erases all card files; back up first.</a:t>
            </a:r>
          </a:p>
        </p:txBody>
      </p:sp>
    </p:spTree>
    <p:extLst>
      <p:ext uri="{BB962C8B-B14F-4D97-AF65-F5344CB8AC3E}">
        <p14:creationId xmlns:p14="http://schemas.microsoft.com/office/powerpoint/2010/main" val="67251666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E9105-E68E-41ED-AC51-015C0B61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SCREEN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F4060-9A7D-45E9-8D47-8488A4EF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Access and local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A78D1-565E-4FBE-89B9-73FCB52D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EF711-3C7F-414D-B9B3-08D5D640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C9F9B-2460-45CB-B382-887C77FAA1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ded65f4f9480d"/>
          <a:stretch xmlns:a="http://schemas.openxmlformats.org/drawingml/2006/main"/>
        </p:blipFill>
        <p:spPr>
          <a:xfrm xmlns:a="http://schemas.openxmlformats.org/drawingml/2006/main">
            <a:off x="1970617" y="1587500"/>
            <a:ext cx="2370667" cy="1778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58D1C-A246-4246-A741-A1170131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4400"/>
            <a:ext cx="114808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PRINTER SETTINGS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6B5D8-0A05-4ECB-869D-CC6C2CD2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1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Your A1’s IP, serial number and local code. Example details shown.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E786B-D69B-4B48-8BD7-9B85FC3B63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4c150ac424bdb"/>
          <a:stretch xmlns:a="http://schemas.openxmlformats.org/drawingml/2006/main"/>
        </p:blipFill>
        <p:spPr>
          <a:xfrm xmlns:a="http://schemas.openxmlformats.org/drawingml/2006/main">
            <a:off x="7965828" y="1587500"/>
            <a:ext cx="2140444" cy="1778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ACE55-E13A-4CF0-BFB3-4451AF6E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454400"/>
            <a:ext cx="56007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BROWSER 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872AB-D48C-42B8-B660-3BAEDA1E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3721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Use your monitor’s address. The QR code shown was replaced.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1926E-A9BE-41A1-908D-0A5FB802EC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cb57e685644ce"/>
          <a:stretch xmlns:a="http://schemas.openxmlformats.org/drawingml/2006/main"/>
        </p:blipFill>
        <p:spPr>
          <a:xfrm xmlns:a="http://schemas.openxmlformats.org/drawingml/2006/main">
            <a:off x="2041525" y="4254500"/>
            <a:ext cx="2228850" cy="1778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05F84-C14E-4F2B-B89A-4E55C54C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1400"/>
            <a:ext cx="114808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DISPLAY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89712-2924-4EFF-A4D6-16276542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8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Check uniformity and persistent defects.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B2957-643E-4198-AECF-E77DCF0878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d539edaf14995"/>
          <a:stretch xmlns:a="http://schemas.openxmlformats.org/drawingml/2006/main"/>
        </p:blipFill>
        <p:spPr>
          <a:xfrm xmlns:a="http://schemas.openxmlformats.org/drawingml/2006/main">
            <a:off x="7886717" y="4254500"/>
            <a:ext cx="2298665" cy="17780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193D4-A573-468A-B24F-D39B3B17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6121400"/>
            <a:ext cx="56007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TOUCH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8CC717-D1E0-423D-B203-0C148CFF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7300" y="6388100"/>
            <a:ext cx="5397500" cy="199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Check response at different screen positions.</a:t>
            </a:r>
          </a:p>
        </p:txBody>
      </p:sp>
    </p:spTree>
    <p:extLst>
      <p:ext uri="{BB962C8B-B14F-4D97-AF65-F5344CB8AC3E}">
        <p14:creationId xmlns:p14="http://schemas.microsoft.com/office/powerpoint/2010/main" val="5553663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3F19A6-D9C5-4B90-B543-B82A8527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GUARDIAN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55D38-E730-4011-A7ED-025B736A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Adjusting thresholds quickly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71690-F124-4505-9D7D-5D5A404F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4158C-A960-4680-AE76-C92B6BE9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63A72-46F2-4D9F-AC11-F37EB0112F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cc5e8bfb34961"/>
          <a:stretch xmlns:a="http://schemas.openxmlformats.org/drawingml/2006/main"/>
        </p:blipFill>
        <p:spPr>
          <a:xfrm xmlns:a="http://schemas.openxmlformats.org/drawingml/2006/main">
            <a:off x="1142657" y="1435100"/>
            <a:ext cx="5652185" cy="444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5FB12-71F9-4F30-8EFB-109E3356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57480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Small or large steps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5EAFB-EFD3-4C66-A995-69684288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191960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±1, ±10 and ±100 buttons: increase by 100 with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one tap on +100.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5E3D0-D254-4C0E-9763-E7A5A86F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593975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Press and 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F0379-3F94-44A4-9913-FF2B3784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2938780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Repeats the change; holding ±1 accelerates the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step.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C216D-33F1-4DB9-9DCE-8BC48227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613150"/>
            <a:ext cx="3784600" cy="306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5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Apply and retain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0F615-29A2-41CC-8905-9F6E7419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0200" y="3957955"/>
            <a:ext cx="3784600" cy="496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Check the command result. In the browser, enter</a:t>
            </a:r>
          </a:p>
          <a:p xmlns:a="http://schemas.openxmlformats.org/drawingml/2006/main">
            <a:pPr>
              <a:defRPr sz="135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the value directly.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BBAF5-D27A-4F3E-A38F-EF148EB0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54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Personal operating thresholds are not certified health limits.</a:t>
            </a:r>
          </a:p>
        </p:txBody>
      </p:sp>
    </p:spTree>
    <p:extLst>
      <p:ext uri="{BB962C8B-B14F-4D97-AF65-F5344CB8AC3E}">
        <p14:creationId xmlns:p14="http://schemas.microsoft.com/office/powerpoint/2010/main" val="35766943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EFD59-A7C0-4D8F-BD43-4C2AB5B8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EVERYDAY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551CD-21C6-42B6-A4D3-3C4CB12E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Display and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BBC1C-0C75-4E98-8199-C1309C2B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EDBA1-3E6A-4698-B9C3-B7B728E7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6DD16-AA21-44BD-BB05-B1861D7F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100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An organised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DC2D4-F5E8-4A50-A340-109C3198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4060"/>
            <a:ext cx="1127760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ENVIRONMENTAL TRENDS → ENVIRONMENTAL AVERAGES; PRINT ANALYSIS → 3D PRINTING on PC and smartphone pages.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3F912-757A-476A-B990-CBD0A23F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380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Readable job names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AF713-315E-4321-A695-9A3DED24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6860"/>
            <a:ext cx="1127760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“tappo in tpu + tappo in tpu” appears as “tappo in tpu”. Different names remain visible. The original print file is not renamed.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97A50-BE43-4B5E-B79D-4BD313C5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MAINTENANCE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2EE36-BB9E-4A3D-8026-48D421CD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660"/>
            <a:ext cx="11277600" cy="28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The menu uses the full label. CO2 preparation, calibration and cleaning remain separate procedures.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FE5B8-DE37-47E0-9345-9011BEBB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89400"/>
            <a:ext cx="11277600" cy="31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0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Data and 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7CD3A-39B1-4EDD-8BC6-B8C3C77E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42460"/>
            <a:ext cx="11277600" cy="513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The model preview is available on the monitor. Screens in this guide are examples; network details, credentials and serial numbers were</a:t>
            </a:r>
          </a:p>
          <a:p xmlns:a="http://schemas.openxmlformats.org/drawingml/2006/main">
            <a:pPr>
              <a:defRPr sz="14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F6F8FC"/>
                </a:solidFill>
                <a:latin typeface="Arial"/>
                <a:ea typeface="Arial"/>
                <a:cs typeface="Arial"/>
              </a:rPr>
              <a:t>replaced with demonstration values.</a:t>
            </a:r>
          </a:p>
        </p:txBody>
      </p:sp>
    </p:spTree>
    <p:extLst>
      <p:ext uri="{BB962C8B-B14F-4D97-AF65-F5344CB8AC3E}">
        <p14:creationId xmlns:p14="http://schemas.microsoft.com/office/powerpoint/2010/main" val="166349252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4D133-6D54-4F8C-8317-59AE375C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TRACEABLE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F67BE-FE2C-4E71-A1C2-78E7D4A7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Sources and reference documents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326F0-C965-42D5-A929-BF745B2C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47219-6485-4F59-B946-6FEAC8BD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C5118-1FC8-48F5-935E-9050930B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240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bec1a75e8b84c23"/>
              </a:rPr>
              <a:t>S1 · Sensirion — SEN6x datasheet (v1.0, October 2026)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bec1a75e8b84c23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bec1a75e8b84c23"/>
              </a:rPr>
              <a:t>Open original document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3D173-A29A-4D4A-B271-1D7D2B23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612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2aa1f86a689417d"/>
              </a:rPr>
              <a:t>S2 · Sensirion — SEN5x / SEN6x factory calibration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2aa1f86a689417d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2aa1f86a689417d"/>
              </a:rPr>
              <a:t>Open original document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7FEFF-5FBE-46CC-9C56-8AC08BED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984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1eb662bfa25741a3"/>
              </a:rPr>
              <a:t>S3 · Sensirion — SEN6x mechanical integration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1eb662bfa25741a3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1eb662bfa25741a3"/>
              </a:rPr>
              <a:t>Open original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96AD6-C706-457F-85DA-E0243F50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356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af8c3325fbe248cb"/>
              </a:rPr>
              <a:t>S4 · Sensirion — specification statement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af8c3325fbe248cb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af8c3325fbe248cb"/>
              </a:rPr>
              <a:t>Open original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E4A36-9775-47F3-A87C-2D0FB23A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728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0f02e886d58a496d"/>
              </a:rPr>
              <a:t>S5 · Sensirion — temperature compensation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0f02e886d58a496d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0f02e886d58a496d"/>
              </a:rPr>
              <a:t>Open original document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3CBA4-9D30-4139-85CC-C6D11059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d67d7821c644d33"/>
              </a:rPr>
              <a:t>S6 · WHO — Global Air Quality Guidelines, 2021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d67d7821c644d33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d67d7821c644d33"/>
              </a:rPr>
              <a:t>Open original document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BE33B-8A10-4BF2-9B49-A8ECBBE3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472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4c5fe4ff363341d8"/>
              </a:rPr>
              <a:t>S7 · WHO — Indoor Air Quality: selected pollutants, 2010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4c5fe4ff363341d8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4c5fe4ff363341d8"/>
              </a:rPr>
              <a:t>Open original document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4631B-2228-4357-8AE3-187E89E8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194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Accessed: 13 October 2026. Component documents do not certify the complete GUARDIAN device. The photographs show example readings, not metrological validation results.</a:t>
            </a:r>
          </a:p>
        </p:txBody>
      </p:sp>
    </p:spTree>
    <p:extLst>
      <p:ext uri="{BB962C8B-B14F-4D97-AF65-F5344CB8AC3E}">
        <p14:creationId xmlns:p14="http://schemas.microsoft.com/office/powerpoint/2010/main" val="13795455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0CC38-8B0B-4877-8583-6C0D07FC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TRACEABLE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5040C-73A3-4A9F-ACA2-E70F8F0B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Sources and reference documents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9AFC8-4296-4B98-8E69-869A6F62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D6638-C419-4840-A3F5-E864EED2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73E54-5910-45A1-8C99-ECF76D9B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240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9c7ec1a0d7544aed"/>
              </a:rPr>
              <a:t>S8 · EPA — research on 3D-printing emissions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9c7ec1a0d7544aed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9c7ec1a0d7544aed"/>
              </a:rPr>
              <a:t>Open original document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7C337-9872-4779-9D39-6126CED6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612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039456cc985d4b86"/>
              </a:rPr>
              <a:t>S9 · EPA — Air Sensor Toolbox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039456cc985d4b86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039456cc985d4b86"/>
              </a:rPr>
              <a:t>Open original document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CF22B-A0E8-4BD2-926A-D8E2EA29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984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8bf0820319344899"/>
              </a:rPr>
              <a:t>S10 · UBA — CO2 and ventilation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8bf0820319344899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8bf0820319344899"/>
              </a:rPr>
              <a:t>Open original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8340D-88DD-4540-A36F-B6365F10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356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5ef133ca33df4a84"/>
              </a:rPr>
              <a:t>S11 · Radio Equipment Directive 2014/53/EU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5ef133ca33df4a84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5ef133ca33df4a84"/>
              </a:rPr>
              <a:t>Open original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6D0E0-96CD-4462-ADF1-B96597FA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728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7474d69b13984c0b"/>
              </a:rPr>
              <a:t>S12 · RoHS Directive 2011/65/EU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7474d69b13984c0b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7474d69b13984c0b"/>
              </a:rPr>
              <a:t>Open original document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79B2A-F063-4A29-B533-3068845C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420b776490fe4c46"/>
              </a:rPr>
              <a:t>S13 · Delegated Directive (EU) 2015/863 — RoHS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420b776490fe4c46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420b776490fe4c46"/>
              </a:rPr>
              <a:t>Open original document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13253-1710-46C3-B57F-0BB6810B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472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492e99c13ca64f95"/>
              </a:rPr>
              <a:t>S14 · WEEE Directive 2012/19/EU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492e99c13ca64f95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492e99c13ca64f95"/>
              </a:rPr>
              <a:t>Open original document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EBD80-E9BB-4EB9-8389-854BAD4E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194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Accessed: 13 October 2026. Component documents do not certify the complete GUARDIAN device. The photographs show example readings, not metrological validation results.</a:t>
            </a:r>
          </a:p>
        </p:txBody>
      </p:sp>
    </p:spTree>
    <p:extLst>
      <p:ext uri="{BB962C8B-B14F-4D97-AF65-F5344CB8AC3E}">
        <p14:creationId xmlns:p14="http://schemas.microsoft.com/office/powerpoint/2010/main" val="72410457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117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8EF42-87F1-419F-AEF8-CE4934F4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550"/>
            <a:ext cx="11480800" cy="191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defPPr>
            <a:lvl1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1pPr>
            <a:lvl2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2pPr>
            <a:lvl3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3pPr>
            <a:lvl4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4pPr>
            <a:lvl5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5pPr>
            <a:lvl6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6pPr>
            <a:lvl7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7pPr>
            <a:lvl8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8pPr>
            <a:lvl9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50" b="1">
                <a:solidFill>
                  <a:srgbClr val="65A5FF"/>
                </a:solidFill>
                <a:latin typeface="Arial"/>
                <a:ea typeface="Arial"/>
                <a:cs typeface="Arial"/>
              </a:defRPr>
            </a:pPr>
            <a:r>
              <a:rPr sz="850" b="1">
                <a:solidFill>
                  <a:srgbClr val="65A5FF"/>
                </a:solidFill>
                <a:latin typeface="Arial"/>
                <a:ea typeface="Arial"/>
                <a:cs typeface="Arial"/>
              </a:rPr>
              <a:t>TRACEABLE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02977-BEB4-4031-965D-363BF196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11200"/>
            <a:ext cx="11277600" cy="529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00" b="1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6F8FC"/>
                </a:solidFill>
                <a:latin typeface="Arial"/>
                <a:ea typeface="Arial"/>
                <a:cs typeface="Arial"/>
              </a:rPr>
              <a:t>Sources and reference documents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1EE06-D83B-4592-9E7C-3ACC70CE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0"/>
            <a:ext cx="11480800" cy="142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GUARDIAN MAKERS     /    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3A34B-F6EC-43D6-987A-4C62FE87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8900" y="7226300"/>
            <a:ext cx="419100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4D3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5681C0-8842-49D2-B539-B1045254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240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b41c8dd5564b4a57"/>
              </a:rPr>
              <a:t>S15 · REACH Regulation (EC) 1907/2006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b41c8dd5564b4a57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b41c8dd5564b4a57"/>
              </a:rPr>
              <a:t>Open original document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23845-499B-4E5C-9961-B1A31C5F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612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7bf8dc4d359e478a"/>
              </a:rPr>
              <a:t>S16 · Sensirion — REACH / RoHS statement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7bf8dc4d359e478a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7bf8dc4d359e478a"/>
              </a:rPr>
              <a:t>Open original document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8B4E4-FA7E-4CC2-8ED7-A6993EFD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984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4b1601c038aa464c"/>
              </a:rPr>
              <a:t>S17 · Espressif — Arduino ESP32 installation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4b1601c038aa464c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4b1601c038aa464c"/>
              </a:rPr>
              <a:t>Open original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3E35B-DE73-4DAE-90AD-7E89161E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356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c1e53e9d7bd9419e"/>
              </a:rPr>
              <a:t>S18 · Freenove — FNK0115 repository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c1e53e9d7bd9419e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c1e53e9d7bd9419e"/>
              </a:rPr>
              <a:t>Open original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2DDF9-1AB1-4C55-9D82-75000CA9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7280"/>
            <a:ext cx="11277600" cy="414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defPPr>
            <a:lvl1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1pPr>
            <a:lvl2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2pPr>
            <a:lvl3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3pPr>
            <a:lvl4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4pPr>
            <a:lvl5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5pPr>
            <a:lvl6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6pPr>
            <a:lvl7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7pPr>
            <a:lvl8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8pPr>
            <a:lvl9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00" b="0">
                <a:solidFill>
                  <a:srgbClr val="F6F8FC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ebcb0081907473f"/>
              </a:rPr>
              <a:t>S19 · Sensirion — SEN69C product information</a:t>
            </a:r>
            <a:b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ebcb0081907473f"/>
              </a:rPr>
            </a:br>
            <a:r>
              <a:rPr sz="1100" b="0">
                <a:solidFill>
                  <a:srgbClr val="F6F8FC"/>
                </a:solidFill>
                <a:latin typeface="Arial"/>
                <a:ea typeface="Arial"/>
                <a:cs typeface="Arial"/>
                <a:hlinkClick xmlns:r="http://schemas.openxmlformats.org/officeDocument/2006/relationships" r:id="Rdebcb0081907473f"/>
              </a:rPr>
              <a:t>Open original document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B54D1-8D3A-479D-BB88-A3E0C172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4500"/>
            <a:ext cx="1127760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defPPr>
            <a:lvl1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1pPr>
            <a:lvl2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2pPr>
            <a:lvl3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3pPr>
            <a:lvl4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4pPr>
            <a:lvl5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5pPr>
            <a:lvl6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6pPr>
            <a:lvl7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7pPr>
            <a:lvl8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8pPr>
            <a:lvl9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00" b="0">
                <a:solidFill>
                  <a:srgbClr val="B9C4D3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B9C4D3"/>
                </a:solidFill>
                <a:latin typeface="Arial"/>
                <a:ea typeface="Arial"/>
                <a:cs typeface="Arial"/>
              </a:rPr>
              <a:t>Accessed: 13 October 2026. Component documents do not certify the complete GUARDIAN device. The photographs show example readings, not metrological validation results.</a:t>
            </a:r>
          </a:p>
        </p:txBody>
      </p:sp>
    </p:spTree>
    <p:extLst>
      <p:ext uri="{BB962C8B-B14F-4D97-AF65-F5344CB8AC3E}">
        <p14:creationId xmlns:p14="http://schemas.microsoft.com/office/powerpoint/2010/main" val="1447944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2026-10-19T16:15:20.0090000Z</dcterms:created>
  <dcterms:modified xsi:type="dcterms:W3CDTF">2026-10-19T16:15:20.0090000Z</dcterms:modified>
</coreProperties>
</file>