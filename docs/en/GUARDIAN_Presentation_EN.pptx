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29302b268448eb" /><Relationship Type="http://schemas.openxmlformats.org/officeDocument/2006/relationships/extended-properties" Target="/docProps/app.xml" Id="R678f4fb310e04251" /><Relationship Type="http://schemas.openxmlformats.org/officeDocument/2006/relationships/officeDocument" Target="/ppt/presentation.xml" Id="R1aabbc5bf9e84633" /></Relationships>
</file>

<file path=ppt/presentation.xml><?xml version="1.0" encoding="utf-8"?>
<p:presentation xmlns:p="http://schemas.openxmlformats.org/presentationml/2006/main">
  <p:sldMasterIdLst>
    <p:sldMasterId xmlns:r="http://schemas.openxmlformats.org/officeDocument/2006/relationships" id="2147483648" r:id="R4202a93463444218"/>
  </p:sldMasterIdLst>
  <p:notesMasterIdLst>
    <p:notesMasterId xmlns:r="http://schemas.openxmlformats.org/officeDocument/2006/relationships" r:id="Rb2d06acd67634152"/>
  </p:notesMasterIdLst>
  <p:sldIdLst>
    <p:sldId xmlns:r="http://schemas.openxmlformats.org/officeDocument/2006/relationships" id="256" r:id="Rab0d2b29eab34775"/>
    <p:sldId xmlns:r="http://schemas.openxmlformats.org/officeDocument/2006/relationships" id="257" r:id="R9cfd959529fb4f13"/>
    <p:sldId xmlns:r="http://schemas.openxmlformats.org/officeDocument/2006/relationships" id="258" r:id="R332952cd80064283"/>
    <p:sldId xmlns:r="http://schemas.openxmlformats.org/officeDocument/2006/relationships" id="259" r:id="R5772244be7ef461b"/>
    <p:sldId xmlns:r="http://schemas.openxmlformats.org/officeDocument/2006/relationships" id="260" r:id="R0fe50ab5750441c4"/>
    <p:sldId xmlns:r="http://schemas.openxmlformats.org/officeDocument/2006/relationships" id="261" r:id="R674f6f47a68a4f31"/>
    <p:sldId xmlns:r="http://schemas.openxmlformats.org/officeDocument/2006/relationships" id="262" r:id="R7db4cd44834d432f"/>
    <p:sldId xmlns:r="http://schemas.openxmlformats.org/officeDocument/2006/relationships" id="263" r:id="R944b2349a5684eef"/>
    <p:sldId xmlns:r="http://schemas.openxmlformats.org/officeDocument/2006/relationships" id="264" r:id="R155d94cada9844e9"/>
    <p:sldId xmlns:r="http://schemas.openxmlformats.org/officeDocument/2006/relationships" id="265" r:id="R19b74e3e281b4caf"/>
    <p:sldId xmlns:r="http://schemas.openxmlformats.org/officeDocument/2006/relationships" id="266" r:id="R2701d18088a64d0e"/>
    <p:sldId xmlns:r="http://schemas.openxmlformats.org/officeDocument/2006/relationships" id="267" r:id="Raa9a5bf2d2ae4728"/>
    <p:sldId xmlns:r="http://schemas.openxmlformats.org/officeDocument/2006/relationships" id="268" r:id="R94264af4736f40f8"/>
    <p:sldId xmlns:r="http://schemas.openxmlformats.org/officeDocument/2006/relationships" id="269" r:id="R41cd0636b335410f"/>
    <p:sldId xmlns:r="http://schemas.openxmlformats.org/officeDocument/2006/relationships" id="270" r:id="R86756992bd434345"/>
    <p:sldId xmlns:r="http://schemas.openxmlformats.org/officeDocument/2006/relationships" id="271" r:id="Rbf17cd4ffce64b11"/>
    <p:sldId xmlns:r="http://schemas.openxmlformats.org/officeDocument/2006/relationships" id="272" r:id="R8de5d0dbcbc14a49"/>
    <p:sldId xmlns:r="http://schemas.openxmlformats.org/officeDocument/2006/relationships" id="273" r:id="R96440d2df16a4229"/>
    <p:sldId xmlns:r="http://schemas.openxmlformats.org/officeDocument/2006/relationships" id="274" r:id="R75f539bd9f424cf5"/>
    <p:sldId xmlns:r="http://schemas.openxmlformats.org/officeDocument/2006/relationships" id="275" r:id="Ra52315d2a5504c4b"/>
    <p:sldId xmlns:r="http://schemas.openxmlformats.org/officeDocument/2006/relationships" id="276" r:id="Rd260aa1c2b6c4446"/>
    <p:sldId xmlns:r="http://schemas.openxmlformats.org/officeDocument/2006/relationships" id="277" r:id="R1171c58ee29742c2"/>
    <p:sldId xmlns:r="http://schemas.openxmlformats.org/officeDocument/2006/relationships" id="278" r:id="Red45c389a1dc40ae"/>
    <p:sldId xmlns:r="http://schemas.openxmlformats.org/officeDocument/2006/relationships" id="279" r:id="R64455f0b3a1a4e58"/>
    <p:sldId xmlns:r="http://schemas.openxmlformats.org/officeDocument/2006/relationships" id="280" r:id="R6042dce71f344181"/>
    <p:sldId xmlns:r="http://schemas.openxmlformats.org/officeDocument/2006/relationships" id="281" r:id="Rdb54f24dcb454915"/>
    <p:sldId xmlns:r="http://schemas.openxmlformats.org/officeDocument/2006/relationships" id="282" r:id="Rc7bed11486164ba8"/>
    <p:sldId xmlns:r="http://schemas.openxmlformats.org/officeDocument/2006/relationships" id="283" r:id="R78cdd11e95404899"/>
    <p:sldId xmlns:r="http://schemas.openxmlformats.org/officeDocument/2006/relationships" id="284" r:id="R68c783ad145c4e6f"/>
    <p:sldId xmlns:r="http://schemas.openxmlformats.org/officeDocument/2006/relationships" id="285" r:id="R63d833d7920a4a76"/>
    <p:sldId xmlns:r="http://schemas.openxmlformats.org/officeDocument/2006/relationships" id="286" r:id="R55c4199eb9ba4f71"/>
    <p:sldId xmlns:r="http://schemas.openxmlformats.org/officeDocument/2006/relationships" id="287" r:id="Rd16da44743384271"/>
    <p:sldId xmlns:r="http://schemas.openxmlformats.org/officeDocument/2006/relationships" id="288" r:id="R94a96484fb3440d5"/>
    <p:sldId xmlns:r="http://schemas.openxmlformats.org/officeDocument/2006/relationships" id="289" r:id="R4d3e74f73e734c59"/>
    <p:sldId xmlns:r="http://schemas.openxmlformats.org/officeDocument/2006/relationships" id="290" r:id="R9b7e66cf32f14f46"/>
    <p:sldId xmlns:r="http://schemas.openxmlformats.org/officeDocument/2006/relationships" id="291" r:id="R9641b768ce594472"/>
    <p:sldId xmlns:r="http://schemas.openxmlformats.org/officeDocument/2006/relationships" id="292" r:id="R135a3505fca8495e"/>
    <p:sldId xmlns:r="http://schemas.openxmlformats.org/officeDocument/2006/relationships" id="293" r:id="R1acd03e0e0724adb"/>
    <p:sldId xmlns:r="http://schemas.openxmlformats.org/officeDocument/2006/relationships" id="294" r:id="Rb6f7f20ea65d4515"/>
    <p:sldId xmlns:r="http://schemas.openxmlformats.org/officeDocument/2006/relationships" id="295" r:id="Rd0d3d291732143af"/>
  </p:sldIdLst>
  <p:sldSz cx="12192000" cy="7620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25bf705f9247b7" /><Relationship Type="http://schemas.openxmlformats.org/officeDocument/2006/relationships/slideMaster" Target="/ppt/slideMasters/slideMaster1.xml" Id="R4202a93463444218" /><Relationship Type="http://schemas.openxmlformats.org/officeDocument/2006/relationships/notesMaster" Target="/ppt/notesMasters/notesMaster1.xml" Id="Rb2d06acd67634152" /><Relationship Type="http://schemas.openxmlformats.org/officeDocument/2006/relationships/presProps" Target="/ppt/presProps.xml" Id="Rc4ece750a90b4943" /><Relationship Type="http://schemas.openxmlformats.org/officeDocument/2006/relationships/tableStyles" Target="/ppt/tableStyles.xml" Id="Rcb9f11763a1d4a10" /><Relationship Type="http://schemas.openxmlformats.org/officeDocument/2006/relationships/slide" Target="/ppt/slides/slide1.xml" Id="Rab0d2b29eab34775" /><Relationship Type="http://schemas.openxmlformats.org/officeDocument/2006/relationships/slide" Target="/ppt/slides/slide2.xml" Id="R9cfd959529fb4f13" /><Relationship Type="http://schemas.openxmlformats.org/officeDocument/2006/relationships/slide" Target="/ppt/slides/slide3.xml" Id="R332952cd80064283" /><Relationship Type="http://schemas.openxmlformats.org/officeDocument/2006/relationships/slide" Target="/ppt/slides/slide4.xml" Id="R5772244be7ef461b" /><Relationship Type="http://schemas.openxmlformats.org/officeDocument/2006/relationships/slide" Target="/ppt/slides/slide5.xml" Id="R0fe50ab5750441c4" /><Relationship Type="http://schemas.openxmlformats.org/officeDocument/2006/relationships/slide" Target="/ppt/slides/slide6.xml" Id="R674f6f47a68a4f31" /><Relationship Type="http://schemas.openxmlformats.org/officeDocument/2006/relationships/slide" Target="/ppt/slides/slide7.xml" Id="R7db4cd44834d432f" /><Relationship Type="http://schemas.openxmlformats.org/officeDocument/2006/relationships/slide" Target="/ppt/slides/slide8.xml" Id="R944b2349a5684eef" /><Relationship Type="http://schemas.openxmlformats.org/officeDocument/2006/relationships/slide" Target="/ppt/slides/slide9.xml" Id="R155d94cada9844e9" /><Relationship Type="http://schemas.openxmlformats.org/officeDocument/2006/relationships/slide" Target="/ppt/slides/slide10.xml" Id="R19b74e3e281b4caf" /><Relationship Type="http://schemas.openxmlformats.org/officeDocument/2006/relationships/slide" Target="/ppt/slides/slide11.xml" Id="R2701d18088a64d0e" /><Relationship Type="http://schemas.openxmlformats.org/officeDocument/2006/relationships/slide" Target="/ppt/slides/slide12.xml" Id="Raa9a5bf2d2ae4728" /><Relationship Type="http://schemas.openxmlformats.org/officeDocument/2006/relationships/slide" Target="/ppt/slides/slide13.xml" Id="R94264af4736f40f8" /><Relationship Type="http://schemas.openxmlformats.org/officeDocument/2006/relationships/slide" Target="/ppt/slides/slide14.xml" Id="R41cd0636b335410f" /><Relationship Type="http://schemas.openxmlformats.org/officeDocument/2006/relationships/slide" Target="/ppt/slides/slide15.xml" Id="R86756992bd434345" /><Relationship Type="http://schemas.openxmlformats.org/officeDocument/2006/relationships/slide" Target="/ppt/slides/slide16.xml" Id="Rbf17cd4ffce64b11" /><Relationship Type="http://schemas.openxmlformats.org/officeDocument/2006/relationships/slide" Target="/ppt/slides/slide17.xml" Id="R8de5d0dbcbc14a49" /><Relationship Type="http://schemas.openxmlformats.org/officeDocument/2006/relationships/slide" Target="/ppt/slides/slide18.xml" Id="R96440d2df16a4229" /><Relationship Type="http://schemas.openxmlformats.org/officeDocument/2006/relationships/slide" Target="/ppt/slides/slide19.xml" Id="R75f539bd9f424cf5" /><Relationship Type="http://schemas.openxmlformats.org/officeDocument/2006/relationships/slide" Target="/ppt/slides/slide20.xml" Id="Ra52315d2a5504c4b" /><Relationship Type="http://schemas.openxmlformats.org/officeDocument/2006/relationships/slide" Target="/ppt/slides/slide21.xml" Id="Rd260aa1c2b6c4446" /><Relationship Type="http://schemas.openxmlformats.org/officeDocument/2006/relationships/slide" Target="/ppt/slides/slide22.xml" Id="R1171c58ee29742c2" /><Relationship Type="http://schemas.openxmlformats.org/officeDocument/2006/relationships/slide" Target="/ppt/slides/slide23.xml" Id="Red45c389a1dc40ae" /><Relationship Type="http://schemas.openxmlformats.org/officeDocument/2006/relationships/slide" Target="/ppt/slides/slide24.xml" Id="R64455f0b3a1a4e58" /><Relationship Type="http://schemas.openxmlformats.org/officeDocument/2006/relationships/slide" Target="/ppt/slides/slide25.xml" Id="R6042dce71f344181" /><Relationship Type="http://schemas.openxmlformats.org/officeDocument/2006/relationships/slide" Target="/ppt/slides/slide26.xml" Id="Rdb54f24dcb454915" /><Relationship Type="http://schemas.openxmlformats.org/officeDocument/2006/relationships/slide" Target="/ppt/slides/slide27.xml" Id="Rc7bed11486164ba8" /><Relationship Type="http://schemas.openxmlformats.org/officeDocument/2006/relationships/slide" Target="/ppt/slides/slide28.xml" Id="R78cdd11e95404899" /><Relationship Type="http://schemas.openxmlformats.org/officeDocument/2006/relationships/slide" Target="/ppt/slides/slide29.xml" Id="R68c783ad145c4e6f" /><Relationship Type="http://schemas.openxmlformats.org/officeDocument/2006/relationships/slide" Target="/ppt/slides/slide30.xml" Id="R63d833d7920a4a76" /><Relationship Type="http://schemas.openxmlformats.org/officeDocument/2006/relationships/slide" Target="/ppt/slides/slide31.xml" Id="R55c4199eb9ba4f71" /><Relationship Type="http://schemas.openxmlformats.org/officeDocument/2006/relationships/slide" Target="/ppt/slides/slide32.xml" Id="Rd16da44743384271" /><Relationship Type="http://schemas.openxmlformats.org/officeDocument/2006/relationships/slide" Target="/ppt/slides/slide33.xml" Id="R94a96484fb3440d5" /><Relationship Type="http://schemas.openxmlformats.org/officeDocument/2006/relationships/slide" Target="/ppt/slides/slide34.xml" Id="R4d3e74f73e734c59" /><Relationship Type="http://schemas.openxmlformats.org/officeDocument/2006/relationships/slide" Target="/ppt/slides/slide35.xml" Id="R9b7e66cf32f14f46" /><Relationship Type="http://schemas.openxmlformats.org/officeDocument/2006/relationships/slide" Target="/ppt/slides/slide36.xml" Id="R9641b768ce594472" /><Relationship Type="http://schemas.openxmlformats.org/officeDocument/2006/relationships/slide" Target="/ppt/slides/slide37.xml" Id="R135a3505fca8495e" /><Relationship Type="http://schemas.openxmlformats.org/officeDocument/2006/relationships/slide" Target="/ppt/slides/slide38.xml" Id="R1acd03e0e0724adb" /><Relationship Type="http://schemas.openxmlformats.org/officeDocument/2006/relationships/slide" Target="/ppt/slides/slide39.xml" Id="Rb6f7f20ea65d4515" /><Relationship Type="http://schemas.openxmlformats.org/officeDocument/2006/relationships/slide" Target="/ppt/slides/slide40.xml" Id="Rd0d3d2917321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2e8033717b41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298a38a78545a3" /><Relationship Type="http://schemas.openxmlformats.org/officeDocument/2006/relationships/notesMaster" Target="/ppt/notesMasters/notesMaster1.xml" Id="R9ffd80e27ed842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226ac659e74fe1" /><Relationship Type="http://schemas.openxmlformats.org/officeDocument/2006/relationships/notesMaster" Target="/ppt/notesMasters/notesMaster1.xml" Id="R1354db68378146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a91db726b445af" /><Relationship Type="http://schemas.openxmlformats.org/officeDocument/2006/relationships/notesMaster" Target="/ppt/notesMasters/notesMaster1.xml" Id="Rc1d08f78b83f49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02320919294f75" /><Relationship Type="http://schemas.openxmlformats.org/officeDocument/2006/relationships/notesMaster" Target="/ppt/notesMasters/notesMaster1.xml" Id="R79dfcf3af3bc41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c65d1c67a747ce" /><Relationship Type="http://schemas.openxmlformats.org/officeDocument/2006/relationships/notesMaster" Target="/ppt/notesMasters/notesMaster1.xml" Id="R1eaf07ecc27e45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c4ae69ef054cc6" /><Relationship Type="http://schemas.openxmlformats.org/officeDocument/2006/relationships/notesMaster" Target="/ppt/notesMasters/notesMaster1.xml" Id="Rd07e4bdb3c2a4a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889cad3a674654" /><Relationship Type="http://schemas.openxmlformats.org/officeDocument/2006/relationships/notesMaster" Target="/ppt/notesMasters/notesMaster1.xml" Id="Rb5059b8ff99849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fbccb772c444af" /><Relationship Type="http://schemas.openxmlformats.org/officeDocument/2006/relationships/notesMaster" Target="/ppt/notesMasters/notesMaster1.xml" Id="R12db3449add84a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8e7ab05b284e26" /><Relationship Type="http://schemas.openxmlformats.org/officeDocument/2006/relationships/notesMaster" Target="/ppt/notesMasters/notesMaster1.xml" Id="R21c10c085a2448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b09f905e5f4c0a" /><Relationship Type="http://schemas.openxmlformats.org/officeDocument/2006/relationships/notesMaster" Target="/ppt/notesMasters/notesMaster1.xml" Id="R9f8c1d8e6bdb47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9fcc4e33bb45dd" /><Relationship Type="http://schemas.openxmlformats.org/officeDocument/2006/relationships/notesMaster" Target="/ppt/notesMasters/notesMaster1.xml" Id="R5b996fbb224143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208fb9a0a65499e" /><Relationship Type="http://schemas.openxmlformats.org/officeDocument/2006/relationships/notesMaster" Target="/ppt/notesMasters/notesMaster1.xml" Id="R1bf9a7c60a7a4d2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160d54f2bf49ac" /><Relationship Type="http://schemas.openxmlformats.org/officeDocument/2006/relationships/notesMaster" Target="/ppt/notesMasters/notesMaster1.xml" Id="Ra46f975ef0aa4c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63c2e362d724122" /><Relationship Type="http://schemas.openxmlformats.org/officeDocument/2006/relationships/notesMaster" Target="/ppt/notesMasters/notesMaster1.xml" Id="Rfd191c48b43945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c734f601b14636" /><Relationship Type="http://schemas.openxmlformats.org/officeDocument/2006/relationships/notesMaster" Target="/ppt/notesMasters/notesMaster1.xml" Id="R0488f64c7b7a473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36fc962fdc4a8e" /><Relationship Type="http://schemas.openxmlformats.org/officeDocument/2006/relationships/notesMaster" Target="/ppt/notesMasters/notesMaster1.xml" Id="R37f5adccd5d94e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a334a3901f4dfb" /><Relationship Type="http://schemas.openxmlformats.org/officeDocument/2006/relationships/notesMaster" Target="/ppt/notesMasters/notesMaster1.xml" Id="R0b776bde853f43c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88ee94990cc4dcd" /><Relationship Type="http://schemas.openxmlformats.org/officeDocument/2006/relationships/notesMaster" Target="/ppt/notesMasters/notesMaster1.xml" Id="R1179aeb9a01c466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28509af41f41ca" /><Relationship Type="http://schemas.openxmlformats.org/officeDocument/2006/relationships/notesMaster" Target="/ppt/notesMasters/notesMaster1.xml" Id="R159cd3fc9de945f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113a17040e4cd8" /><Relationship Type="http://schemas.openxmlformats.org/officeDocument/2006/relationships/notesMaster" Target="/ppt/notesMasters/notesMaster1.xml" Id="R499397800ff04b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2f97f76dfdd415d" /><Relationship Type="http://schemas.openxmlformats.org/officeDocument/2006/relationships/notesMaster" Target="/ppt/notesMasters/notesMaster1.xml" Id="R8d20b0ff28a34a8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f76f1f872fe4e09" /><Relationship Type="http://schemas.openxmlformats.org/officeDocument/2006/relationships/notesMaster" Target="/ppt/notesMasters/notesMaster1.xml" Id="R9121df2e574a45f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6c5a4afdb2c4556" /><Relationship Type="http://schemas.openxmlformats.org/officeDocument/2006/relationships/notesMaster" Target="/ppt/notesMasters/notesMaster1.xml" Id="R9228fc9ab4d043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e8aa5bdc9b4483d" /><Relationship Type="http://schemas.openxmlformats.org/officeDocument/2006/relationships/notesMaster" Target="/ppt/notesMasters/notesMaster1.xml" Id="Rdf6f5494275b49b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ae2dcdf0808475a" /><Relationship Type="http://schemas.openxmlformats.org/officeDocument/2006/relationships/notesMaster" Target="/ppt/notesMasters/notesMaster1.xml" Id="R7939adf8202a4e4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8528460a1f04bf8" /><Relationship Type="http://schemas.openxmlformats.org/officeDocument/2006/relationships/notesMaster" Target="/ppt/notesMasters/notesMaster1.xml" Id="R42edbd72eeb24ef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db0f4b3dc4e4ccf" /><Relationship Type="http://schemas.openxmlformats.org/officeDocument/2006/relationships/notesMaster" Target="/ppt/notesMasters/notesMaster1.xml" Id="R6f01547276784b8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9df6afd7ae843d4" /><Relationship Type="http://schemas.openxmlformats.org/officeDocument/2006/relationships/notesMaster" Target="/ppt/notesMasters/notesMaster1.xml" Id="R70782d96729e4a0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9b49d95e154c8e" /><Relationship Type="http://schemas.openxmlformats.org/officeDocument/2006/relationships/notesMaster" Target="/ppt/notesMasters/notesMaster1.xml" Id="R0d8a90ee9b5d4d3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08eb2dec65642ca" /><Relationship Type="http://schemas.openxmlformats.org/officeDocument/2006/relationships/notesMaster" Target="/ppt/notesMasters/notesMaster1.xml" Id="R4caae921df8d4dc9"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727d687dbe4494a" /><Relationship Type="http://schemas.openxmlformats.org/officeDocument/2006/relationships/notesMaster" Target="/ppt/notesMasters/notesMaster1.xml" Id="R35d8ca917b3e40e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553b5b7483b45da" /><Relationship Type="http://schemas.openxmlformats.org/officeDocument/2006/relationships/notesMaster" Target="/ppt/notesMasters/notesMaster1.xml" Id="R0f2a763f929e4d5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d98c50e6704482f" /><Relationship Type="http://schemas.openxmlformats.org/officeDocument/2006/relationships/notesMaster" Target="/ppt/notesMasters/notesMaster1.xml" Id="R5fe81a060bc84c6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2a6f3a721a44f5f" /><Relationship Type="http://schemas.openxmlformats.org/officeDocument/2006/relationships/notesMaster" Target="/ppt/notesMasters/notesMaster1.xml" Id="Rde4b9194a08a4e2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7b3d248ff8e4988" /><Relationship Type="http://schemas.openxmlformats.org/officeDocument/2006/relationships/notesMaster" Target="/ppt/notesMasters/notesMaster1.xml" Id="Ra493ee3a0c23413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37df51cb9d94a2f" /><Relationship Type="http://schemas.openxmlformats.org/officeDocument/2006/relationships/notesMaster" Target="/ppt/notesMasters/notesMaster1.xml" Id="Re8bd7194044d403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5253cfcfb864ff9" /><Relationship Type="http://schemas.openxmlformats.org/officeDocument/2006/relationships/notesMaster" Target="/ppt/notesMasters/notesMaster1.xml" Id="R40cc4fedea93453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c03467bcb3b4601" /><Relationship Type="http://schemas.openxmlformats.org/officeDocument/2006/relationships/notesMaster" Target="/ppt/notesMasters/notesMaster1.xml" Id="R277af2ede81c49c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717dc022cb64c17" /><Relationship Type="http://schemas.openxmlformats.org/officeDocument/2006/relationships/notesMaster" Target="/ppt/notesMasters/notesMaster1.xml" Id="R0ec0a5499401484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5b215e1cd714983" /><Relationship Type="http://schemas.openxmlformats.org/officeDocument/2006/relationships/notesMaster" Target="/ppt/notesMasters/notesMaster1.xml" Id="R30dd2783dd4341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MORE → MAINTENANCE → VERIFY &amp; CORRECT. Measurement settings are grouped in a protected area, separate from everyday viewing.</a:t>
            </a:r>
          </a:p>
          <a:p xmlns:a="http://schemas.openxmlformats.org/drawingml/2006/main">
            <a:r>
              <a:t>First check SEN69C presence and status on the SENSOR page. Inspect wiring only with the power disconnected.</a:t>
            </a:r>
          </a:p>
          <a:p xmlns:a="http://schemas.openxmlformats.org/drawingml/2006/main">
            <a:r>
              <a:t>This edition describes GUARDIAN 1.1.0 and the functions tested in build TEST4 FIX1. Readings and DEMO/2026 report identifiers are examples, not laboratory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Fan cleaning is a sensor maintenance operation. Start the cycle and wait for measurements to resume. Completion does not certify cleaning effectiveness.</a:t>
            </a:r>
          </a:p>
          <a:p xmlns:a="http://schemas.openxmlformats.org/drawingml/2006/main">
            <a:r>
              <a:t>Before comparing instruments, allow stabilisation and record placement, environmental conditions, sampling interval and reference instrument.</a:t>
            </a:r>
          </a:p>
          <a:p xmlns:a="http://schemas.openxmlformats.org/drawingml/2006/main">
            <a:r>
              <a:t>Compare the same quantity and unit. For particulate matter, aerosol composition also affects the comparison. Do not compensate for an assembly fault with a correction coefficient.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first access, choose a six-digit PIN and enter it twice. The technical PIN is separate from network credentials and web access.</a:t>
            </a:r>
          </a:p>
          <a:p xmlns:a="http://schemas.openxmlformats.org/drawingml/2006/main">
            <a:r>
              <a:t>After five incorrect attempts, wait 60 seconds before retrying. Technical access expires after five minutes of inactivity. Keep the PIN safely.</a:t>
            </a:r>
          </a:p>
          <a:p xmlns:a="http://schemas.openxmlformats.org/drawingml/2006/main">
            <a:r>
              <a:t>The PIN restricts interface changes; it does not encrypt memory or enable Secure Boot. Do not change corrections merely to obtain more reassuring readings.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PM1, PM2.5, PM4, PM10, temperature, relative humidity, HCHO and CO2 are available. VOC and NOx are relative indices and have no user correction in this function.</a:t>
            </a:r>
          </a:p>
          <a:p xmlns:a="http://schemas.openxmlformats.org/drawingml/2006/main">
            <a:r>
              <a:t>Each parameter has a profile containing comparisons, factor or offset, valid range and report reference. Up to eight comparisons can be retained per parameter.</a:t>
            </a:r>
          </a:p>
          <a:p xmlns:a="http://schemas.openxmlformats.org/drawingml/2006/main">
            <a:r>
              <a:t>Particulate channels use a multiplicative factor; the other channels use an additive offset. The function documents a comparison; it does not itself certify the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Enabling a correction requires at least three distinct original readings, a report identifier and confirmation of independent verification. These are software requirements, not a complete metrological procedure.</a:t>
            </a:r>
          </a:p>
          <a:p xmlns:a="http://schemas.openxmlformats.org/drawingml/2006/main">
            <a:r>
              <a:t>Correction applies only within the range of the compared original readings. Outside that range, the original reading is returned.</a:t>
            </a:r>
          </a:p>
          <a:p xmlns:a="http://schemas.openxmlformats.org/drawingml/2006/main">
            <a:r>
              <a:t>DISABLE retains comparisons but suspends correction. CLEAR PROFILE deletes points and the coefficient after confirmation. An asterisk indicates an enabled profile, not proof that the current reading is within its valid range.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ORIGINAL shows the current reading before GUARDIAN software correction. It is not a first-start reading and does not undo internal SEN69C calibration.</a:t>
            </a:r>
          </a:p>
          <a:p xmlns:a="http://schemas.openxmlformats.org/drawingml/2006/main">
            <a:r>
              <a:t>Capture the reading into the comparison field, then enter the reference instrument reading in the same unit. Prefer averages over the same interval, with stable conditions and comparable placement.</a:t>
            </a:r>
          </a:p>
          <a:p xmlns:a="http://schemas.openxmlformats.org/drawingml/2006/main">
            <a:r>
              <a:t>The report field accepts /, for example DEMO/2026. For an actual verification, enter the real report reference. Save and check that the comparison count has increased.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CO2 entry groups the software correction profile and internal sensor operations. Choose the path appropriate to the intended verification.</a:t>
            </a:r>
          </a:p>
          <a:p xmlns:a="http://schemas.openxmlformats.org/drawingml/2006/main">
            <a:r>
              <a:t>Software correction adds an offset within the verified range and can be disabled. Internal calibration instead changes the sensor’s CO2 channel.</a:t>
            </a:r>
          </a:p>
          <a:p xmlns:a="http://schemas.openxmlformats.org/drawingml/2006/main">
            <a:r>
              <a:t>Do not stack the two operations: disable the software CO2 correction before internal calibration. Always record which operation was performed and the reference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 shows one comparison: an original reading of 887 ppm and a calculated +13 ppm offset. The profile is DISABLED and its range is limited to that single point.</a:t>
            </a:r>
          </a:p>
          <a:p xmlns:a="http://schemas.openxmlformats.org/drawingml/2006/main">
            <a:r>
              <a:t>The software enabling requirements are not yet met. At least three distinct original points, a report and independent verification are needed; repeating the same reading does not extend the range.</a:t>
            </a:r>
          </a:p>
          <a:p xmlns:a="http://schemas.openxmlformats.org/drawingml/2006/main">
            <a:r>
              <a:t>Select points representative of intended use within a suitable comparison plan. A laboratory can define points, repeats, uncertainty and acceptance criteria.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reading continues updating; the captured comparison value remains the selected value. Check the reference before saving.</a:t>
            </a:r>
          </a:p>
          <a:p xmlns:a="http://schemas.openxmlformats.org/drawingml/2006/main">
            <a:r>
              <a:t>Profiles and the technical log are stored on microSD. A present, working card is required to retain changes; wait for the save result.</a:t>
            </a:r>
          </a:p>
          <a:p xmlns:a="http://schemas.openxmlformats.org/drawingml/2006/main">
            <a:r>
              <a:t>Restarting preserves the PIN and profiles. Export data before formatting: formatting is separate from GUARDIAN reset and deletes card files. Recheck active profiles after any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reliable, known reference within the allowed 400–2000 ppm range. Outdoor air does not automatically mean 400 ppm. Avoid breath and local sources and wait for stable conditions.</a:t>
            </a:r>
          </a:p>
          <a:p xmlns:a="http://schemas.openxmlformats.org/drawingml/2006/main">
            <a:r>
              <a:t>PREPARE starts a three-minute wait. READY alone does not guarantee equilibrium: verify conditions, confirm and start CALIBRATE. Wait for the result and resumed measurements.</a:t>
            </a:r>
          </a:p>
          <a:p xmlns:a="http://schemas.openxmlformats.org/drawingml/2006/main">
            <a:r>
              <a:t>CO2 RESET concerns the sensor channel, not the whole GUARDIAN. After success, the software CO2 profile is also cleared. Allow stabilisation and repeat the comparison. The command does not issue a certificate.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log retains the last 48 events: comparison additions, profile enabling, disabling and clearing.</a:t>
            </a:r>
          </a:p>
          <a:p xmlns:a="http://schemas.openxmlformats.org/drawingml/2006/main">
            <a:r>
              <a:t>To export: open the browser on the same network, MAINTENANCE &gt; Verification &amp; corrections (PIN). Enter the technical PIN and select UNLOCK. Scroll to Change log and select DOWNLOAD CSV. GUARDIAN_technical_audit.csv is saved in Downloads; exporting does not clear the log.</a:t>
            </a:r>
          </a:p>
          <a:p xmlns:a="http://schemas.openxmlformats.org/drawingml/2006/main">
            <a:r>
              <a:t>Columns show sequence, UTC, uptime, parameter, action, origin, before/after and report. Before/after means factor or offset. Keep the CSV with the laboratory report: it is not an immutable archive or a certificate. The new photo is optimized for readability; the display is in Italian.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GUARDIAN: presentazione prodotto. Fotografie fornite dal proprietario. Copertina elaborata fotograficamente, schermate aggiornate fornite dal proprietario; rete, credenziali e seriali sostituiti con dati dimostrativi. Fonti complete nelle slide finali e nel manuale: https://sensirion.com/resource/datasheet/SEN6x ; https://www.who.int/publications/i/item/9789240034228 ; https://www.who.int/publications-detail-redirect/9789289002134 ; https://www.epa.gov/chemical-research/3d-printing-research-epa . Dichiarazioni dei componenti non equivalgono a certificazione GUARDIAN.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9182036b5c4c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8c2dcecc504f1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e92e2c9eb04f6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06c8bcb1d8144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cdae265d7104c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d1eeeabe5644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AFCF53-5E13-4C93-9C83-C3F5F6CC4DBB}"/>
              </a:ext>
            </a:extLst>
          </p:cNvPr>
          <p:cNvSpPr>
            <a:spLocks xmlns:a="http://schemas.openxmlformats.org/drawingml/2006/main" noGrp="1"/>
          </p:cNvSpPr>
          <p:nvPr>
            <p:ph type="title" idx="0"/>
          </p:nvPr>
        </p:nvSpPr>
        <p:spPr>
          <a:xfrm xmlns:a="http://schemas.openxmlformats.org/drawingml/2006/main">
            <a:off x="1219200" y="2878667"/>
            <a:ext cx="9753600" cy="1100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F76334A-EE74-43A8-A3D1-433820981E63}"/>
              </a:ext>
            </a:extLst>
          </p:cNvPr>
          <p:cNvSpPr>
            <a:spLocks xmlns:a="http://schemas.openxmlformats.org/drawingml/2006/main" noGrp="1"/>
          </p:cNvSpPr>
          <p:nvPr>
            <p:ph type="subTitle" idx="1"/>
          </p:nvPr>
        </p:nvSpPr>
        <p:spPr>
          <a:xfrm xmlns:a="http://schemas.openxmlformats.org/drawingml/2006/main">
            <a:off x="1828800" y="4191000"/>
            <a:ext cx="8534400" cy="8466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364DE5-3336-402C-8375-0F09CA3BAA7B}"/>
              </a:ext>
            </a:extLst>
          </p:cNvPr>
          <p:cNvSpPr>
            <a:spLocks xmlns:a="http://schemas.openxmlformats.org/drawingml/2006/main" noGrp="1"/>
          </p:cNvSpPr>
          <p:nvPr>
            <p:ph type="title" idx="0"/>
          </p:nvPr>
        </p:nvSpPr>
        <p:spPr>
          <a:xfrm xmlns:a="http://schemas.openxmlformats.org/drawingml/2006/main">
            <a:off x="1219200" y="3175000"/>
            <a:ext cx="9753600" cy="1270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9503EB-5B44-4005-8E32-B7A038DB19D5}"/>
              </a:ext>
            </a:extLst>
          </p:cNvPr>
          <p:cNvSpPr>
            <a:spLocks xmlns:a="http://schemas.openxmlformats.org/drawingml/2006/main" noGrp="1"/>
          </p:cNvSpPr>
          <p:nvPr>
            <p:ph type="title" idx="0"/>
          </p:nvPr>
        </p:nvSpPr>
        <p:spPr>
          <a:xfrm xmlns:a="http://schemas.openxmlformats.org/drawingml/2006/main">
            <a:off x="685800" y="592667"/>
            <a:ext cx="10820400"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062C7C-291E-4B8E-9720-923FD2072C54}"/>
              </a:ext>
            </a:extLst>
          </p:cNvPr>
          <p:cNvSpPr>
            <a:spLocks xmlns:a="http://schemas.openxmlformats.org/drawingml/2006/main" noGrp="1"/>
          </p:cNvSpPr>
          <p:nvPr>
            <p:ph type="body" idx="1"/>
          </p:nvPr>
        </p:nvSpPr>
        <p:spPr>
          <a:xfrm xmlns:a="http://schemas.openxmlformats.org/drawingml/2006/main">
            <a:off x="685800" y="2116667"/>
            <a:ext cx="10820400"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9BD2FE-A4CF-4998-BDE9-13AA2C83085F}"/>
              </a:ext>
            </a:extLst>
          </p:cNvPr>
          <p:cNvSpPr>
            <a:spLocks xmlns:a="http://schemas.openxmlformats.org/drawingml/2006/main" noGrp="1"/>
          </p:cNvSpPr>
          <p:nvPr>
            <p:ph type="title" idx="0"/>
          </p:nvPr>
        </p:nvSpPr>
        <p:spPr>
          <a:xfrm xmlns:a="http://schemas.openxmlformats.org/drawingml/2006/main">
            <a:off x="685800" y="592667"/>
            <a:ext cx="10820400"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9F35E02-3EEC-491B-A3E1-B7025D48409E}"/>
              </a:ext>
            </a:extLst>
          </p:cNvPr>
          <p:cNvSpPr>
            <a:spLocks xmlns:a="http://schemas.openxmlformats.org/drawingml/2006/main" noGrp="1"/>
          </p:cNvSpPr>
          <p:nvPr>
            <p:ph type="body" idx="1"/>
          </p:nvPr>
        </p:nvSpPr>
        <p:spPr>
          <a:xfrm xmlns:a="http://schemas.openxmlformats.org/drawingml/2006/main">
            <a:off x="685800" y="2116667"/>
            <a:ext cx="5029200"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7FB4AD4-AAA5-4108-917C-D6C461EC05C9}"/>
              </a:ext>
            </a:extLst>
          </p:cNvPr>
          <p:cNvSpPr>
            <a:spLocks xmlns:a="http://schemas.openxmlformats.org/drawingml/2006/main" noGrp="1"/>
          </p:cNvSpPr>
          <p:nvPr>
            <p:ph type="body" idx="2"/>
          </p:nvPr>
        </p:nvSpPr>
        <p:spPr>
          <a:xfrm xmlns:a="http://schemas.openxmlformats.org/drawingml/2006/main">
            <a:off x="6477000" y="2116667"/>
            <a:ext cx="5029200"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AB7776-A986-4159-B1DA-9BBF2894B2E2}"/>
              </a:ext>
            </a:extLst>
          </p:cNvPr>
          <p:cNvSpPr>
            <a:spLocks xmlns:a="http://schemas.openxmlformats.org/drawingml/2006/main" noGrp="1"/>
          </p:cNvSpPr>
          <p:nvPr>
            <p:ph type="title" idx="0"/>
          </p:nvPr>
        </p:nvSpPr>
        <p:spPr>
          <a:xfrm xmlns:a="http://schemas.openxmlformats.org/drawingml/2006/main">
            <a:off x="685800" y="592667"/>
            <a:ext cx="10820400" cy="93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5C47CE-82F2-412D-897E-5C8D38E239A5}"/>
              </a:ext>
            </a:extLst>
          </p:cNvPr>
          <p:cNvSpPr>
            <a:spLocks xmlns:a="http://schemas.openxmlformats.org/drawingml/2006/main" noGrp="1"/>
          </p:cNvSpPr>
          <p:nvPr>
            <p:ph type="body" idx="1"/>
          </p:nvPr>
        </p:nvSpPr>
        <p:spPr>
          <a:xfrm xmlns:a="http://schemas.openxmlformats.org/drawingml/2006/main">
            <a:off x="685800" y="2116667"/>
            <a:ext cx="5029200" cy="474133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ea80ca32da4837" /><Relationship Type="http://schemas.openxmlformats.org/officeDocument/2006/relationships/slideLayout" Target="/ppt/slideLayouts/slideLayout1.xml" Id="R892090124e5543b4" /><Relationship Type="http://schemas.openxmlformats.org/officeDocument/2006/relationships/slideLayout" Target="/ppt/slideLayouts/slideLayout2.xml" Id="R3ea770f22d3c48f7" /><Relationship Type="http://schemas.openxmlformats.org/officeDocument/2006/relationships/slideLayout" Target="/ppt/slideLayouts/slideLayout3.xml" Id="Ra105a38fc8614191" /><Relationship Type="http://schemas.openxmlformats.org/officeDocument/2006/relationships/slideLayout" Target="/ppt/slideLayouts/slideLayout4.xml" Id="Rf225308778bc4d25" /><Relationship Type="http://schemas.openxmlformats.org/officeDocument/2006/relationships/slideLayout" Target="/ppt/slideLayouts/slideLayout5.xml" Id="Rbd303307a94a4db1" /><Relationship Type="http://schemas.openxmlformats.org/officeDocument/2006/relationships/slideLayout" Target="/ppt/slideLayouts/slideLayout6.xml" Id="R99e73f599ae44e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2090124e5543b4"/>
    <p:sldLayoutId xmlns:r="http://schemas.openxmlformats.org/officeDocument/2006/relationships" id="2147483650" r:id="R3ea770f22d3c48f7"/>
    <p:sldLayoutId xmlns:r="http://schemas.openxmlformats.org/officeDocument/2006/relationships" id="2147483651" r:id="Ra105a38fc8614191"/>
    <p:sldLayoutId xmlns:r="http://schemas.openxmlformats.org/officeDocument/2006/relationships" id="2147483652" r:id="Rf225308778bc4d25"/>
    <p:sldLayoutId xmlns:r="http://schemas.openxmlformats.org/officeDocument/2006/relationships" id="2147483653" r:id="Rbd303307a94a4db1"/>
    <p:sldLayoutId xmlns:r="http://schemas.openxmlformats.org/officeDocument/2006/relationships" id="2147483654" r:id="R99e73f599ae44e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826ee91c4d4757" /><Relationship Type="http://schemas.openxmlformats.org/officeDocument/2006/relationships/image" Target="/ppt/media/image.png" Id="Rd3cad6c10fc14684" /><Relationship Type="http://schemas.openxmlformats.org/officeDocument/2006/relationships/notesSlide" Target="/ppt/notesSlides/notesSlide1.xml" Id="R1a99dc80d2d24a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b999c78af64f74" /><Relationship Type="http://schemas.openxmlformats.org/officeDocument/2006/relationships/image" Target="/ppt/media/image2.png" Id="R4eae815317b943d2" /><Relationship Type="http://schemas.openxmlformats.org/officeDocument/2006/relationships/notesSlide" Target="/ppt/notesSlides/notesSlide2.xml" Id="R8c7b1af2ed1949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503a06eed84a9a" /><Relationship Type="http://schemas.openxmlformats.org/officeDocument/2006/relationships/notesSlide" Target="/ppt/notesSlides/notesSlide3.xml" Id="R2a98d3af1e1e44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7387c3990c54984" /><Relationship Type="http://schemas.openxmlformats.org/officeDocument/2006/relationships/image" Target="/ppt/media/image3.png" Id="R2e6d181aa0de4572" /><Relationship Type="http://schemas.openxmlformats.org/officeDocument/2006/relationships/notesSlide" Target="/ppt/notesSlides/notesSlide4.xml" Id="R3a7bf573dbb044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7ea58113e864886" /><Relationship Type="http://schemas.openxmlformats.org/officeDocument/2006/relationships/image" Target="/ppt/media/image4.png" Id="Rf1f52cb660fa4de9" /><Relationship Type="http://schemas.openxmlformats.org/officeDocument/2006/relationships/notesSlide" Target="/ppt/notesSlides/notesSlide5.xml" Id="R858e9db87b9a41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21ade6014f42d7" /><Relationship Type="http://schemas.openxmlformats.org/officeDocument/2006/relationships/image" Target="/ppt/media/image5.png" Id="R54312adfe4694563" /><Relationship Type="http://schemas.openxmlformats.org/officeDocument/2006/relationships/notesSlide" Target="/ppt/notesSlides/notesSlide6.xml" Id="R04f9949d4e8240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5827cdf4f04929" /><Relationship Type="http://schemas.openxmlformats.org/officeDocument/2006/relationships/image" Target="/ppt/media/image6.png" Id="R106fed47c10d419e" /><Relationship Type="http://schemas.openxmlformats.org/officeDocument/2006/relationships/notesSlide" Target="/ppt/notesSlides/notesSlide7.xml" Id="Rf3f08c1e39064b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184901c026b4900" /><Relationship Type="http://schemas.openxmlformats.org/officeDocument/2006/relationships/image" Target="/ppt/media/image7.png" Id="R6dc59b6c5eb54ce3" /><Relationship Type="http://schemas.openxmlformats.org/officeDocument/2006/relationships/notesSlide" Target="/ppt/notesSlides/notesSlide8.xml" Id="Raefcadb0270c45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33cded390654c8e" /><Relationship Type="http://schemas.openxmlformats.org/officeDocument/2006/relationships/image" Target="/ppt/media/image8.png" Id="R0d2f1d46058348d9" /><Relationship Type="http://schemas.openxmlformats.org/officeDocument/2006/relationships/notesSlide" Target="/ppt/notesSlides/notesSlide9.xml" Id="R80b5690c3cfb44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7453ca4eec45ef" /><Relationship Type="http://schemas.openxmlformats.org/officeDocument/2006/relationships/image" Target="/ppt/media/image9.png" Id="R5a0f59b31e974536" /><Relationship Type="http://schemas.openxmlformats.org/officeDocument/2006/relationships/notesSlide" Target="/ppt/notesSlides/notesSlide10.xml" Id="Rb2a304b3a28245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97277fda9844f3" /><Relationship Type="http://schemas.openxmlformats.org/officeDocument/2006/relationships/image" Target="/ppt/media/image10.png" Id="R4ed7b9fe130c4a93" /><Relationship Type="http://schemas.openxmlformats.org/officeDocument/2006/relationships/notesSlide" Target="/ppt/notesSlides/notesSlide11.xml" Id="Rcda49867a40e41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5f3d9ad4c754c8c" /><Relationship Type="http://schemas.openxmlformats.org/officeDocument/2006/relationships/image" Target="/ppt/media/image11.png" Id="R8834191cc150475a" /><Relationship Type="http://schemas.openxmlformats.org/officeDocument/2006/relationships/notesSlide" Target="/ppt/notesSlides/notesSlide12.xml" Id="Rc3e39740814041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f1bfa1005e74d21" /><Relationship Type="http://schemas.openxmlformats.org/officeDocument/2006/relationships/image" Target="/ppt/media/image12.png" Id="R08dbf09921254f22" /><Relationship Type="http://schemas.openxmlformats.org/officeDocument/2006/relationships/notesSlide" Target="/ppt/notesSlides/notesSlide13.xml" Id="R869296269142488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d21a0b96bf6490c" /><Relationship Type="http://schemas.openxmlformats.org/officeDocument/2006/relationships/image" Target="/ppt/media/image13.png" Id="R6048179a0cac400a" /><Relationship Type="http://schemas.openxmlformats.org/officeDocument/2006/relationships/notesSlide" Target="/ppt/notesSlides/notesSlide14.xml" Id="Re6db00548cd843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c85f01836a94d41" /><Relationship Type="http://schemas.openxmlformats.org/officeDocument/2006/relationships/image" Target="/ppt/media/image14.png" Id="R8e3965e51fa64a3b" /><Relationship Type="http://schemas.openxmlformats.org/officeDocument/2006/relationships/notesSlide" Target="/ppt/notesSlides/notesSlide15.xml" Id="Ra11b49c2c18f421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01e2618ed26499c" /><Relationship Type="http://schemas.openxmlformats.org/officeDocument/2006/relationships/image" Target="/ppt/media/image15.png" Id="R5fa3514bea3042b5" /><Relationship Type="http://schemas.openxmlformats.org/officeDocument/2006/relationships/notesSlide" Target="/ppt/notesSlides/notesSlide16.xml" Id="Rdbbb21c4c9574ac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d5debf1e14b465c" /><Relationship Type="http://schemas.openxmlformats.org/officeDocument/2006/relationships/image" Target="/ppt/media/image16.png" Id="Ra696a60c38b04195" /><Relationship Type="http://schemas.openxmlformats.org/officeDocument/2006/relationships/notesSlide" Target="/ppt/notesSlides/notesSlide17.xml" Id="R3fb8500cd7a741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18d7adf0f74e2f" /><Relationship Type="http://schemas.openxmlformats.org/officeDocument/2006/relationships/image" Target="/ppt/media/image17.png" Id="R82ebd75174c8413f" /><Relationship Type="http://schemas.openxmlformats.org/officeDocument/2006/relationships/notesSlide" Target="/ppt/notesSlides/notesSlide18.xml" Id="R40c310f591164a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0a8c7e665de460f" /><Relationship Type="http://schemas.openxmlformats.org/officeDocument/2006/relationships/image" Target="/ppt/media/image18.png" Id="R0176a9ce49d74564" /><Relationship Type="http://schemas.openxmlformats.org/officeDocument/2006/relationships/notesSlide" Target="/ppt/notesSlides/notesSlide19.xml" Id="R2a1e2debe7b9496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4e5974642e743de" /><Relationship Type="http://schemas.openxmlformats.org/officeDocument/2006/relationships/image" Target="/ppt/media/image19.png" Id="R80f7cbaebc6d4430" /><Relationship Type="http://schemas.openxmlformats.org/officeDocument/2006/relationships/notesSlide" Target="/ppt/notesSlides/notesSlide20.xml" Id="R1fab64b0dd37489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40618c9077f48a0" /><Relationship Type="http://schemas.openxmlformats.org/officeDocument/2006/relationships/image" Target="/ppt/media/image20.png" Id="R6ae3592dbb5d484a" /><Relationship Type="http://schemas.openxmlformats.org/officeDocument/2006/relationships/notesSlide" Target="/ppt/notesSlides/notesSlide21.xml" Id="R935fde7429dd4e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7b256513b5b45e2" /><Relationship Type="http://schemas.openxmlformats.org/officeDocument/2006/relationships/image" Target="/ppt/media/image21.png" Id="R701f478c00264134" /><Relationship Type="http://schemas.openxmlformats.org/officeDocument/2006/relationships/notesSlide" Target="/ppt/notesSlides/notesSlide22.xml" Id="R105644b4f68c4f7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ea840220dd34205" /><Relationship Type="http://schemas.openxmlformats.org/officeDocument/2006/relationships/image" Target="/ppt/media/image.jpeg" Id="R4e404975fa3d4fd4" /><Relationship Type="http://schemas.openxmlformats.org/officeDocument/2006/relationships/image" Target="/ppt/media/image2.jpeg" Id="R1e616469abd5490f" /><Relationship Type="http://schemas.openxmlformats.org/officeDocument/2006/relationships/notesSlide" Target="/ppt/notesSlides/notesSlide23.xml" Id="R6927f3be8c4a44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8254f76b7344bcf" /><Relationship Type="http://schemas.openxmlformats.org/officeDocument/2006/relationships/notesSlide" Target="/ppt/notesSlides/notesSlide24.xml" Id="R84563d390e1e46a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5bdda9e7a8941ca" /><Relationship Type="http://schemas.openxmlformats.org/officeDocument/2006/relationships/notesSlide" Target="/ppt/notesSlides/notesSlide25.xml" Id="R7a357d1f63af411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c91d2a611d74050" /><Relationship Type="http://schemas.openxmlformats.org/officeDocument/2006/relationships/notesSlide" Target="/ppt/notesSlides/notesSlide26.xml" Id="Rfa52205cec1c471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98a7f64592647ef" /><Relationship Type="http://schemas.openxmlformats.org/officeDocument/2006/relationships/notesSlide" Target="/ppt/notesSlides/notesSlide27.xml" Id="R3b8c44b8765e408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466066fa0f2e4e97" /><Relationship Type="http://schemas.openxmlformats.org/officeDocument/2006/relationships/image" Target="/ppt/media/image22.png" Id="R89e84c5250aa4d30" /><Relationship Type="http://schemas.openxmlformats.org/officeDocument/2006/relationships/notesSlide" Target="/ppt/notesSlides/notesSlide28.xml" Id="R51dd5da760e04c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61231fe68314200" /><Relationship Type="http://schemas.openxmlformats.org/officeDocument/2006/relationships/image" Target="/ppt/media/image23.png" Id="R94919b9732f34430" /><Relationship Type="http://schemas.openxmlformats.org/officeDocument/2006/relationships/notesSlide" Target="/ppt/notesSlides/notesSlide29.xml" Id="R821fe6e733034e0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d899f696df645eb" /><Relationship Type="http://schemas.openxmlformats.org/officeDocument/2006/relationships/notesSlide" Target="/ppt/notesSlides/notesSlide30.xml" Id="Rcd028ca79909468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951342637444ec6" /><Relationship Type="http://schemas.openxmlformats.org/officeDocument/2006/relationships/notesSlide" Target="/ppt/notesSlides/notesSlide31.xml" Id="R495ee0d9daff4e7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432d568cabea48d0" /><Relationship Type="http://schemas.openxmlformats.org/officeDocument/2006/relationships/image" Target="/ppt/media/image24.png" Id="Rf40f3a40d5d749b6" /><Relationship Type="http://schemas.openxmlformats.org/officeDocument/2006/relationships/image" Target="/ppt/media/image25.png" Id="Rcabd32427c5c47b7" /><Relationship Type="http://schemas.openxmlformats.org/officeDocument/2006/relationships/image" Target="/ppt/media/image26.png" Id="Rd3cf169525b54585" /><Relationship Type="http://schemas.openxmlformats.org/officeDocument/2006/relationships/image" Target="/ppt/media/image27.png" Id="Rdf101f73760a46ce" /><Relationship Type="http://schemas.openxmlformats.org/officeDocument/2006/relationships/notesSlide" Target="/ppt/notesSlides/notesSlide32.xml" Id="R1c5bce84901045c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c76888bdeb8487b" /><Relationship Type="http://schemas.openxmlformats.org/officeDocument/2006/relationships/image" Target="/ppt/media/image28.png" Id="Ra36d275b13ad4f1a" /><Relationship Type="http://schemas.openxmlformats.org/officeDocument/2006/relationships/image" Target="/ppt/media/image29.png" Id="Rbeb2ca6766684aef" /><Relationship Type="http://schemas.openxmlformats.org/officeDocument/2006/relationships/image" Target="/ppt/media/image30.png" Id="R628ee4c62d10434d" /><Relationship Type="http://schemas.openxmlformats.org/officeDocument/2006/relationships/image" Target="/ppt/media/image31.png" Id="R30157ffe80764651" /><Relationship Type="http://schemas.openxmlformats.org/officeDocument/2006/relationships/notesSlide" Target="/ppt/notesSlides/notesSlide33.xml" Id="Re63e957350bd450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f48cb0203f0485c" /><Relationship Type="http://schemas.openxmlformats.org/officeDocument/2006/relationships/image" Target="/ppt/media/image32.png" Id="Raabbe82291d24876" /><Relationship Type="http://schemas.openxmlformats.org/officeDocument/2006/relationships/image" Target="/ppt/media/image33.png" Id="R0102ca274b2747cb" /><Relationship Type="http://schemas.openxmlformats.org/officeDocument/2006/relationships/image" Target="/ppt/media/image34.png" Id="R997efedf9cae4508" /><Relationship Type="http://schemas.openxmlformats.org/officeDocument/2006/relationships/image" Target="/ppt/media/image35.png" Id="R30592abaae3e4063" /><Relationship Type="http://schemas.openxmlformats.org/officeDocument/2006/relationships/notesSlide" Target="/ppt/notesSlides/notesSlide34.xml" Id="Rc28a8ad9c24a410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56201fba51244804" /><Relationship Type="http://schemas.openxmlformats.org/officeDocument/2006/relationships/image" Target="/ppt/media/image36.png" Id="R0d5e00962c88487b" /><Relationship Type="http://schemas.openxmlformats.org/officeDocument/2006/relationships/image" Target="/ppt/media/image37.png" Id="R7195588b8e8e444f" /><Relationship Type="http://schemas.openxmlformats.org/officeDocument/2006/relationships/image" Target="/ppt/media/image38.png" Id="R4cbf9676b58340de" /><Relationship Type="http://schemas.openxmlformats.org/officeDocument/2006/relationships/image" Target="/ppt/media/image39.png" Id="R185cd5f12a014944" /><Relationship Type="http://schemas.openxmlformats.org/officeDocument/2006/relationships/notesSlide" Target="/ppt/notesSlides/notesSlide35.xml" Id="R530be3681655484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35c2702d5394274" /><Relationship Type="http://schemas.openxmlformats.org/officeDocument/2006/relationships/image" Target="/ppt/media/image40.png" Id="Redee368f1f58498a" /><Relationship Type="http://schemas.openxmlformats.org/officeDocument/2006/relationships/notesSlide" Target="/ppt/notesSlides/notesSlide36.xml" Id="Re6a1e8a3a6364e1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3ea14a21db84fd4" /><Relationship Type="http://schemas.openxmlformats.org/officeDocument/2006/relationships/notesSlide" Target="/ppt/notesSlides/notesSlide37.xml" Id="R88766478f9514f2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653030ebba049cd" /><Relationship Type="http://schemas.openxmlformats.org/officeDocument/2006/relationships/hyperlink" Target="https://sensirion.com/resource/datasheet/SEN6x" TargetMode="External" Id="Rb8beb2bf71114749" /><Relationship Type="http://schemas.openxmlformats.org/officeDocument/2006/relationships/hyperlink" Target="https://sensirion.com/resource/datasheet/SEN6x" TargetMode="External" Id="Rc7c5ee23e62f4ed0" /><Relationship Type="http://schemas.openxmlformats.org/officeDocument/2006/relationships/hyperlink" Target="https://sensirion.com/media/documents/85536ECA/6A0D6A53/CalibrationCertification_SEN5x_6x.pdf" TargetMode="External" Id="R8a26ba81eae849ad" /><Relationship Type="http://schemas.openxmlformats.org/officeDocument/2006/relationships/hyperlink" Target="https://sensirion.com/media/documents/85536ECA/6A0D6A53/CalibrationCertification_SEN5x_6x.pdf" TargetMode="External" Id="Rab07cd82723b465b" /><Relationship Type="http://schemas.openxmlformats.org/officeDocument/2006/relationships/hyperlink" Target="https://sensirion.com/media/documents/4C2A5D87/6A70A6FF/SEN6x_Mechanical_Design_and_Assembly_Guidelines.pdf" TargetMode="External" Id="R2fb136f0018144b4" /><Relationship Type="http://schemas.openxmlformats.org/officeDocument/2006/relationships/hyperlink" Target="https://sensirion.com/media/documents/4C2A5D87/6A70A6FF/SEN6x_Mechanical_Design_and_Assembly_Guidelines.pdf" TargetMode="External" Id="Rba1aafb9aa2b43f5" /><Relationship Type="http://schemas.openxmlformats.org/officeDocument/2006/relationships/hyperlink" Target="https://sensirion.com/media/documents/63F6CCF0/69709F54/PS_AN_SEN6x_Sensor_Specification_Statement_D1.pdf" TargetMode="External" Id="Rcc206c9d17c9423e" /><Relationship Type="http://schemas.openxmlformats.org/officeDocument/2006/relationships/hyperlink" Target="https://sensirion.com/media/documents/63F6CCF0/69709F54/PS_AN_SEN6x_Sensor_Specification_Statement_D1.pdf" TargetMode="External" Id="Rb9d1b6554e1a4e25" /><Relationship Type="http://schemas.openxmlformats.org/officeDocument/2006/relationships/hyperlink" Target="https://sensirion.com/media/documents/C964FCC8/69709EC3/PS_AN_SEN6x_Temperature_Compensation_and_Acceleration_Application_No.pdf" TargetMode="External" Id="R974de30250a34acf" /><Relationship Type="http://schemas.openxmlformats.org/officeDocument/2006/relationships/hyperlink" Target="https://sensirion.com/media/documents/C964FCC8/69709EC3/PS_AN_SEN6x_Temperature_Compensation_and_Acceleration_Application_No.pdf" TargetMode="External" Id="R62d96b7fa2e249ef" /><Relationship Type="http://schemas.openxmlformats.org/officeDocument/2006/relationships/hyperlink" Target="https://www.who.int/publications/i/item/9789240034228" TargetMode="External" Id="Rbf116cf5149a438a" /><Relationship Type="http://schemas.openxmlformats.org/officeDocument/2006/relationships/hyperlink" Target="https://www.who.int/publications/i/item/9789240034228" TargetMode="External" Id="R710f7215f77846b6" /><Relationship Type="http://schemas.openxmlformats.org/officeDocument/2006/relationships/hyperlink" Target="https://www.who.int/publications-detail-redirect/9789289002134" TargetMode="External" Id="R5fed519249b3497e" /><Relationship Type="http://schemas.openxmlformats.org/officeDocument/2006/relationships/hyperlink" Target="https://www.who.int/publications-detail-redirect/9789289002134" TargetMode="External" Id="Rb68142b3d0704987" /><Relationship Type="http://schemas.openxmlformats.org/officeDocument/2006/relationships/notesSlide" Target="/ppt/notesSlides/notesSlide38.xml" Id="R00107a62baf249e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764792f74d14845" /><Relationship Type="http://schemas.openxmlformats.org/officeDocument/2006/relationships/hyperlink" Target="https://www.epa.gov/chemical-research/3d-printing-research-epa" TargetMode="External" Id="R259e17d5dc164085" /><Relationship Type="http://schemas.openxmlformats.org/officeDocument/2006/relationships/hyperlink" Target="https://www.epa.gov/chemical-research/3d-printing-research-epa" TargetMode="External" Id="R09850b54a9174f54" /><Relationship Type="http://schemas.openxmlformats.org/officeDocument/2006/relationships/hyperlink" Target="https://www.epa.gov/air-sensor-toolbox" TargetMode="External" Id="R049532d1a4e64e05" /><Relationship Type="http://schemas.openxmlformats.org/officeDocument/2006/relationships/hyperlink" Target="https://www.epa.gov/air-sensor-toolbox" TargetMode="External" Id="R9d7069fe150f4e84" /><Relationship Type="http://schemas.openxmlformats.org/officeDocument/2006/relationships/hyperlink" Target="https://www.umweltbundesamt.de/richtig-lueften-in-schulen" TargetMode="External" Id="R40463fc530224886" /><Relationship Type="http://schemas.openxmlformats.org/officeDocument/2006/relationships/hyperlink" Target="https://www.umweltbundesamt.de/richtig-lueften-in-schulen" TargetMode="External" Id="R623a434b86494e76" /><Relationship Type="http://schemas.openxmlformats.org/officeDocument/2006/relationships/hyperlink" Target="https://eur-lex.europa.eu/eli/dir/2014/53/oj" TargetMode="External" Id="Ra7c4cc84d3964725" /><Relationship Type="http://schemas.openxmlformats.org/officeDocument/2006/relationships/hyperlink" Target="https://eur-lex.europa.eu/eli/dir/2014/53/oj" TargetMode="External" Id="R014750763ee74a32" /><Relationship Type="http://schemas.openxmlformats.org/officeDocument/2006/relationships/hyperlink" Target="https://eur-lex.europa.eu/eli/dir/2011/65/oj" TargetMode="External" Id="R3e9f07a945e3489d" /><Relationship Type="http://schemas.openxmlformats.org/officeDocument/2006/relationships/hyperlink" Target="https://eur-lex.europa.eu/eli/dir/2011/65/oj" TargetMode="External" Id="Ra0ca46955b0d4835" /><Relationship Type="http://schemas.openxmlformats.org/officeDocument/2006/relationships/hyperlink" Target="https://eur-lex.europa.eu/eli/dir_del/2015/863/oj" TargetMode="External" Id="R0e103fb8b0224145" /><Relationship Type="http://schemas.openxmlformats.org/officeDocument/2006/relationships/hyperlink" Target="https://eur-lex.europa.eu/eli/dir_del/2015/863/oj" TargetMode="External" Id="Rdb5c2f49b04e4d3d" /><Relationship Type="http://schemas.openxmlformats.org/officeDocument/2006/relationships/hyperlink" Target="https://eur-lex.europa.eu/eli/dir/2012/19/oj" TargetMode="External" Id="R25cdb4436b8642f3" /><Relationship Type="http://schemas.openxmlformats.org/officeDocument/2006/relationships/hyperlink" Target="https://eur-lex.europa.eu/eli/dir/2012/19/oj" TargetMode="External" Id="Re7c92cc2de194845" /><Relationship Type="http://schemas.openxmlformats.org/officeDocument/2006/relationships/notesSlide" Target="/ppt/notesSlides/notesSlide39.xml" Id="R5ef47a78bdd3470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152a52908c04ee1" /><Relationship Type="http://schemas.openxmlformats.org/officeDocument/2006/relationships/hyperlink" Target="https://eur-lex.europa.eu/eli/reg/2006/1907/oj" TargetMode="External" Id="Ra7d2796edd7d44ec" /><Relationship Type="http://schemas.openxmlformats.org/officeDocument/2006/relationships/hyperlink" Target="https://eur-lex.europa.eu/eli/reg/2006/1907/oj" TargetMode="External" Id="R38d07af0e5ce4311" /><Relationship Type="http://schemas.openxmlformats.org/officeDocument/2006/relationships/hyperlink" Target="https://sensirion.com/media/documents/09CF2E68/69DFAAD0/Sensirion_REACH-RoHS_Particulate-Matter-Sensor.pdf" TargetMode="External" Id="Ra44e883a24434a8d" /><Relationship Type="http://schemas.openxmlformats.org/officeDocument/2006/relationships/hyperlink" Target="https://sensirion.com/media/documents/09CF2E68/69DFAAD0/Sensirion_REACH-RoHS_Particulate-Matter-Sensor.pdf" TargetMode="External" Id="Rf70c683498bb4ac8" /><Relationship Type="http://schemas.openxmlformats.org/officeDocument/2006/relationships/hyperlink" Target="https://docs.espressif.com/projects/arduino-esp32/en/latest/installing.html" TargetMode="External" Id="Re049e41d740d49f6" /><Relationship Type="http://schemas.openxmlformats.org/officeDocument/2006/relationships/hyperlink" Target="https://docs.espressif.com/projects/arduino-esp32/en/latest/installing.html" TargetMode="External" Id="Rc67228b618354042" /><Relationship Type="http://schemas.openxmlformats.org/officeDocument/2006/relationships/hyperlink" Target="https://github.com/Freenove/Freenove_ESP32_S3_Display_FNK0115" TargetMode="External" Id="Rf95bd37cd4164c3b" /><Relationship Type="http://schemas.openxmlformats.org/officeDocument/2006/relationships/hyperlink" Target="https://github.com/Freenove/Freenove_ESP32_S3_Display_FNK0115" TargetMode="External" Id="R5a427a53fcac41e0" /><Relationship Type="http://schemas.openxmlformats.org/officeDocument/2006/relationships/hyperlink" Target="https://sensirion.com/products/catalog/SEN69C" TargetMode="External" Id="R5f43a3e23a43432d" /><Relationship Type="http://schemas.openxmlformats.org/officeDocument/2006/relationships/hyperlink" Target="https://sensirion.com/products/catalog/SEN69C" TargetMode="External" Id="R4ba51e6f1dbe4509" /><Relationship Type="http://schemas.openxmlformats.org/officeDocument/2006/relationships/notesSlide" Target="/ppt/notesSlides/notesSlide40.xml" Id="R4c0ba83ffd8c4fca" /></Relationships>
</file>

<file path=ppt/slides/slide1.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511B63E-B153-4BA1-B22C-86DF65F244D7}"/>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2" name="">
            <a:extLst xmlns:a="http://schemas.openxmlformats.org/drawingml/2006/main">
              <a:ext uri="{FF2B5EF4-FFF2-40B4-BE49-F238E27FC236}">
                <a16:creationId xmlns:a16="http://schemas.microsoft.com/office/drawing/2014/main" id="{318CE611-C8DC-4DDA-BAB2-48F1281959FA}"/>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01</a:t>
            </a:r>
          </a:p>
        </p:txBody>
      </p:sp>
      <p:pic>
        <p:nvPicPr>
          <p:cNvPr id="3" name="">
            <a:extLst xmlns:a="http://schemas.openxmlformats.org/drawingml/2006/main">
              <a:ext uri="{FF2B5EF4-FFF2-40B4-BE49-F238E27FC236}">
                <a16:creationId xmlns:a16="http://schemas.microsoft.com/office/drawing/2014/main" id="{9F747C63-EF1A-4CF9-A986-5AB10858CE1E}"/>
              </a:ext>
            </a:extLst>
          </p:cNvPr>
          <p:cNvPicPr>
            <a:picLocks xmlns:a="http://schemas.openxmlformats.org/drawingml/2006/main" noChangeAspect="1"/>
          </p:cNvPicPr>
          <p:nvPr/>
        </p:nvPicPr>
        <p:blipFill>
          <a:blip xmlns:r="http://schemas.openxmlformats.org/officeDocument/2006/relationships" xmlns:a="http://schemas.openxmlformats.org/drawingml/2006/main" r:embed="Rd3cad6c10fc14684"/>
          <a:stretch xmlns:a="http://schemas.openxmlformats.org/drawingml/2006/main"/>
        </p:blipFill>
        <p:spPr>
          <a:xfrm xmlns:a="http://schemas.openxmlformats.org/drawingml/2006/main">
            <a:off x="4927600" y="787400"/>
            <a:ext cx="6858000" cy="5143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8FEEE4-0F4C-4EE4-95F4-69D77BACA235}"/>
              </a:ext>
            </a:extLst>
          </p:cNvPr>
          <p:cNvSpPr>
            <a:spLocks xmlns:a="http://schemas.openxmlformats.org/drawingml/2006/main" noGrp="1"/>
          </p:cNvSpPr>
          <p:nvPr/>
        </p:nvSpPr>
        <p:spPr>
          <a:xfrm xmlns:a="http://schemas.openxmlformats.org/drawingml/2006/main">
            <a:off x="533400" y="685800"/>
            <a:ext cx="5334000" cy="777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400" b="1">
                <a:solidFill>
                  <a:srgbClr val="F6F8FC"/>
                </a:solidFill>
                <a:latin typeface="Arial"/>
                <a:ea typeface="Arial"/>
                <a:cs typeface="Arial"/>
              </a:defRPr>
            </a:defPPr>
            <a:lvl1pPr>
              <a:buNone/>
              <a:defRPr sz="4400" b="1">
                <a:solidFill>
                  <a:srgbClr val="F6F8FC"/>
                </a:solidFill>
                <a:latin typeface="Arial"/>
                <a:ea typeface="Arial"/>
                <a:cs typeface="Arial"/>
              </a:defRPr>
            </a:lvl1pPr>
            <a:lvl2pPr>
              <a:buNone/>
              <a:defRPr sz="4400" b="1">
                <a:solidFill>
                  <a:srgbClr val="F6F8FC"/>
                </a:solidFill>
                <a:latin typeface="Arial"/>
                <a:ea typeface="Arial"/>
                <a:cs typeface="Arial"/>
              </a:defRPr>
            </a:lvl2pPr>
            <a:lvl3pPr>
              <a:buNone/>
              <a:defRPr sz="4400" b="1">
                <a:solidFill>
                  <a:srgbClr val="F6F8FC"/>
                </a:solidFill>
                <a:latin typeface="Arial"/>
                <a:ea typeface="Arial"/>
                <a:cs typeface="Arial"/>
              </a:defRPr>
            </a:lvl3pPr>
            <a:lvl4pPr>
              <a:buNone/>
              <a:defRPr sz="4400" b="1">
                <a:solidFill>
                  <a:srgbClr val="F6F8FC"/>
                </a:solidFill>
                <a:latin typeface="Arial"/>
                <a:ea typeface="Arial"/>
                <a:cs typeface="Arial"/>
              </a:defRPr>
            </a:lvl4pPr>
            <a:lvl5pPr>
              <a:buNone/>
              <a:defRPr sz="4400" b="1">
                <a:solidFill>
                  <a:srgbClr val="F6F8FC"/>
                </a:solidFill>
                <a:latin typeface="Arial"/>
                <a:ea typeface="Arial"/>
                <a:cs typeface="Arial"/>
              </a:defRPr>
            </a:lvl5pPr>
            <a:lvl6pPr>
              <a:buNone/>
              <a:defRPr sz="4400" b="1">
                <a:solidFill>
                  <a:srgbClr val="F6F8FC"/>
                </a:solidFill>
                <a:latin typeface="Arial"/>
                <a:ea typeface="Arial"/>
                <a:cs typeface="Arial"/>
              </a:defRPr>
            </a:lvl6pPr>
            <a:lvl7pPr>
              <a:buNone/>
              <a:defRPr sz="4400" b="1">
                <a:solidFill>
                  <a:srgbClr val="F6F8FC"/>
                </a:solidFill>
                <a:latin typeface="Arial"/>
                <a:ea typeface="Arial"/>
                <a:cs typeface="Arial"/>
              </a:defRPr>
            </a:lvl7pPr>
            <a:lvl8pPr>
              <a:buNone/>
              <a:defRPr sz="4400" b="1">
                <a:solidFill>
                  <a:srgbClr val="F6F8FC"/>
                </a:solidFill>
                <a:latin typeface="Arial"/>
                <a:ea typeface="Arial"/>
                <a:cs typeface="Arial"/>
              </a:defRPr>
            </a:lvl8pPr>
            <a:lvl9pPr>
              <a:buNone/>
              <a:defRPr sz="4400" b="1">
                <a:solidFill>
                  <a:srgbClr val="F6F8FC"/>
                </a:solidFill>
                <a:latin typeface="Arial"/>
                <a:ea typeface="Arial"/>
                <a:cs typeface="Arial"/>
              </a:defRPr>
            </a:lvl9pPr>
          </a:lstStyle>
          <a:p xmlns:a="http://schemas.openxmlformats.org/drawingml/2006/main">
            <a:pPr>
              <a:buNone/>
              <a:defRPr sz="4400" b="1">
                <a:solidFill>
                  <a:srgbClr val="F6F8FC"/>
                </a:solidFill>
                <a:latin typeface="Arial"/>
                <a:ea typeface="Arial"/>
                <a:cs typeface="Arial"/>
              </a:defRPr>
            </a:pPr>
            <a:r>
              <a:rPr sz="4400" b="1">
                <a:solidFill>
                  <a:srgbClr val="F6F8FC"/>
                </a:solidFill>
                <a:latin typeface="Arial"/>
                <a:ea typeface="Arial"/>
                <a:cs typeface="Arial"/>
              </a:rPr>
              <a:t>GUARDIAN</a:t>
            </a:r>
          </a:p>
        </p:txBody>
      </p:sp>
      <p:sp>
        <p:nvSpPr>
          <p:cNvPr id="5" name="">
            <a:extLst xmlns:a="http://schemas.openxmlformats.org/drawingml/2006/main">
              <a:ext uri="{FF2B5EF4-FFF2-40B4-BE49-F238E27FC236}">
                <a16:creationId xmlns:a16="http://schemas.microsoft.com/office/drawing/2014/main" id="{C279549B-D86C-425B-A5E5-2DD2A3435C31}"/>
              </a:ext>
            </a:extLst>
          </p:cNvPr>
          <p:cNvSpPr>
            <a:spLocks xmlns:a="http://schemas.openxmlformats.org/drawingml/2006/main" noGrp="1"/>
          </p:cNvSpPr>
          <p:nvPr/>
        </p:nvSpPr>
        <p:spPr>
          <a:xfrm xmlns:a="http://schemas.openxmlformats.org/drawingml/2006/main">
            <a:off x="558800" y="1435100"/>
            <a:ext cx="41910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200" b="1">
                <a:solidFill>
                  <a:srgbClr val="65A5FF"/>
                </a:solidFill>
                <a:latin typeface="Arial"/>
                <a:ea typeface="Arial"/>
                <a:cs typeface="Arial"/>
              </a:defRPr>
            </a:defPPr>
            <a:lvl1pPr>
              <a:buNone/>
              <a:defRPr sz="2200" b="1">
                <a:solidFill>
                  <a:srgbClr val="65A5FF"/>
                </a:solidFill>
                <a:latin typeface="Arial"/>
                <a:ea typeface="Arial"/>
                <a:cs typeface="Arial"/>
              </a:defRPr>
            </a:lvl1pPr>
            <a:lvl2pPr>
              <a:buNone/>
              <a:defRPr sz="2200" b="1">
                <a:solidFill>
                  <a:srgbClr val="65A5FF"/>
                </a:solidFill>
                <a:latin typeface="Arial"/>
                <a:ea typeface="Arial"/>
                <a:cs typeface="Arial"/>
              </a:defRPr>
            </a:lvl2pPr>
            <a:lvl3pPr>
              <a:buNone/>
              <a:defRPr sz="2200" b="1">
                <a:solidFill>
                  <a:srgbClr val="65A5FF"/>
                </a:solidFill>
                <a:latin typeface="Arial"/>
                <a:ea typeface="Arial"/>
                <a:cs typeface="Arial"/>
              </a:defRPr>
            </a:lvl3pPr>
            <a:lvl4pPr>
              <a:buNone/>
              <a:defRPr sz="2200" b="1">
                <a:solidFill>
                  <a:srgbClr val="65A5FF"/>
                </a:solidFill>
                <a:latin typeface="Arial"/>
                <a:ea typeface="Arial"/>
                <a:cs typeface="Arial"/>
              </a:defRPr>
            </a:lvl4pPr>
            <a:lvl5pPr>
              <a:buNone/>
              <a:defRPr sz="2200" b="1">
                <a:solidFill>
                  <a:srgbClr val="65A5FF"/>
                </a:solidFill>
                <a:latin typeface="Arial"/>
                <a:ea typeface="Arial"/>
                <a:cs typeface="Arial"/>
              </a:defRPr>
            </a:lvl5pPr>
            <a:lvl6pPr>
              <a:buNone/>
              <a:defRPr sz="2200" b="1">
                <a:solidFill>
                  <a:srgbClr val="65A5FF"/>
                </a:solidFill>
                <a:latin typeface="Arial"/>
                <a:ea typeface="Arial"/>
                <a:cs typeface="Arial"/>
              </a:defRPr>
            </a:lvl6pPr>
            <a:lvl7pPr>
              <a:buNone/>
              <a:defRPr sz="2200" b="1">
                <a:solidFill>
                  <a:srgbClr val="65A5FF"/>
                </a:solidFill>
                <a:latin typeface="Arial"/>
                <a:ea typeface="Arial"/>
                <a:cs typeface="Arial"/>
              </a:defRPr>
            </a:lvl7pPr>
            <a:lvl8pPr>
              <a:buNone/>
              <a:defRPr sz="2200" b="1">
                <a:solidFill>
                  <a:srgbClr val="65A5FF"/>
                </a:solidFill>
                <a:latin typeface="Arial"/>
                <a:ea typeface="Arial"/>
                <a:cs typeface="Arial"/>
              </a:defRPr>
            </a:lvl8pPr>
            <a:lvl9pPr>
              <a:buNone/>
              <a:defRPr sz="2200" b="1">
                <a:solidFill>
                  <a:srgbClr val="65A5FF"/>
                </a:solidFill>
                <a:latin typeface="Arial"/>
                <a:ea typeface="Arial"/>
                <a:cs typeface="Arial"/>
              </a:defRPr>
            </a:lvl9pPr>
          </a:lstStyle>
          <a:p xmlns:a="http://schemas.openxmlformats.org/drawingml/2006/main">
            <a:pPr>
              <a:buNone/>
              <a:defRPr sz="2200" b="1">
                <a:solidFill>
                  <a:srgbClr val="65A5FF"/>
                </a:solidFill>
                <a:latin typeface="Arial"/>
                <a:ea typeface="Arial"/>
                <a:cs typeface="Arial"/>
              </a:defRPr>
            </a:pPr>
            <a:r>
              <a:rPr sz="2200" b="1">
                <a:solidFill>
                  <a:srgbClr val="65A5FF"/>
                </a:solidFill>
                <a:latin typeface="Arial"/>
                <a:ea typeface="Arial"/>
                <a:cs typeface="Arial"/>
              </a:rPr>
              <a:t>MAKERS</a:t>
            </a:r>
          </a:p>
        </p:txBody>
      </p:sp>
      <p:sp>
        <p:nvSpPr>
          <p:cNvPr id="6" name="">
            <a:extLst xmlns:a="http://schemas.openxmlformats.org/drawingml/2006/main">
              <a:ext uri="{FF2B5EF4-FFF2-40B4-BE49-F238E27FC236}">
                <a16:creationId xmlns:a16="http://schemas.microsoft.com/office/drawing/2014/main" id="{1A73BE7A-6EA4-4D9A-BAA3-5EB44260074B}"/>
              </a:ext>
            </a:extLst>
          </p:cNvPr>
          <p:cNvSpPr>
            <a:spLocks xmlns:a="http://schemas.openxmlformats.org/drawingml/2006/main" noGrp="1"/>
          </p:cNvSpPr>
          <p:nvPr/>
        </p:nvSpPr>
        <p:spPr>
          <a:xfrm xmlns:a="http://schemas.openxmlformats.org/drawingml/2006/main">
            <a:off x="558800" y="2476500"/>
            <a:ext cx="4191000" cy="843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0">
                <a:solidFill>
                  <a:srgbClr val="F6F8FC"/>
                </a:solidFill>
                <a:latin typeface="Arial"/>
                <a:ea typeface="Arial"/>
                <a:cs typeface="Arial"/>
              </a:defRPr>
            </a:defPPr>
            <a:lvl1pPr>
              <a:buNone/>
              <a:defRPr sz="2400" b="0">
                <a:solidFill>
                  <a:srgbClr val="F6F8FC"/>
                </a:solidFill>
                <a:latin typeface="Arial"/>
                <a:ea typeface="Arial"/>
                <a:cs typeface="Arial"/>
              </a:defRPr>
            </a:lvl1pPr>
            <a:lvl2pPr>
              <a:buNone/>
              <a:defRPr sz="2400" b="0">
                <a:solidFill>
                  <a:srgbClr val="F6F8FC"/>
                </a:solidFill>
                <a:latin typeface="Arial"/>
                <a:ea typeface="Arial"/>
                <a:cs typeface="Arial"/>
              </a:defRPr>
            </a:lvl2pPr>
            <a:lvl3pPr>
              <a:buNone/>
              <a:defRPr sz="2400" b="0">
                <a:solidFill>
                  <a:srgbClr val="F6F8FC"/>
                </a:solidFill>
                <a:latin typeface="Arial"/>
                <a:ea typeface="Arial"/>
                <a:cs typeface="Arial"/>
              </a:defRPr>
            </a:lvl3pPr>
            <a:lvl4pPr>
              <a:buNone/>
              <a:defRPr sz="2400" b="0">
                <a:solidFill>
                  <a:srgbClr val="F6F8FC"/>
                </a:solidFill>
                <a:latin typeface="Arial"/>
                <a:ea typeface="Arial"/>
                <a:cs typeface="Arial"/>
              </a:defRPr>
            </a:lvl4pPr>
            <a:lvl5pPr>
              <a:buNone/>
              <a:defRPr sz="2400" b="0">
                <a:solidFill>
                  <a:srgbClr val="F6F8FC"/>
                </a:solidFill>
                <a:latin typeface="Arial"/>
                <a:ea typeface="Arial"/>
                <a:cs typeface="Arial"/>
              </a:defRPr>
            </a:lvl5pPr>
            <a:lvl6pPr>
              <a:buNone/>
              <a:defRPr sz="2400" b="0">
                <a:solidFill>
                  <a:srgbClr val="F6F8FC"/>
                </a:solidFill>
                <a:latin typeface="Arial"/>
                <a:ea typeface="Arial"/>
                <a:cs typeface="Arial"/>
              </a:defRPr>
            </a:lvl6pPr>
            <a:lvl7pPr>
              <a:buNone/>
              <a:defRPr sz="2400" b="0">
                <a:solidFill>
                  <a:srgbClr val="F6F8FC"/>
                </a:solidFill>
                <a:latin typeface="Arial"/>
                <a:ea typeface="Arial"/>
                <a:cs typeface="Arial"/>
              </a:defRPr>
            </a:lvl7pPr>
            <a:lvl8pPr>
              <a:buNone/>
              <a:defRPr sz="2400" b="0">
                <a:solidFill>
                  <a:srgbClr val="F6F8FC"/>
                </a:solidFill>
                <a:latin typeface="Arial"/>
                <a:ea typeface="Arial"/>
                <a:cs typeface="Arial"/>
              </a:defRPr>
            </a:lvl8pPr>
            <a:lvl9pPr>
              <a:buNone/>
              <a:defRPr sz="2400" b="0">
                <a:solidFill>
                  <a:srgbClr val="F6F8FC"/>
                </a:solidFill>
                <a:latin typeface="Arial"/>
                <a:ea typeface="Arial"/>
                <a:cs typeface="Arial"/>
              </a:defRPr>
            </a:lvl9pPr>
          </a:lstStyle>
          <a:p xmlns:a="http://schemas.openxmlformats.org/drawingml/2006/main">
            <a:pPr>
              <a:buNone/>
              <a:defRPr sz="2400" b="0">
                <a:solidFill>
                  <a:srgbClr val="F6F8FC"/>
                </a:solidFill>
                <a:latin typeface="Arial"/>
                <a:ea typeface="Arial"/>
                <a:cs typeface="Arial"/>
              </a:defRPr>
            </a:pPr>
            <a:r>
              <a:rPr sz="2400" b="0">
                <a:solidFill>
                  <a:srgbClr val="F6F8FC"/>
                </a:solidFill>
                <a:latin typeface="Arial"/>
                <a:ea typeface="Arial"/>
                <a:cs typeface="Arial"/>
              </a:rPr>
              <a:t>The environment during</a:t>
            </a:r>
          </a:p>
          <a:p xmlns:a="http://schemas.openxmlformats.org/drawingml/2006/main">
            <a:pPr>
              <a:buNone/>
              <a:defRPr sz="2400" b="0">
                <a:solidFill>
                  <a:srgbClr val="F6F8FC"/>
                </a:solidFill>
                <a:latin typeface="Arial"/>
                <a:ea typeface="Arial"/>
                <a:cs typeface="Arial"/>
              </a:defRPr>
            </a:pPr>
            <a:r>
              <a:rPr sz="2400" b="0">
                <a:solidFill>
                  <a:srgbClr val="F6F8FC"/>
                </a:solidFill>
                <a:latin typeface="Arial"/>
                <a:ea typeface="Arial"/>
                <a:cs typeface="Arial"/>
              </a:rPr>
              <a:t>3D printing</a:t>
            </a:r>
          </a:p>
        </p:txBody>
      </p:sp>
      <p:sp>
        <p:nvSpPr>
          <p:cNvPr id="7" name="">
            <a:extLst xmlns:a="http://schemas.openxmlformats.org/drawingml/2006/main">
              <a:ext uri="{FF2B5EF4-FFF2-40B4-BE49-F238E27FC236}">
                <a16:creationId xmlns:a16="http://schemas.microsoft.com/office/drawing/2014/main" id="{9243BE79-EA77-46DF-879D-DC509756D114}"/>
              </a:ext>
            </a:extLst>
          </p:cNvPr>
          <p:cNvSpPr>
            <a:spLocks xmlns:a="http://schemas.openxmlformats.org/drawingml/2006/main" noGrp="1"/>
          </p:cNvSpPr>
          <p:nvPr/>
        </p:nvSpPr>
        <p:spPr>
          <a:xfrm xmlns:a="http://schemas.openxmlformats.org/drawingml/2006/main">
            <a:off x="558800" y="3759200"/>
            <a:ext cx="36195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B9C4D3"/>
                </a:solidFill>
                <a:latin typeface="Arial"/>
                <a:ea typeface="Arial"/>
                <a:cs typeface="Arial"/>
              </a:defRPr>
            </a:defPPr>
            <a:lvl1pPr>
              <a:buNone/>
              <a:defRPr sz="1500" b="0">
                <a:solidFill>
                  <a:srgbClr val="B9C4D3"/>
                </a:solidFill>
                <a:latin typeface="Arial"/>
                <a:ea typeface="Arial"/>
                <a:cs typeface="Arial"/>
              </a:defRPr>
            </a:lvl1pPr>
            <a:lvl2pPr>
              <a:buNone/>
              <a:defRPr sz="1500" b="0">
                <a:solidFill>
                  <a:srgbClr val="B9C4D3"/>
                </a:solidFill>
                <a:latin typeface="Arial"/>
                <a:ea typeface="Arial"/>
                <a:cs typeface="Arial"/>
              </a:defRPr>
            </a:lvl2pPr>
            <a:lvl3pPr>
              <a:buNone/>
              <a:defRPr sz="1500" b="0">
                <a:solidFill>
                  <a:srgbClr val="B9C4D3"/>
                </a:solidFill>
                <a:latin typeface="Arial"/>
                <a:ea typeface="Arial"/>
                <a:cs typeface="Arial"/>
              </a:defRPr>
            </a:lvl3pPr>
            <a:lvl4pPr>
              <a:buNone/>
              <a:defRPr sz="1500" b="0">
                <a:solidFill>
                  <a:srgbClr val="B9C4D3"/>
                </a:solidFill>
                <a:latin typeface="Arial"/>
                <a:ea typeface="Arial"/>
                <a:cs typeface="Arial"/>
              </a:defRPr>
            </a:lvl4pPr>
            <a:lvl5pPr>
              <a:buNone/>
              <a:defRPr sz="1500" b="0">
                <a:solidFill>
                  <a:srgbClr val="B9C4D3"/>
                </a:solidFill>
                <a:latin typeface="Arial"/>
                <a:ea typeface="Arial"/>
                <a:cs typeface="Arial"/>
              </a:defRPr>
            </a:lvl5pPr>
            <a:lvl6pPr>
              <a:buNone/>
              <a:defRPr sz="1500" b="0">
                <a:solidFill>
                  <a:srgbClr val="B9C4D3"/>
                </a:solidFill>
                <a:latin typeface="Arial"/>
                <a:ea typeface="Arial"/>
                <a:cs typeface="Arial"/>
              </a:defRPr>
            </a:lvl6pPr>
            <a:lvl7pPr>
              <a:buNone/>
              <a:defRPr sz="1500" b="0">
                <a:solidFill>
                  <a:srgbClr val="B9C4D3"/>
                </a:solidFill>
                <a:latin typeface="Arial"/>
                <a:ea typeface="Arial"/>
                <a:cs typeface="Arial"/>
              </a:defRPr>
            </a:lvl7pPr>
            <a:lvl8pPr>
              <a:buNone/>
              <a:defRPr sz="1500" b="0">
                <a:solidFill>
                  <a:srgbClr val="B9C4D3"/>
                </a:solidFill>
                <a:latin typeface="Arial"/>
                <a:ea typeface="Arial"/>
                <a:cs typeface="Arial"/>
              </a:defRPr>
            </a:lvl8pPr>
            <a:lvl9pPr>
              <a:buNone/>
              <a:defRPr sz="1500" b="0">
                <a:solidFill>
                  <a:srgbClr val="B9C4D3"/>
                </a:solidFill>
                <a:latin typeface="Arial"/>
                <a:ea typeface="Arial"/>
                <a:cs typeface="Arial"/>
              </a:defRPr>
            </a:lvl9pPr>
          </a:lstStyle>
          <a:p xmlns:a="http://schemas.openxmlformats.org/drawingml/2006/main">
            <a:pPr>
              <a:buNone/>
              <a:defRPr sz="1500" b="0">
                <a:solidFill>
                  <a:srgbClr val="B9C4D3"/>
                </a:solidFill>
                <a:latin typeface="Arial"/>
                <a:ea typeface="Arial"/>
                <a:cs typeface="Arial"/>
              </a:defRPr>
            </a:pPr>
            <a:r>
              <a:rPr sz="1500" b="0">
                <a:solidFill>
                  <a:srgbClr val="B9C4D3"/>
                </a:solidFill>
                <a:latin typeface="Arial"/>
                <a:ea typeface="Arial"/>
                <a:cs typeface="Arial"/>
              </a:rPr>
              <a:t>Environmental monitoring</a:t>
            </a:r>
          </a:p>
          <a:p xmlns:a="http://schemas.openxmlformats.org/drawingml/2006/main">
            <a:pPr>
              <a:buNone/>
              <a:defRPr sz="1500" b="0">
                <a:solidFill>
                  <a:srgbClr val="B9C4D3"/>
                </a:solidFill>
                <a:latin typeface="Arial"/>
                <a:ea typeface="Arial"/>
                <a:cs typeface="Arial"/>
              </a:defRPr>
            </a:pPr>
            <a:r>
              <a:rPr sz="1500" b="0">
                <a:solidFill>
                  <a:srgbClr val="B9C4D3"/>
                </a:solidFill>
                <a:latin typeface="Arial"/>
                <a:ea typeface="Arial"/>
                <a:cs typeface="Arial"/>
              </a:rPr>
              <a:t>for maker workspaces</a:t>
            </a:r>
          </a:p>
        </p:txBody>
      </p:sp>
      <p:sp>
        <p:nvSpPr>
          <p:cNvPr id="8" name="">
            <a:extLst xmlns:a="http://schemas.openxmlformats.org/drawingml/2006/main">
              <a:ext uri="{FF2B5EF4-FFF2-40B4-BE49-F238E27FC236}">
                <a16:creationId xmlns:a16="http://schemas.microsoft.com/office/drawing/2014/main" id="{D81F6A32-1B6F-46C0-B333-024441E03972}"/>
              </a:ext>
            </a:extLst>
          </p:cNvPr>
          <p:cNvSpPr>
            <a:spLocks xmlns:a="http://schemas.openxmlformats.org/drawingml/2006/main" noGrp="1"/>
          </p:cNvSpPr>
          <p:nvPr/>
        </p:nvSpPr>
        <p:spPr>
          <a:xfrm xmlns:a="http://schemas.openxmlformats.org/drawingml/2006/main">
            <a:off x="558800" y="6057900"/>
            <a:ext cx="35560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B9C4D3"/>
                </a:solidFill>
                <a:latin typeface="Arial"/>
                <a:ea typeface="Arial"/>
                <a:cs typeface="Arial"/>
              </a:defRPr>
            </a:defPPr>
            <a:lvl1pPr>
              <a:buNone/>
              <a:defRPr sz="1100" b="0">
                <a:solidFill>
                  <a:srgbClr val="B9C4D3"/>
                </a:solidFill>
                <a:latin typeface="Arial"/>
                <a:ea typeface="Arial"/>
                <a:cs typeface="Arial"/>
              </a:defRPr>
            </a:lvl1pPr>
            <a:lvl2pPr>
              <a:buNone/>
              <a:defRPr sz="1100" b="0">
                <a:solidFill>
                  <a:srgbClr val="B9C4D3"/>
                </a:solidFill>
                <a:latin typeface="Arial"/>
                <a:ea typeface="Arial"/>
                <a:cs typeface="Arial"/>
              </a:defRPr>
            </a:lvl2pPr>
            <a:lvl3pPr>
              <a:buNone/>
              <a:defRPr sz="1100" b="0">
                <a:solidFill>
                  <a:srgbClr val="B9C4D3"/>
                </a:solidFill>
                <a:latin typeface="Arial"/>
                <a:ea typeface="Arial"/>
                <a:cs typeface="Arial"/>
              </a:defRPr>
            </a:lvl3pPr>
            <a:lvl4pPr>
              <a:buNone/>
              <a:defRPr sz="1100" b="0">
                <a:solidFill>
                  <a:srgbClr val="B9C4D3"/>
                </a:solidFill>
                <a:latin typeface="Arial"/>
                <a:ea typeface="Arial"/>
                <a:cs typeface="Arial"/>
              </a:defRPr>
            </a:lvl4pPr>
            <a:lvl5pPr>
              <a:buNone/>
              <a:defRPr sz="1100" b="0">
                <a:solidFill>
                  <a:srgbClr val="B9C4D3"/>
                </a:solidFill>
                <a:latin typeface="Arial"/>
                <a:ea typeface="Arial"/>
                <a:cs typeface="Arial"/>
              </a:defRPr>
            </a:lvl5pPr>
            <a:lvl6pPr>
              <a:buNone/>
              <a:defRPr sz="1100" b="0">
                <a:solidFill>
                  <a:srgbClr val="B9C4D3"/>
                </a:solidFill>
                <a:latin typeface="Arial"/>
                <a:ea typeface="Arial"/>
                <a:cs typeface="Arial"/>
              </a:defRPr>
            </a:lvl6pPr>
            <a:lvl7pPr>
              <a:buNone/>
              <a:defRPr sz="1100" b="0">
                <a:solidFill>
                  <a:srgbClr val="B9C4D3"/>
                </a:solidFill>
                <a:latin typeface="Arial"/>
                <a:ea typeface="Arial"/>
                <a:cs typeface="Arial"/>
              </a:defRPr>
            </a:lvl7pPr>
            <a:lvl8pPr>
              <a:buNone/>
              <a:defRPr sz="1100" b="0">
                <a:solidFill>
                  <a:srgbClr val="B9C4D3"/>
                </a:solidFill>
                <a:latin typeface="Arial"/>
                <a:ea typeface="Arial"/>
                <a:cs typeface="Arial"/>
              </a:defRPr>
            </a:lvl8pPr>
            <a:lvl9pPr>
              <a:buNone/>
              <a:defRPr sz="1100" b="0">
                <a:solidFill>
                  <a:srgbClr val="B9C4D3"/>
                </a:solidFill>
                <a:latin typeface="Arial"/>
                <a:ea typeface="Arial"/>
                <a:cs typeface="Arial"/>
              </a:defRPr>
            </a:lvl9pPr>
          </a:lstStyle>
          <a:p xmlns:a="http://schemas.openxmlformats.org/drawingml/2006/main">
            <a:pPr>
              <a:buNone/>
              <a:defRPr sz="1100" b="0">
                <a:solidFill>
                  <a:srgbClr val="B9C4D3"/>
                </a:solidFill>
                <a:latin typeface="Arial"/>
                <a:ea typeface="Arial"/>
                <a:cs typeface="Arial"/>
              </a:defRPr>
            </a:pPr>
            <a:r>
              <a:rPr sz="1100" b="0">
                <a:solidFill>
                  <a:srgbClr val="B9C4D3"/>
                </a:solidFill>
                <a:latin typeface="Arial"/>
                <a:ea typeface="Arial"/>
                <a:cs typeface="Arial"/>
              </a:rPr>
              <a:t>Product presentation</a:t>
            </a:r>
          </a:p>
          <a:p xmlns:a="http://schemas.openxmlformats.org/drawingml/2006/main">
            <a:pPr>
              <a:buNone/>
              <a:defRPr sz="1100" b="0">
                <a:solidFill>
                  <a:srgbClr val="B9C4D3"/>
                </a:solidFill>
                <a:latin typeface="Arial"/>
                <a:ea typeface="Arial"/>
                <a:cs typeface="Arial"/>
              </a:defRPr>
            </a:pPr>
            <a:r>
              <a:rPr sz="1100" b="0">
                <a:solidFill>
                  <a:srgbClr val="B9C4D3"/>
                </a:solidFill>
                <a:latin typeface="Arial"/>
                <a:ea typeface="Arial"/>
                <a:cs typeface="Arial"/>
              </a:rPr>
              <a:t>October 2026</a:t>
            </a:r>
          </a:p>
        </p:txBody>
      </p:sp>
    </p:spTree>
    <p:extLst>
      <p:ext uri="{BB962C8B-B14F-4D97-AF65-F5344CB8AC3E}">
        <p14:creationId xmlns:p14="http://schemas.microsoft.com/office/powerpoint/2010/main" val="1836696675"/>
      </p:ext>
    </p:extLst>
  </p:cSld>
</p:sld>
</file>

<file path=ppt/slides/slide2.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369185-0F21-4D01-A4F5-F0FDACA8542C}"/>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PROJECT IDENTITY</a:t>
            </a:r>
          </a:p>
        </p:txBody>
      </p:sp>
      <p:sp>
        <p:nvSpPr>
          <p:cNvPr id="2" name="">
            <a:extLst xmlns:a="http://schemas.openxmlformats.org/drawingml/2006/main">
              <a:ext uri="{FF2B5EF4-FFF2-40B4-BE49-F238E27FC236}">
                <a16:creationId xmlns:a16="http://schemas.microsoft.com/office/drawing/2014/main" id="{06CC5523-5FC8-4587-A731-879249441C2B}"/>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Designed for the workbench</a:t>
            </a:r>
          </a:p>
        </p:txBody>
      </p:sp>
      <p:sp>
        <p:nvSpPr>
          <p:cNvPr id="3" name="">
            <a:extLst xmlns:a="http://schemas.openxmlformats.org/drawingml/2006/main">
              <a:ext uri="{FF2B5EF4-FFF2-40B4-BE49-F238E27FC236}">
                <a16:creationId xmlns:a16="http://schemas.microsoft.com/office/drawing/2014/main" id="{9C33D03A-DA97-4EC0-A1C0-52C0FF4C1367}"/>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2004891A-2C8A-40B4-ADAE-5F47F1DB722C}"/>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02</a:t>
            </a:r>
          </a:p>
        </p:txBody>
      </p:sp>
      <p:pic>
        <p:nvPicPr>
          <p:cNvPr id="5" name="">
            <a:extLst xmlns:a="http://schemas.openxmlformats.org/drawingml/2006/main">
              <a:ext uri="{FF2B5EF4-FFF2-40B4-BE49-F238E27FC236}">
                <a16:creationId xmlns:a16="http://schemas.microsoft.com/office/drawing/2014/main" id="{FD0982D2-3E2E-4B45-8DF8-B29A33197023}"/>
              </a:ext>
            </a:extLst>
          </p:cNvPr>
          <p:cNvPicPr>
            <a:picLocks xmlns:a="http://schemas.openxmlformats.org/drawingml/2006/main" noChangeAspect="1"/>
          </p:cNvPicPr>
          <p:nvPr/>
        </p:nvPicPr>
        <p:blipFill>
          <a:blip xmlns:r="http://schemas.openxmlformats.org/officeDocument/2006/relationships" xmlns:a="http://schemas.openxmlformats.org/drawingml/2006/main" r:embed="R4eae815317b943d2"/>
          <a:stretch xmlns:a="http://schemas.openxmlformats.org/drawingml/2006/main"/>
        </p:blipFill>
        <p:spPr>
          <a:xfrm xmlns:a="http://schemas.openxmlformats.org/drawingml/2006/main">
            <a:off x="521719" y="1651000"/>
            <a:ext cx="5712963" cy="4572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B6A354-6C75-482A-A31A-B5550F0317DA}"/>
              </a:ext>
            </a:extLst>
          </p:cNvPr>
          <p:cNvSpPr>
            <a:spLocks xmlns:a="http://schemas.openxmlformats.org/drawingml/2006/main" noGrp="1"/>
          </p:cNvSpPr>
          <p:nvPr/>
        </p:nvSpPr>
        <p:spPr>
          <a:xfrm xmlns:a="http://schemas.openxmlformats.org/drawingml/2006/main">
            <a:off x="6794500" y="1651000"/>
            <a:ext cx="4940300" cy="29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5A5FF"/>
                </a:solidFill>
                <a:latin typeface="Arial"/>
                <a:ea typeface="Arial"/>
                <a:cs typeface="Arial"/>
              </a:defRPr>
            </a:defPPr>
            <a:lvl1pPr>
              <a:buNone/>
              <a:defRPr sz="1500" b="1">
                <a:solidFill>
                  <a:srgbClr val="65A5FF"/>
                </a:solidFill>
                <a:latin typeface="Arial"/>
                <a:ea typeface="Arial"/>
                <a:cs typeface="Arial"/>
              </a:defRPr>
            </a:lvl1pPr>
            <a:lvl2pPr>
              <a:buNone/>
              <a:defRPr sz="1500" b="1">
                <a:solidFill>
                  <a:srgbClr val="65A5FF"/>
                </a:solidFill>
                <a:latin typeface="Arial"/>
                <a:ea typeface="Arial"/>
                <a:cs typeface="Arial"/>
              </a:defRPr>
            </a:lvl2pPr>
            <a:lvl3pPr>
              <a:buNone/>
              <a:defRPr sz="1500" b="1">
                <a:solidFill>
                  <a:srgbClr val="65A5FF"/>
                </a:solidFill>
                <a:latin typeface="Arial"/>
                <a:ea typeface="Arial"/>
                <a:cs typeface="Arial"/>
              </a:defRPr>
            </a:lvl3pPr>
            <a:lvl4pPr>
              <a:buNone/>
              <a:defRPr sz="1500" b="1">
                <a:solidFill>
                  <a:srgbClr val="65A5FF"/>
                </a:solidFill>
                <a:latin typeface="Arial"/>
                <a:ea typeface="Arial"/>
                <a:cs typeface="Arial"/>
              </a:defRPr>
            </a:lvl4pPr>
            <a:lvl5pPr>
              <a:buNone/>
              <a:defRPr sz="1500" b="1">
                <a:solidFill>
                  <a:srgbClr val="65A5FF"/>
                </a:solidFill>
                <a:latin typeface="Arial"/>
                <a:ea typeface="Arial"/>
                <a:cs typeface="Arial"/>
              </a:defRPr>
            </a:lvl5pPr>
            <a:lvl6pPr>
              <a:buNone/>
              <a:defRPr sz="1500" b="1">
                <a:solidFill>
                  <a:srgbClr val="65A5FF"/>
                </a:solidFill>
                <a:latin typeface="Arial"/>
                <a:ea typeface="Arial"/>
                <a:cs typeface="Arial"/>
              </a:defRPr>
            </a:lvl6pPr>
            <a:lvl7pPr>
              <a:buNone/>
              <a:defRPr sz="1500" b="1">
                <a:solidFill>
                  <a:srgbClr val="65A5FF"/>
                </a:solidFill>
                <a:latin typeface="Arial"/>
                <a:ea typeface="Arial"/>
                <a:cs typeface="Arial"/>
              </a:defRPr>
            </a:lvl7pPr>
            <a:lvl8pPr>
              <a:buNone/>
              <a:defRPr sz="1500" b="1">
                <a:solidFill>
                  <a:srgbClr val="65A5FF"/>
                </a:solidFill>
                <a:latin typeface="Arial"/>
                <a:ea typeface="Arial"/>
                <a:cs typeface="Arial"/>
              </a:defRPr>
            </a:lvl8pPr>
            <a:lvl9pPr>
              <a:buNone/>
              <a:defRPr sz="1500" b="1">
                <a:solidFill>
                  <a:srgbClr val="65A5FF"/>
                </a:solidFill>
                <a:latin typeface="Arial"/>
                <a:ea typeface="Arial"/>
                <a:cs typeface="Arial"/>
              </a:defRPr>
            </a:lvl9pPr>
          </a:lstStyle>
          <a:p xmlns:a="http://schemas.openxmlformats.org/drawingml/2006/main">
            <a:pPr>
              <a:buNone/>
              <a:defRPr sz="1500" b="1">
                <a:solidFill>
                  <a:srgbClr val="65A5FF"/>
                </a:solidFill>
                <a:latin typeface="Arial"/>
                <a:ea typeface="Arial"/>
                <a:cs typeface="Arial"/>
              </a:defRPr>
            </a:pPr>
            <a:r>
              <a:rPr sz="1500" b="1">
                <a:solidFill>
                  <a:srgbClr val="65A5FF"/>
                </a:solidFill>
                <a:latin typeface="Arial"/>
                <a:ea typeface="Arial"/>
                <a:cs typeface="Arial"/>
              </a:rPr>
              <a:t>Observe</a:t>
            </a:r>
          </a:p>
        </p:txBody>
      </p:sp>
      <p:sp>
        <p:nvSpPr>
          <p:cNvPr id="7" name="">
            <a:extLst xmlns:a="http://schemas.openxmlformats.org/drawingml/2006/main">
              <a:ext uri="{FF2B5EF4-FFF2-40B4-BE49-F238E27FC236}">
                <a16:creationId xmlns:a16="http://schemas.microsoft.com/office/drawing/2014/main" id="{9E07D8FA-85EB-464B-B210-329A70DA716A}"/>
              </a:ext>
            </a:extLst>
          </p:cNvPr>
          <p:cNvSpPr>
            <a:spLocks xmlns:a="http://schemas.openxmlformats.org/drawingml/2006/main" noGrp="1"/>
          </p:cNvSpPr>
          <p:nvPr/>
        </p:nvSpPr>
        <p:spPr>
          <a:xfrm xmlns:a="http://schemas.openxmlformats.org/drawingml/2006/main">
            <a:off x="6794500" y="1987550"/>
            <a:ext cx="49403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00" b="0">
                <a:solidFill>
                  <a:srgbClr val="F6F8FC"/>
                </a:solidFill>
                <a:latin typeface="Arial"/>
                <a:ea typeface="Arial"/>
                <a:cs typeface="Arial"/>
              </a:defRPr>
            </a:defPPr>
            <a:lvl1pPr>
              <a:buNone/>
              <a:defRPr sz="1300" b="0">
                <a:solidFill>
                  <a:srgbClr val="F6F8FC"/>
                </a:solidFill>
                <a:latin typeface="Arial"/>
                <a:ea typeface="Arial"/>
                <a:cs typeface="Arial"/>
              </a:defRPr>
            </a:lvl1pPr>
            <a:lvl2pPr>
              <a:buNone/>
              <a:defRPr sz="1300" b="0">
                <a:solidFill>
                  <a:srgbClr val="F6F8FC"/>
                </a:solidFill>
                <a:latin typeface="Arial"/>
                <a:ea typeface="Arial"/>
                <a:cs typeface="Arial"/>
              </a:defRPr>
            </a:lvl2pPr>
            <a:lvl3pPr>
              <a:buNone/>
              <a:defRPr sz="1300" b="0">
                <a:solidFill>
                  <a:srgbClr val="F6F8FC"/>
                </a:solidFill>
                <a:latin typeface="Arial"/>
                <a:ea typeface="Arial"/>
                <a:cs typeface="Arial"/>
              </a:defRPr>
            </a:lvl3pPr>
            <a:lvl4pPr>
              <a:buNone/>
              <a:defRPr sz="1300" b="0">
                <a:solidFill>
                  <a:srgbClr val="F6F8FC"/>
                </a:solidFill>
                <a:latin typeface="Arial"/>
                <a:ea typeface="Arial"/>
                <a:cs typeface="Arial"/>
              </a:defRPr>
            </a:lvl4pPr>
            <a:lvl5pPr>
              <a:buNone/>
              <a:defRPr sz="1300" b="0">
                <a:solidFill>
                  <a:srgbClr val="F6F8FC"/>
                </a:solidFill>
                <a:latin typeface="Arial"/>
                <a:ea typeface="Arial"/>
                <a:cs typeface="Arial"/>
              </a:defRPr>
            </a:lvl5pPr>
            <a:lvl6pPr>
              <a:buNone/>
              <a:defRPr sz="1300" b="0">
                <a:solidFill>
                  <a:srgbClr val="F6F8FC"/>
                </a:solidFill>
                <a:latin typeface="Arial"/>
                <a:ea typeface="Arial"/>
                <a:cs typeface="Arial"/>
              </a:defRPr>
            </a:lvl6pPr>
            <a:lvl7pPr>
              <a:buNone/>
              <a:defRPr sz="1300" b="0">
                <a:solidFill>
                  <a:srgbClr val="F6F8FC"/>
                </a:solidFill>
                <a:latin typeface="Arial"/>
                <a:ea typeface="Arial"/>
                <a:cs typeface="Arial"/>
              </a:defRPr>
            </a:lvl7pPr>
            <a:lvl8pPr>
              <a:buNone/>
              <a:defRPr sz="1300" b="0">
                <a:solidFill>
                  <a:srgbClr val="F6F8FC"/>
                </a:solidFill>
                <a:latin typeface="Arial"/>
                <a:ea typeface="Arial"/>
                <a:cs typeface="Arial"/>
              </a:defRPr>
            </a:lvl8pPr>
            <a:lvl9pPr>
              <a:buNone/>
              <a:defRPr sz="1300" b="0">
                <a:solidFill>
                  <a:srgbClr val="F6F8FC"/>
                </a:solidFill>
                <a:latin typeface="Arial"/>
                <a:ea typeface="Arial"/>
                <a:cs typeface="Arial"/>
              </a:defRPr>
            </a:lvl9pPr>
          </a:lstStyle>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Follow environmental changes while working and compare different</a:t>
            </a:r>
          </a:p>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moments within the same session.</a:t>
            </a:r>
          </a:p>
        </p:txBody>
      </p:sp>
      <p:sp>
        <p:nvSpPr>
          <p:cNvPr id="8" name="">
            <a:extLst xmlns:a="http://schemas.openxmlformats.org/drawingml/2006/main">
              <a:ext uri="{FF2B5EF4-FFF2-40B4-BE49-F238E27FC236}">
                <a16:creationId xmlns:a16="http://schemas.microsoft.com/office/drawing/2014/main" id="{D436CA32-FF1C-49E0-8086-525D850C28AD}"/>
              </a:ext>
            </a:extLst>
          </p:cNvPr>
          <p:cNvSpPr>
            <a:spLocks xmlns:a="http://schemas.openxmlformats.org/drawingml/2006/main" noGrp="1"/>
          </p:cNvSpPr>
          <p:nvPr/>
        </p:nvSpPr>
        <p:spPr>
          <a:xfrm xmlns:a="http://schemas.openxmlformats.org/drawingml/2006/main">
            <a:off x="6794500" y="2645410"/>
            <a:ext cx="4940300" cy="29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5A5FF"/>
                </a:solidFill>
                <a:latin typeface="Arial"/>
                <a:ea typeface="Arial"/>
                <a:cs typeface="Arial"/>
              </a:defRPr>
            </a:defPPr>
            <a:lvl1pPr>
              <a:buNone/>
              <a:defRPr sz="1500" b="1">
                <a:solidFill>
                  <a:srgbClr val="65A5FF"/>
                </a:solidFill>
                <a:latin typeface="Arial"/>
                <a:ea typeface="Arial"/>
                <a:cs typeface="Arial"/>
              </a:defRPr>
            </a:lvl1pPr>
            <a:lvl2pPr>
              <a:buNone/>
              <a:defRPr sz="1500" b="1">
                <a:solidFill>
                  <a:srgbClr val="65A5FF"/>
                </a:solidFill>
                <a:latin typeface="Arial"/>
                <a:ea typeface="Arial"/>
                <a:cs typeface="Arial"/>
              </a:defRPr>
            </a:lvl2pPr>
            <a:lvl3pPr>
              <a:buNone/>
              <a:defRPr sz="1500" b="1">
                <a:solidFill>
                  <a:srgbClr val="65A5FF"/>
                </a:solidFill>
                <a:latin typeface="Arial"/>
                <a:ea typeface="Arial"/>
                <a:cs typeface="Arial"/>
              </a:defRPr>
            </a:lvl3pPr>
            <a:lvl4pPr>
              <a:buNone/>
              <a:defRPr sz="1500" b="1">
                <a:solidFill>
                  <a:srgbClr val="65A5FF"/>
                </a:solidFill>
                <a:latin typeface="Arial"/>
                <a:ea typeface="Arial"/>
                <a:cs typeface="Arial"/>
              </a:defRPr>
            </a:lvl4pPr>
            <a:lvl5pPr>
              <a:buNone/>
              <a:defRPr sz="1500" b="1">
                <a:solidFill>
                  <a:srgbClr val="65A5FF"/>
                </a:solidFill>
                <a:latin typeface="Arial"/>
                <a:ea typeface="Arial"/>
                <a:cs typeface="Arial"/>
              </a:defRPr>
            </a:lvl5pPr>
            <a:lvl6pPr>
              <a:buNone/>
              <a:defRPr sz="1500" b="1">
                <a:solidFill>
                  <a:srgbClr val="65A5FF"/>
                </a:solidFill>
                <a:latin typeface="Arial"/>
                <a:ea typeface="Arial"/>
                <a:cs typeface="Arial"/>
              </a:defRPr>
            </a:lvl6pPr>
            <a:lvl7pPr>
              <a:buNone/>
              <a:defRPr sz="1500" b="1">
                <a:solidFill>
                  <a:srgbClr val="65A5FF"/>
                </a:solidFill>
                <a:latin typeface="Arial"/>
                <a:ea typeface="Arial"/>
                <a:cs typeface="Arial"/>
              </a:defRPr>
            </a:lvl7pPr>
            <a:lvl8pPr>
              <a:buNone/>
              <a:defRPr sz="1500" b="1">
                <a:solidFill>
                  <a:srgbClr val="65A5FF"/>
                </a:solidFill>
                <a:latin typeface="Arial"/>
                <a:ea typeface="Arial"/>
                <a:cs typeface="Arial"/>
              </a:defRPr>
            </a:lvl8pPr>
            <a:lvl9pPr>
              <a:buNone/>
              <a:defRPr sz="1500" b="1">
                <a:solidFill>
                  <a:srgbClr val="65A5FF"/>
                </a:solidFill>
                <a:latin typeface="Arial"/>
                <a:ea typeface="Arial"/>
                <a:cs typeface="Arial"/>
              </a:defRPr>
            </a:lvl9pPr>
          </a:lstStyle>
          <a:p xmlns:a="http://schemas.openxmlformats.org/drawingml/2006/main">
            <a:pPr>
              <a:buNone/>
              <a:defRPr sz="1500" b="1">
                <a:solidFill>
                  <a:srgbClr val="65A5FF"/>
                </a:solidFill>
                <a:latin typeface="Arial"/>
                <a:ea typeface="Arial"/>
                <a:cs typeface="Arial"/>
              </a:defRPr>
            </a:pPr>
            <a:r>
              <a:rPr sz="1500" b="1">
                <a:solidFill>
                  <a:srgbClr val="65A5FF"/>
                </a:solidFill>
                <a:latin typeface="Arial"/>
                <a:ea typeface="Arial"/>
                <a:cs typeface="Arial"/>
              </a:rPr>
              <a:t>Document</a:t>
            </a:r>
          </a:p>
        </p:txBody>
      </p:sp>
      <p:sp>
        <p:nvSpPr>
          <p:cNvPr id="9" name="">
            <a:extLst xmlns:a="http://schemas.openxmlformats.org/drawingml/2006/main">
              <a:ext uri="{FF2B5EF4-FFF2-40B4-BE49-F238E27FC236}">
                <a16:creationId xmlns:a16="http://schemas.microsoft.com/office/drawing/2014/main" id="{346B461D-D799-45DC-B515-F0CD78CAE5CB}"/>
              </a:ext>
            </a:extLst>
          </p:cNvPr>
          <p:cNvSpPr>
            <a:spLocks xmlns:a="http://schemas.openxmlformats.org/drawingml/2006/main" noGrp="1"/>
          </p:cNvSpPr>
          <p:nvPr/>
        </p:nvSpPr>
        <p:spPr>
          <a:xfrm xmlns:a="http://schemas.openxmlformats.org/drawingml/2006/main">
            <a:off x="6794500" y="2981960"/>
            <a:ext cx="49403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00" b="0">
                <a:solidFill>
                  <a:srgbClr val="F6F8FC"/>
                </a:solidFill>
                <a:latin typeface="Arial"/>
                <a:ea typeface="Arial"/>
                <a:cs typeface="Arial"/>
              </a:defRPr>
            </a:defPPr>
            <a:lvl1pPr>
              <a:buNone/>
              <a:defRPr sz="1300" b="0">
                <a:solidFill>
                  <a:srgbClr val="F6F8FC"/>
                </a:solidFill>
                <a:latin typeface="Arial"/>
                <a:ea typeface="Arial"/>
                <a:cs typeface="Arial"/>
              </a:defRPr>
            </a:lvl1pPr>
            <a:lvl2pPr>
              <a:buNone/>
              <a:defRPr sz="1300" b="0">
                <a:solidFill>
                  <a:srgbClr val="F6F8FC"/>
                </a:solidFill>
                <a:latin typeface="Arial"/>
                <a:ea typeface="Arial"/>
                <a:cs typeface="Arial"/>
              </a:defRPr>
            </a:lvl2pPr>
            <a:lvl3pPr>
              <a:buNone/>
              <a:defRPr sz="1300" b="0">
                <a:solidFill>
                  <a:srgbClr val="F6F8FC"/>
                </a:solidFill>
                <a:latin typeface="Arial"/>
                <a:ea typeface="Arial"/>
                <a:cs typeface="Arial"/>
              </a:defRPr>
            </a:lvl3pPr>
            <a:lvl4pPr>
              <a:buNone/>
              <a:defRPr sz="1300" b="0">
                <a:solidFill>
                  <a:srgbClr val="F6F8FC"/>
                </a:solidFill>
                <a:latin typeface="Arial"/>
                <a:ea typeface="Arial"/>
                <a:cs typeface="Arial"/>
              </a:defRPr>
            </a:lvl4pPr>
            <a:lvl5pPr>
              <a:buNone/>
              <a:defRPr sz="1300" b="0">
                <a:solidFill>
                  <a:srgbClr val="F6F8FC"/>
                </a:solidFill>
                <a:latin typeface="Arial"/>
                <a:ea typeface="Arial"/>
                <a:cs typeface="Arial"/>
              </a:defRPr>
            </a:lvl5pPr>
            <a:lvl6pPr>
              <a:buNone/>
              <a:defRPr sz="1300" b="0">
                <a:solidFill>
                  <a:srgbClr val="F6F8FC"/>
                </a:solidFill>
                <a:latin typeface="Arial"/>
                <a:ea typeface="Arial"/>
                <a:cs typeface="Arial"/>
              </a:defRPr>
            </a:lvl6pPr>
            <a:lvl7pPr>
              <a:buNone/>
              <a:defRPr sz="1300" b="0">
                <a:solidFill>
                  <a:srgbClr val="F6F8FC"/>
                </a:solidFill>
                <a:latin typeface="Arial"/>
                <a:ea typeface="Arial"/>
                <a:cs typeface="Arial"/>
              </a:defRPr>
            </a:lvl7pPr>
            <a:lvl8pPr>
              <a:buNone/>
              <a:defRPr sz="1300" b="0">
                <a:solidFill>
                  <a:srgbClr val="F6F8FC"/>
                </a:solidFill>
                <a:latin typeface="Arial"/>
                <a:ea typeface="Arial"/>
                <a:cs typeface="Arial"/>
              </a:defRPr>
            </a:lvl8pPr>
            <a:lvl9pPr>
              <a:buNone/>
              <a:defRPr sz="1300" b="0">
                <a:solidFill>
                  <a:srgbClr val="F6F8FC"/>
                </a:solidFill>
                <a:latin typeface="Arial"/>
                <a:ea typeface="Arial"/>
                <a:cs typeface="Arial"/>
              </a:defRPr>
            </a:lvl9pPr>
          </a:lstStyle>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Save readings in CSV files alongside print status and filament</a:t>
            </a:r>
          </a:p>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information reported by the printer.</a:t>
            </a:r>
          </a:p>
        </p:txBody>
      </p:sp>
      <p:sp>
        <p:nvSpPr>
          <p:cNvPr id="10" name="">
            <a:extLst xmlns:a="http://schemas.openxmlformats.org/drawingml/2006/main">
              <a:ext uri="{FF2B5EF4-FFF2-40B4-BE49-F238E27FC236}">
                <a16:creationId xmlns:a16="http://schemas.microsoft.com/office/drawing/2014/main" id="{DE37A8E2-A8E7-4D53-B954-B26831C4BDF3}"/>
              </a:ext>
            </a:extLst>
          </p:cNvPr>
          <p:cNvSpPr>
            <a:spLocks xmlns:a="http://schemas.openxmlformats.org/drawingml/2006/main" noGrp="1"/>
          </p:cNvSpPr>
          <p:nvPr/>
        </p:nvSpPr>
        <p:spPr>
          <a:xfrm xmlns:a="http://schemas.openxmlformats.org/drawingml/2006/main">
            <a:off x="6794500" y="3639820"/>
            <a:ext cx="4940300" cy="29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5A5FF"/>
                </a:solidFill>
                <a:latin typeface="Arial"/>
                <a:ea typeface="Arial"/>
                <a:cs typeface="Arial"/>
              </a:defRPr>
            </a:defPPr>
            <a:lvl1pPr>
              <a:buNone/>
              <a:defRPr sz="1500" b="1">
                <a:solidFill>
                  <a:srgbClr val="65A5FF"/>
                </a:solidFill>
                <a:latin typeface="Arial"/>
                <a:ea typeface="Arial"/>
                <a:cs typeface="Arial"/>
              </a:defRPr>
            </a:lvl1pPr>
            <a:lvl2pPr>
              <a:buNone/>
              <a:defRPr sz="1500" b="1">
                <a:solidFill>
                  <a:srgbClr val="65A5FF"/>
                </a:solidFill>
                <a:latin typeface="Arial"/>
                <a:ea typeface="Arial"/>
                <a:cs typeface="Arial"/>
              </a:defRPr>
            </a:lvl2pPr>
            <a:lvl3pPr>
              <a:buNone/>
              <a:defRPr sz="1500" b="1">
                <a:solidFill>
                  <a:srgbClr val="65A5FF"/>
                </a:solidFill>
                <a:latin typeface="Arial"/>
                <a:ea typeface="Arial"/>
                <a:cs typeface="Arial"/>
              </a:defRPr>
            </a:lvl3pPr>
            <a:lvl4pPr>
              <a:buNone/>
              <a:defRPr sz="1500" b="1">
                <a:solidFill>
                  <a:srgbClr val="65A5FF"/>
                </a:solidFill>
                <a:latin typeface="Arial"/>
                <a:ea typeface="Arial"/>
                <a:cs typeface="Arial"/>
              </a:defRPr>
            </a:lvl4pPr>
            <a:lvl5pPr>
              <a:buNone/>
              <a:defRPr sz="1500" b="1">
                <a:solidFill>
                  <a:srgbClr val="65A5FF"/>
                </a:solidFill>
                <a:latin typeface="Arial"/>
                <a:ea typeface="Arial"/>
                <a:cs typeface="Arial"/>
              </a:defRPr>
            </a:lvl5pPr>
            <a:lvl6pPr>
              <a:buNone/>
              <a:defRPr sz="1500" b="1">
                <a:solidFill>
                  <a:srgbClr val="65A5FF"/>
                </a:solidFill>
                <a:latin typeface="Arial"/>
                <a:ea typeface="Arial"/>
                <a:cs typeface="Arial"/>
              </a:defRPr>
            </a:lvl6pPr>
            <a:lvl7pPr>
              <a:buNone/>
              <a:defRPr sz="1500" b="1">
                <a:solidFill>
                  <a:srgbClr val="65A5FF"/>
                </a:solidFill>
                <a:latin typeface="Arial"/>
                <a:ea typeface="Arial"/>
                <a:cs typeface="Arial"/>
              </a:defRPr>
            </a:lvl7pPr>
            <a:lvl8pPr>
              <a:buNone/>
              <a:defRPr sz="1500" b="1">
                <a:solidFill>
                  <a:srgbClr val="65A5FF"/>
                </a:solidFill>
                <a:latin typeface="Arial"/>
                <a:ea typeface="Arial"/>
                <a:cs typeface="Arial"/>
              </a:defRPr>
            </a:lvl8pPr>
            <a:lvl9pPr>
              <a:buNone/>
              <a:defRPr sz="1500" b="1">
                <a:solidFill>
                  <a:srgbClr val="65A5FF"/>
                </a:solidFill>
                <a:latin typeface="Arial"/>
                <a:ea typeface="Arial"/>
                <a:cs typeface="Arial"/>
              </a:defRPr>
            </a:lvl9pPr>
          </a:lstStyle>
          <a:p xmlns:a="http://schemas.openxmlformats.org/drawingml/2006/main">
            <a:pPr>
              <a:buNone/>
              <a:defRPr sz="1500" b="1">
                <a:solidFill>
                  <a:srgbClr val="65A5FF"/>
                </a:solidFill>
                <a:latin typeface="Arial"/>
                <a:ea typeface="Arial"/>
                <a:cs typeface="Arial"/>
              </a:defRPr>
            </a:pPr>
            <a:r>
              <a:rPr sz="1500" b="1">
                <a:solidFill>
                  <a:srgbClr val="65A5FF"/>
                </a:solidFill>
                <a:latin typeface="Arial"/>
                <a:ea typeface="Arial"/>
                <a:cs typeface="Arial"/>
              </a:rPr>
              <a:t>Interpret with care</a:t>
            </a:r>
          </a:p>
        </p:txBody>
      </p:sp>
      <p:sp>
        <p:nvSpPr>
          <p:cNvPr id="11" name="">
            <a:extLst xmlns:a="http://schemas.openxmlformats.org/drawingml/2006/main">
              <a:ext uri="{FF2B5EF4-FFF2-40B4-BE49-F238E27FC236}">
                <a16:creationId xmlns:a16="http://schemas.microsoft.com/office/drawing/2014/main" id="{1FE46A09-3BB3-43E8-8AAA-C442F7232CC6}"/>
              </a:ext>
            </a:extLst>
          </p:cNvPr>
          <p:cNvSpPr>
            <a:spLocks xmlns:a="http://schemas.openxmlformats.org/drawingml/2006/main" noGrp="1"/>
          </p:cNvSpPr>
          <p:nvPr/>
        </p:nvSpPr>
        <p:spPr>
          <a:xfrm xmlns:a="http://schemas.openxmlformats.org/drawingml/2006/main">
            <a:off x="6794500" y="3976370"/>
            <a:ext cx="49403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00" b="0">
                <a:solidFill>
                  <a:srgbClr val="F6F8FC"/>
                </a:solidFill>
                <a:latin typeface="Arial"/>
                <a:ea typeface="Arial"/>
                <a:cs typeface="Arial"/>
              </a:defRPr>
            </a:defPPr>
            <a:lvl1pPr>
              <a:buNone/>
              <a:defRPr sz="1300" b="0">
                <a:solidFill>
                  <a:srgbClr val="F6F8FC"/>
                </a:solidFill>
                <a:latin typeface="Arial"/>
                <a:ea typeface="Arial"/>
                <a:cs typeface="Arial"/>
              </a:defRPr>
            </a:lvl1pPr>
            <a:lvl2pPr>
              <a:buNone/>
              <a:defRPr sz="1300" b="0">
                <a:solidFill>
                  <a:srgbClr val="F6F8FC"/>
                </a:solidFill>
                <a:latin typeface="Arial"/>
                <a:ea typeface="Arial"/>
                <a:cs typeface="Arial"/>
              </a:defRPr>
            </a:lvl2pPr>
            <a:lvl3pPr>
              <a:buNone/>
              <a:defRPr sz="1300" b="0">
                <a:solidFill>
                  <a:srgbClr val="F6F8FC"/>
                </a:solidFill>
                <a:latin typeface="Arial"/>
                <a:ea typeface="Arial"/>
                <a:cs typeface="Arial"/>
              </a:defRPr>
            </a:lvl3pPr>
            <a:lvl4pPr>
              <a:buNone/>
              <a:defRPr sz="1300" b="0">
                <a:solidFill>
                  <a:srgbClr val="F6F8FC"/>
                </a:solidFill>
                <a:latin typeface="Arial"/>
                <a:ea typeface="Arial"/>
                <a:cs typeface="Arial"/>
              </a:defRPr>
            </a:lvl4pPr>
            <a:lvl5pPr>
              <a:buNone/>
              <a:defRPr sz="1300" b="0">
                <a:solidFill>
                  <a:srgbClr val="F6F8FC"/>
                </a:solidFill>
                <a:latin typeface="Arial"/>
                <a:ea typeface="Arial"/>
                <a:cs typeface="Arial"/>
              </a:defRPr>
            </a:lvl5pPr>
            <a:lvl6pPr>
              <a:buNone/>
              <a:defRPr sz="1300" b="0">
                <a:solidFill>
                  <a:srgbClr val="F6F8FC"/>
                </a:solidFill>
                <a:latin typeface="Arial"/>
                <a:ea typeface="Arial"/>
                <a:cs typeface="Arial"/>
              </a:defRPr>
            </a:lvl6pPr>
            <a:lvl7pPr>
              <a:buNone/>
              <a:defRPr sz="1300" b="0">
                <a:solidFill>
                  <a:srgbClr val="F6F8FC"/>
                </a:solidFill>
                <a:latin typeface="Arial"/>
                <a:ea typeface="Arial"/>
                <a:cs typeface="Arial"/>
              </a:defRPr>
            </a:lvl7pPr>
            <a:lvl8pPr>
              <a:buNone/>
              <a:defRPr sz="1300" b="0">
                <a:solidFill>
                  <a:srgbClr val="F6F8FC"/>
                </a:solidFill>
                <a:latin typeface="Arial"/>
                <a:ea typeface="Arial"/>
                <a:cs typeface="Arial"/>
              </a:defRPr>
            </a:lvl8pPr>
            <a:lvl9pPr>
              <a:buNone/>
              <a:defRPr sz="1300" b="0">
                <a:solidFill>
                  <a:srgbClr val="F6F8FC"/>
                </a:solidFill>
                <a:latin typeface="Arial"/>
                <a:ea typeface="Arial"/>
                <a:cs typeface="Arial"/>
              </a:defRPr>
            </a:lvl9pPr>
          </a:lstStyle>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GUARDIAN is an environmental monitor, not a reference</a:t>
            </a:r>
          </a:p>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instrument, a safety detector or proof of healthy air.</a:t>
            </a:r>
          </a:p>
        </p:txBody>
      </p:sp>
    </p:spTree>
    <p:extLst>
      <p:ext uri="{BB962C8B-B14F-4D97-AF65-F5344CB8AC3E}">
        <p14:creationId xmlns:p14="http://schemas.microsoft.com/office/powerpoint/2010/main" val="843278486"/>
      </p:ext>
    </p:extLst>
  </p:cSld>
</p:sld>
</file>

<file path=ppt/slides/slide3.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B5EACF-2900-46F7-8A52-4EF0EE50E7D5}"/>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MONITORED PARAMETERS</a:t>
            </a:r>
          </a:p>
        </p:txBody>
      </p:sp>
      <p:sp>
        <p:nvSpPr>
          <p:cNvPr id="2" name="">
            <a:extLst xmlns:a="http://schemas.openxmlformats.org/drawingml/2006/main">
              <a:ext uri="{FF2B5EF4-FFF2-40B4-BE49-F238E27FC236}">
                <a16:creationId xmlns:a16="http://schemas.microsoft.com/office/drawing/2014/main" id="{86C0DFC9-FCF1-4A16-A86C-6700576A7FE3}"/>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Ten parameters in one overview</a:t>
            </a:r>
          </a:p>
        </p:txBody>
      </p:sp>
      <p:sp>
        <p:nvSpPr>
          <p:cNvPr id="3" name="">
            <a:extLst xmlns:a="http://schemas.openxmlformats.org/drawingml/2006/main">
              <a:ext uri="{FF2B5EF4-FFF2-40B4-BE49-F238E27FC236}">
                <a16:creationId xmlns:a16="http://schemas.microsoft.com/office/drawing/2014/main" id="{87E6F7C4-CF5C-421A-AC37-CC830B8CD783}"/>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A9CD9E7F-1E45-4BC7-BB5F-7874E49D70B7}"/>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03</a:t>
            </a:r>
          </a:p>
        </p:txBody>
      </p:sp>
      <p:graphicFrame>
        <p:nvGraphicFramePr>
          <p:cNvPr id="5" name="">
            <a:extLst xmlns:a="http://schemas.openxmlformats.org/drawingml/2006/main">
              <a:ext uri="{FF2B5EF4-FFF2-40B4-BE49-F238E27FC236}">
                <a16:creationId xmlns:a16="http://schemas.microsoft.com/office/drawing/2014/main" id="{0805ED17-3F28-4A36-AF59-80CEE7413E82}"/>
              </a:ext>
            </a:extLst>
          </p:cNvPr>
          <p:cNvGraphicFramePr/>
          <p:nvPr/>
        </p:nvGraphicFramePr>
        <p:xfrm>
          <a:off xmlns:a="http://schemas.openxmlformats.org/drawingml/2006/main" x="457200" y="1574800"/>
          <a:ext xmlns:a="http://schemas.openxmlformats.org/drawingml/2006/main" cx="11277600" cy="2506980"/>
        </p:xfrm>
        <a:graphic xmlns:a="http://schemas.openxmlformats.org/drawingml/2006/main">
          <a:graphicData uri="http://schemas.openxmlformats.org/drawingml/2006/table">
            <a:tbl>
              <a:tblPr/>
              <a:tblGrid>
                <a:gridCol w="2921000"/>
                <a:gridCol w="1460500"/>
                <a:gridCol w="6896100"/>
              </a:tblGrid>
              <a:tr h="417830">
                <a:tc>
                  <a:txBody>
                    <a:bodyPr lIns="114300" tIns="76200" rIns="114300" bIns="76200">
                      <a:noAutofit/>
                    </a:bodyPr>
                    <a:lstStyle/>
                    <a:p>
                      <a:r>
                        <a:rPr sz="1300" b="1">
                          <a:solidFill>
                            <a:srgbClr val="F6F8FC"/>
                          </a:solidFill>
                          <a:latin typeface="Arial"/>
                          <a:ea typeface="Arial"/>
                          <a:cs typeface="Arial"/>
                        </a:rPr>
                        <a:t>Parameter</a:t>
                      </a:r>
                    </a:p>
                  </a:txBody>
                  <a:tcPr marL="91440" marR="91440" marT="45720" marB="45720">
                    <a:lnL w="4763">
                      <a:solidFill>
                        <a:srgbClr val="263B59"/>
                      </a:solidFill>
                      <a:prstDash val="solid"/>
                    </a:lnL>
                    <a:lnR w="4763">
                      <a:solidFill>
                        <a:srgbClr val="263B59"/>
                      </a:solidFill>
                      <a:prstDash val="solid"/>
                    </a:lnR>
                    <a:lnT w="4763">
                      <a:solidFill>
                        <a:srgbClr val="263B59"/>
                      </a:solidFill>
                      <a:prstDash val="solid"/>
                    </a:lnT>
                    <a:lnB w="4763">
                      <a:solidFill>
                        <a:srgbClr val="263B59"/>
                      </a:solidFill>
                      <a:prstDash val="solid"/>
                    </a:lnB>
                    <a:solidFill>
                      <a:srgbClr val="263B59"/>
                    </a:solidFill>
                  </a:tcPr>
                </a:tc>
                <a:tc>
                  <a:txBody>
                    <a:bodyPr lIns="114300" tIns="76200" rIns="114300" bIns="76200">
                      <a:noAutofit/>
                    </a:bodyPr>
                    <a:lstStyle/>
                    <a:p>
                      <a:r>
                        <a:rPr sz="1300" b="1">
                          <a:solidFill>
                            <a:srgbClr val="F6F8FC"/>
                          </a:solidFill>
                          <a:latin typeface="Arial"/>
                          <a:ea typeface="Arial"/>
                          <a:cs typeface="Arial"/>
                        </a:rPr>
                        <a:t>Unit</a:t>
                      </a:r>
                    </a:p>
                  </a:txBody>
                  <a:tcPr marL="91440" marR="91440" marT="45720" marB="45720">
                    <a:lnR w="4763">
                      <a:solidFill>
                        <a:srgbClr val="263B59"/>
                      </a:solidFill>
                      <a:prstDash val="solid"/>
                    </a:lnR>
                    <a:lnT w="4763">
                      <a:solidFill>
                        <a:srgbClr val="263B59"/>
                      </a:solidFill>
                      <a:prstDash val="solid"/>
                    </a:lnT>
                    <a:lnB w="4763">
                      <a:solidFill>
                        <a:srgbClr val="263B59"/>
                      </a:solidFill>
                      <a:prstDash val="solid"/>
                    </a:lnB>
                    <a:solidFill>
                      <a:srgbClr val="263B59"/>
                    </a:solidFill>
                  </a:tcPr>
                </a:tc>
                <a:tc>
                  <a:txBody>
                    <a:bodyPr lIns="114300" tIns="76200" rIns="114300" bIns="76200">
                      <a:noAutofit/>
                    </a:bodyPr>
                    <a:lstStyle/>
                    <a:p>
                      <a:r>
                        <a:rPr sz="1300" b="1">
                          <a:solidFill>
                            <a:srgbClr val="F6F8FC"/>
                          </a:solidFill>
                          <a:latin typeface="Arial"/>
                          <a:ea typeface="Arial"/>
                          <a:cs typeface="Arial"/>
                        </a:rPr>
                        <a:t>Interpretation</a:t>
                      </a:r>
                    </a:p>
                  </a:txBody>
                  <a:tcPr marL="91440" marR="91440" marT="45720" marB="45720">
                    <a:lnR w="4763">
                      <a:solidFill>
                        <a:srgbClr val="263B59"/>
                      </a:solidFill>
                      <a:prstDash val="solid"/>
                    </a:lnR>
                    <a:lnT w="4763">
                      <a:solidFill>
                        <a:srgbClr val="263B59"/>
                      </a:solidFill>
                      <a:prstDash val="solid"/>
                    </a:lnT>
                    <a:lnB w="4763">
                      <a:solidFill>
                        <a:srgbClr val="263B59"/>
                      </a:solidFill>
                      <a:prstDash val="solid"/>
                    </a:lnB>
                    <a:solidFill>
                      <a:srgbClr val="263B59"/>
                    </a:solidFill>
                  </a:tcPr>
                </a:tc>
              </a:tr>
              <a:tr h="417830">
                <a:tc>
                  <a:txBody>
                    <a:bodyPr lIns="114300" tIns="76200" rIns="114300" bIns="76200">
                      <a:noAutofit/>
                    </a:bodyPr>
                    <a:lstStyle/>
                    <a:p>
                      <a:r>
                        <a:rPr sz="1300" b="0">
                          <a:solidFill>
                            <a:srgbClr val="F6F8FC"/>
                          </a:solidFill>
                          <a:latin typeface="Arial"/>
                          <a:ea typeface="Arial"/>
                          <a:cs typeface="Arial"/>
                        </a:rPr>
                        <a:t>PM1 / PM2.5 / PM4 / PM10</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300" b="0">
                          <a:solidFill>
                            <a:srgbClr val="F6F8FC"/>
                          </a:solidFill>
                          <a:latin typeface="Arial"/>
                          <a:ea typeface="Arial"/>
                          <a:cs typeface="Arial"/>
                        </a:rPr>
                        <a:t>µg/m³</a:t>
                      </a:r>
                    </a:p>
                  </a:txBody>
                  <a:tcPr marL="91440" marR="91440" marT="45720" marB="45720">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300" b="0">
                          <a:solidFill>
                            <a:srgbClr val="F6F8FC"/>
                          </a:solidFill>
                          <a:latin typeface="Arial"/>
                          <a:ea typeface="Arial"/>
                          <a:cs typeface="Arial"/>
                        </a:rPr>
                        <a:t>Optically estimated mass concentrations by particle-size fraction.</a:t>
                      </a:r>
                    </a:p>
                  </a:txBody>
                  <a:tcPr marL="91440" marR="91440" marT="45720" marB="45720">
                    <a:lnR w="4763">
                      <a:solidFill>
                        <a:srgbClr val="263B59"/>
                      </a:solidFill>
                      <a:prstDash val="solid"/>
                    </a:lnR>
                    <a:lnB w="4763">
                      <a:solidFill>
                        <a:srgbClr val="263B59"/>
                      </a:solidFill>
                      <a:prstDash val="solid"/>
                    </a:lnB>
                    <a:solidFill>
                      <a:srgbClr val="1A2331"/>
                    </a:solidFill>
                  </a:tcPr>
                </a:tc>
              </a:tr>
              <a:tr h="417830">
                <a:tc>
                  <a:txBody>
                    <a:bodyPr lIns="114300" tIns="76200" rIns="114300" bIns="76200">
                      <a:noAutofit/>
                    </a:bodyPr>
                    <a:lstStyle/>
                    <a:p>
                      <a:r>
                        <a:rPr sz="1300" b="0">
                          <a:solidFill>
                            <a:srgbClr val="F6F8FC"/>
                          </a:solidFill>
                          <a:latin typeface="Arial"/>
                          <a:ea typeface="Arial"/>
                          <a:cs typeface="Arial"/>
                        </a:rPr>
                        <a:t>CO2</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300" b="0">
                          <a:solidFill>
                            <a:srgbClr val="F6F8FC"/>
                          </a:solidFill>
                          <a:latin typeface="Arial"/>
                          <a:ea typeface="Arial"/>
                          <a:cs typeface="Arial"/>
                        </a:rPr>
                        <a:t>ppm</a:t>
                      </a:r>
                    </a:p>
                  </a:txBody>
                  <a:tcPr marL="91440" marR="91440" marT="45720" marB="45720">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300" b="0">
                          <a:solidFill>
                            <a:srgbClr val="F6F8FC"/>
                          </a:solidFill>
                          <a:latin typeface="Arial"/>
                          <a:ea typeface="Arial"/>
                          <a:cs typeface="Arial"/>
                        </a:rPr>
                        <a:t>Helps interpret ventilation and room occupancy.</a:t>
                      </a:r>
                    </a:p>
                  </a:txBody>
                  <a:tcPr marL="91440" marR="91440" marT="45720" marB="45720">
                    <a:lnR w="4763">
                      <a:solidFill>
                        <a:srgbClr val="263B59"/>
                      </a:solidFill>
                      <a:prstDash val="solid"/>
                    </a:lnR>
                    <a:lnB w="4763">
                      <a:solidFill>
                        <a:srgbClr val="263B59"/>
                      </a:solidFill>
                      <a:prstDash val="solid"/>
                    </a:lnB>
                    <a:solidFill>
                      <a:srgbClr val="202C3D"/>
                    </a:solidFill>
                  </a:tcPr>
                </a:tc>
              </a:tr>
              <a:tr h="417830">
                <a:tc>
                  <a:txBody>
                    <a:bodyPr lIns="114300" tIns="76200" rIns="114300" bIns="76200">
                      <a:noAutofit/>
                    </a:bodyPr>
                    <a:lstStyle/>
                    <a:p>
                      <a:r>
                        <a:rPr sz="1300" b="0">
                          <a:solidFill>
                            <a:srgbClr val="F6F8FC"/>
                          </a:solidFill>
                          <a:latin typeface="Arial"/>
                          <a:ea typeface="Arial"/>
                          <a:cs typeface="Arial"/>
                        </a:rPr>
                        <a:t>Temperature / humidity</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300" b="0">
                          <a:solidFill>
                            <a:srgbClr val="F6F8FC"/>
                          </a:solidFill>
                          <a:latin typeface="Arial"/>
                          <a:ea typeface="Arial"/>
                          <a:cs typeface="Arial"/>
                        </a:rPr>
                        <a:t>°C / % RH</a:t>
                      </a:r>
                    </a:p>
                  </a:txBody>
                  <a:tcPr marL="91440" marR="91440" marT="45720" marB="45720">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300" b="0">
                          <a:solidFill>
                            <a:srgbClr val="F6F8FC"/>
                          </a:solidFill>
                          <a:latin typeface="Arial"/>
                          <a:ea typeface="Arial"/>
                          <a:cs typeface="Arial"/>
                        </a:rPr>
                        <a:t>Personal comfort ranges, separate from alerts.</a:t>
                      </a:r>
                    </a:p>
                  </a:txBody>
                  <a:tcPr marL="91440" marR="91440" marT="45720" marB="45720">
                    <a:lnR w="4763">
                      <a:solidFill>
                        <a:srgbClr val="263B59"/>
                      </a:solidFill>
                      <a:prstDash val="solid"/>
                    </a:lnR>
                    <a:lnB w="4763">
                      <a:solidFill>
                        <a:srgbClr val="263B59"/>
                      </a:solidFill>
                      <a:prstDash val="solid"/>
                    </a:lnB>
                    <a:solidFill>
                      <a:srgbClr val="1A2331"/>
                    </a:solidFill>
                  </a:tcPr>
                </a:tc>
              </a:tr>
              <a:tr h="417830">
                <a:tc>
                  <a:txBody>
                    <a:bodyPr lIns="114300" tIns="76200" rIns="114300" bIns="76200">
                      <a:noAutofit/>
                    </a:bodyPr>
                    <a:lstStyle/>
                    <a:p>
                      <a:r>
                        <a:rPr sz="1300" b="0">
                          <a:solidFill>
                            <a:srgbClr val="F6F8FC"/>
                          </a:solidFill>
                          <a:latin typeface="Arial"/>
                          <a:ea typeface="Arial"/>
                          <a:cs typeface="Arial"/>
                        </a:rPr>
                        <a:t>VOC / NOx</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300" b="0">
                          <a:solidFill>
                            <a:srgbClr val="F6F8FC"/>
                          </a:solidFill>
                          <a:latin typeface="Arial"/>
                          <a:ea typeface="Arial"/>
                          <a:cs typeface="Arial"/>
                        </a:rPr>
                        <a:t>Index</a:t>
                      </a:r>
                    </a:p>
                  </a:txBody>
                  <a:tcPr marL="91440" marR="91440" marT="45720" marB="45720">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300" b="0">
                          <a:solidFill>
                            <a:srgbClr val="F6F8FC"/>
                          </a:solidFill>
                          <a:latin typeface="Arial"/>
                          <a:ea typeface="Arial"/>
                          <a:cs typeface="Arial"/>
                        </a:rPr>
                        <a:t>Relative indicators, not concentrations of individual substances.</a:t>
                      </a:r>
                    </a:p>
                  </a:txBody>
                  <a:tcPr marL="91440" marR="91440" marT="45720" marB="45720">
                    <a:lnR w="4763">
                      <a:solidFill>
                        <a:srgbClr val="263B59"/>
                      </a:solidFill>
                      <a:prstDash val="solid"/>
                    </a:lnR>
                    <a:lnB w="4763">
                      <a:solidFill>
                        <a:srgbClr val="263B59"/>
                      </a:solidFill>
                      <a:prstDash val="solid"/>
                    </a:lnB>
                    <a:solidFill>
                      <a:srgbClr val="202C3D"/>
                    </a:solidFill>
                  </a:tcPr>
                </a:tc>
              </a:tr>
              <a:tr h="417830">
                <a:tc>
                  <a:txBody>
                    <a:bodyPr lIns="114300" tIns="76200" rIns="114300" bIns="76200">
                      <a:noAutofit/>
                    </a:bodyPr>
                    <a:lstStyle/>
                    <a:p>
                      <a:r>
                        <a:rPr sz="1300" b="0">
                          <a:solidFill>
                            <a:srgbClr val="F6F8FC"/>
                          </a:solidFill>
                          <a:latin typeface="Arial"/>
                          <a:ea typeface="Arial"/>
                          <a:cs typeface="Arial"/>
                        </a:rPr>
                        <a:t>HCHO</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300" b="0">
                          <a:solidFill>
                            <a:srgbClr val="F6F8FC"/>
                          </a:solidFill>
                          <a:latin typeface="Arial"/>
                          <a:ea typeface="Arial"/>
                          <a:cs typeface="Arial"/>
                        </a:rPr>
                        <a:t>ppb</a:t>
                      </a:r>
                    </a:p>
                  </a:txBody>
                  <a:tcPr marL="91440" marR="91440" marT="45720" marB="45720">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300" b="0">
                          <a:solidFill>
                            <a:srgbClr val="F6F8FC"/>
                          </a:solidFill>
                          <a:latin typeface="Arial"/>
                          <a:ea typeface="Arial"/>
                          <a:cs typeface="Arial"/>
                        </a:rPr>
                        <a:t>Formaldehyde; a 30-minute average is also available.</a:t>
                      </a:r>
                    </a:p>
                  </a:txBody>
                  <a:tcPr marL="91440" marR="91440" marT="45720" marB="45720">
                    <a:lnR w="4763">
                      <a:solidFill>
                        <a:srgbClr val="263B59"/>
                      </a:solidFill>
                      <a:prstDash val="solid"/>
                    </a:lnR>
                    <a:lnB w="4763">
                      <a:solidFill>
                        <a:srgbClr val="263B59"/>
                      </a:solidFill>
                      <a:prstDash val="solid"/>
                    </a:lnB>
                    <a:solidFill>
                      <a:srgbClr val="1A2331"/>
                    </a:solidFill>
                  </a:tcPr>
                </a:tc>
              </a:tr>
            </a:tbl>
          </a:graphicData>
        </a:graphic>
      </p:graphicFrame>
      <p:sp>
        <p:nvSpPr>
          <p:cNvPr id="6" name="">
            <a:extLst xmlns:a="http://schemas.openxmlformats.org/drawingml/2006/main">
              <a:ext uri="{FF2B5EF4-FFF2-40B4-BE49-F238E27FC236}">
                <a16:creationId xmlns:a16="http://schemas.microsoft.com/office/drawing/2014/main" id="{5DBE0111-143E-454E-AEC0-7D919BA12F60}"/>
              </a:ext>
            </a:extLst>
          </p:cNvPr>
          <p:cNvSpPr>
            <a:spLocks xmlns:a="http://schemas.openxmlformats.org/drawingml/2006/main" noGrp="1"/>
          </p:cNvSpPr>
          <p:nvPr/>
        </p:nvSpPr>
        <p:spPr>
          <a:xfrm xmlns:a="http://schemas.openxmlformats.org/drawingml/2006/main">
            <a:off x="457200" y="60325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Integrated Sensirion SEN69C sensor. Specifications and limitations: S1, S4, S19. It does not directly measure the ultrafine particles typical of some 3D-printing emissions.</a:t>
            </a:r>
          </a:p>
        </p:txBody>
      </p:sp>
    </p:spTree>
    <p:extLst>
      <p:ext uri="{BB962C8B-B14F-4D97-AF65-F5344CB8AC3E}">
        <p14:creationId xmlns:p14="http://schemas.microsoft.com/office/powerpoint/2010/main" val="726002920"/>
      </p:ext>
    </p:extLst>
  </p:cSld>
</p:sld>
</file>

<file path=ppt/slides/slide4.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57AE8C-73CD-438A-A6BE-0B39339A9EF8}"/>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76D13661-7A72-4288-B673-648AA6D86020}"/>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HOME: readings at a glance</a:t>
            </a:r>
          </a:p>
        </p:txBody>
      </p:sp>
      <p:sp>
        <p:nvSpPr>
          <p:cNvPr id="3" name="">
            <a:extLst xmlns:a="http://schemas.openxmlformats.org/drawingml/2006/main">
              <a:ext uri="{FF2B5EF4-FFF2-40B4-BE49-F238E27FC236}">
                <a16:creationId xmlns:a16="http://schemas.microsoft.com/office/drawing/2014/main" id="{2E1CE6F8-92D5-42A5-911E-F3243DEB68A8}"/>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FCAA59E7-1267-4258-B3F5-43FEA2F3B17A}"/>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04</a:t>
            </a:r>
          </a:p>
        </p:txBody>
      </p:sp>
      <p:pic>
        <p:nvPicPr>
          <p:cNvPr id="5" name="">
            <a:extLst xmlns:a="http://schemas.openxmlformats.org/drawingml/2006/main">
              <a:ext uri="{FF2B5EF4-FFF2-40B4-BE49-F238E27FC236}">
                <a16:creationId xmlns:a16="http://schemas.microsoft.com/office/drawing/2014/main" id="{DE613934-ED8C-4622-9494-9386CE726058}"/>
              </a:ext>
            </a:extLst>
          </p:cNvPr>
          <p:cNvPicPr>
            <a:picLocks xmlns:a="http://schemas.openxmlformats.org/drawingml/2006/main" noChangeAspect="1"/>
          </p:cNvPicPr>
          <p:nvPr/>
        </p:nvPicPr>
        <p:blipFill>
          <a:blip xmlns:r="http://schemas.openxmlformats.org/officeDocument/2006/relationships" xmlns:a="http://schemas.openxmlformats.org/drawingml/2006/main" r:embed="R2e6d181aa0de4572"/>
          <a:stretch xmlns:a="http://schemas.openxmlformats.org/drawingml/2006/main"/>
        </p:blipFill>
        <p:spPr>
          <a:xfrm xmlns:a="http://schemas.openxmlformats.org/drawingml/2006/main">
            <a:off x="1005417" y="1435100"/>
            <a:ext cx="5926667"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6258103-06C5-4070-903B-9A20A1520286}"/>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Values and units</a:t>
            </a:r>
          </a:p>
        </p:txBody>
      </p:sp>
      <p:sp>
        <p:nvSpPr>
          <p:cNvPr id="7" name="">
            <a:extLst xmlns:a="http://schemas.openxmlformats.org/drawingml/2006/main">
              <a:ext uri="{FF2B5EF4-FFF2-40B4-BE49-F238E27FC236}">
                <a16:creationId xmlns:a16="http://schemas.microsoft.com/office/drawing/2014/main" id="{BC0501E4-1507-4F92-939D-1A678756F089}"/>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Ten panels bring together measurements, indices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and status indicators.</a:t>
            </a:r>
          </a:p>
        </p:txBody>
      </p:sp>
      <p:sp>
        <p:nvSpPr>
          <p:cNvPr id="8" name="">
            <a:extLst xmlns:a="http://schemas.openxmlformats.org/drawingml/2006/main">
              <a:ext uri="{FF2B5EF4-FFF2-40B4-BE49-F238E27FC236}">
                <a16:creationId xmlns:a16="http://schemas.microsoft.com/office/drawing/2014/main" id="{2088D34B-E593-42A1-82A7-226CEDDCF9F7}"/>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Thresholds and comfort</a:t>
            </a:r>
          </a:p>
        </p:txBody>
      </p:sp>
      <p:sp>
        <p:nvSpPr>
          <p:cNvPr id="9" name="">
            <a:extLst xmlns:a="http://schemas.openxmlformats.org/drawingml/2006/main">
              <a:ext uri="{FF2B5EF4-FFF2-40B4-BE49-F238E27FC236}">
                <a16:creationId xmlns:a16="http://schemas.microsoft.com/office/drawing/2014/main" id="{B362A41D-3F62-4825-97C6-ADE988755DBA}"/>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Personal thresholds are separate from</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temperature and humidity comfort ranges.</a:t>
            </a:r>
          </a:p>
        </p:txBody>
      </p:sp>
      <p:sp>
        <p:nvSpPr>
          <p:cNvPr id="10" name="">
            <a:extLst xmlns:a="http://schemas.openxmlformats.org/drawingml/2006/main">
              <a:ext uri="{FF2B5EF4-FFF2-40B4-BE49-F238E27FC236}">
                <a16:creationId xmlns:a16="http://schemas.microsoft.com/office/drawing/2014/main" id="{4D2BE4F6-D143-4733-AF63-B6C88C391BE4}"/>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Simple navigation</a:t>
            </a:r>
          </a:p>
        </p:txBody>
      </p:sp>
      <p:sp>
        <p:nvSpPr>
          <p:cNvPr id="11" name="">
            <a:extLst xmlns:a="http://schemas.openxmlformats.org/drawingml/2006/main">
              <a:ext uri="{FF2B5EF4-FFF2-40B4-BE49-F238E27FC236}">
                <a16:creationId xmlns:a16="http://schemas.microsoft.com/office/drawing/2014/main" id="{3C79C1CE-8812-489C-A70F-D9FEFDCB5A2D}"/>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HOME, CHARTS, PRINTER 3D, ALERTS and</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OTHER remain accessible.</a:t>
            </a:r>
          </a:p>
        </p:txBody>
      </p:sp>
    </p:spTree>
    <p:extLst>
      <p:ext uri="{BB962C8B-B14F-4D97-AF65-F5344CB8AC3E}">
        <p14:creationId xmlns:p14="http://schemas.microsoft.com/office/powerpoint/2010/main" val="1248533926"/>
      </p:ext>
    </p:extLst>
  </p:cSld>
</p:sld>
</file>

<file path=ppt/slides/slide5.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7B7530B-1F93-4363-89FE-90885298F445}"/>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434C4A59-59A1-40E3-9CEE-BC72D085FC55}"/>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Charts: following the trends</a:t>
            </a:r>
          </a:p>
        </p:txBody>
      </p:sp>
      <p:sp>
        <p:nvSpPr>
          <p:cNvPr id="3" name="">
            <a:extLst xmlns:a="http://schemas.openxmlformats.org/drawingml/2006/main">
              <a:ext uri="{FF2B5EF4-FFF2-40B4-BE49-F238E27FC236}">
                <a16:creationId xmlns:a16="http://schemas.microsoft.com/office/drawing/2014/main" id="{A65F9452-ECAC-482A-86D1-A8EBD83F4618}"/>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0022BF1D-3FA3-414E-A8FA-8DBF612950D3}"/>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05</a:t>
            </a:r>
          </a:p>
        </p:txBody>
      </p:sp>
      <p:pic>
        <p:nvPicPr>
          <p:cNvPr id="5" name="">
            <a:extLst xmlns:a="http://schemas.openxmlformats.org/drawingml/2006/main">
              <a:ext uri="{FF2B5EF4-FFF2-40B4-BE49-F238E27FC236}">
                <a16:creationId xmlns:a16="http://schemas.microsoft.com/office/drawing/2014/main" id="{A49D7899-0D00-46C2-B838-96889C0502AC}"/>
              </a:ext>
            </a:extLst>
          </p:cNvPr>
          <p:cNvPicPr>
            <a:picLocks xmlns:a="http://schemas.openxmlformats.org/drawingml/2006/main" noChangeAspect="1"/>
          </p:cNvPicPr>
          <p:nvPr/>
        </p:nvPicPr>
        <p:blipFill>
          <a:blip xmlns:r="http://schemas.openxmlformats.org/officeDocument/2006/relationships" xmlns:a="http://schemas.openxmlformats.org/drawingml/2006/main" r:embed="Rf1f52cb660fa4de9"/>
          <a:stretch xmlns:a="http://schemas.openxmlformats.org/drawingml/2006/main"/>
        </p:blipFill>
        <p:spPr>
          <a:xfrm xmlns:a="http://schemas.openxmlformats.org/drawingml/2006/main">
            <a:off x="1180703" y="1435100"/>
            <a:ext cx="5576094"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B614A17-92FB-48FD-B9D7-61B956D1F0A2}"/>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Time windows</a:t>
            </a:r>
          </a:p>
        </p:txBody>
      </p:sp>
      <p:sp>
        <p:nvSpPr>
          <p:cNvPr id="7" name="">
            <a:extLst xmlns:a="http://schemas.openxmlformats.org/drawingml/2006/main">
              <a:ext uri="{FF2B5EF4-FFF2-40B4-BE49-F238E27FC236}">
                <a16:creationId xmlns:a16="http://schemas.microsoft.com/office/drawing/2014/main" id="{46DF255C-EB4E-4BF3-BE5C-25F43A21F2FE}"/>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2, 6, 12 and 24-hour views, with a light grid and</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integer labels on the vertical axis.</a:t>
            </a:r>
          </a:p>
        </p:txBody>
      </p:sp>
      <p:sp>
        <p:nvSpPr>
          <p:cNvPr id="8" name="">
            <a:extLst xmlns:a="http://schemas.openxmlformats.org/drawingml/2006/main">
              <a:ext uri="{FF2B5EF4-FFF2-40B4-BE49-F238E27FC236}">
                <a16:creationId xmlns:a16="http://schemas.microsoft.com/office/drawing/2014/main" id="{A5226513-474F-4890-9B77-0318FD1C002F}"/>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Information retained</a:t>
            </a:r>
          </a:p>
        </p:txBody>
      </p:sp>
      <p:sp>
        <p:nvSpPr>
          <p:cNvPr id="9" name="">
            <a:extLst xmlns:a="http://schemas.openxmlformats.org/drawingml/2006/main">
              <a:ext uri="{FF2B5EF4-FFF2-40B4-BE49-F238E27FC236}">
                <a16:creationId xmlns:a16="http://schemas.microsoft.com/office/drawing/2014/main" id="{D3ADB07A-0041-46CC-AFB0-8EAF233BF814}"/>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The current reading, statistics and reference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information remain below the chart.</a:t>
            </a:r>
          </a:p>
        </p:txBody>
      </p:sp>
      <p:sp>
        <p:nvSpPr>
          <p:cNvPr id="10" name="">
            <a:extLst xmlns:a="http://schemas.openxmlformats.org/drawingml/2006/main">
              <a:ext uri="{FF2B5EF4-FFF2-40B4-BE49-F238E27FC236}">
                <a16:creationId xmlns:a16="http://schemas.microsoft.com/office/drawing/2014/main" id="{420CB66C-E086-40C5-9B3D-061985499BF3}"/>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Relevant averages</a:t>
            </a:r>
          </a:p>
        </p:txBody>
      </p:sp>
      <p:sp>
        <p:nvSpPr>
          <p:cNvPr id="11" name="">
            <a:extLst xmlns:a="http://schemas.openxmlformats.org/drawingml/2006/main">
              <a:ext uri="{FF2B5EF4-FFF2-40B4-BE49-F238E27FC236}">
                <a16:creationId xmlns:a16="http://schemas.microsoft.com/office/drawing/2014/main" id="{C94D72CD-397C-4A8E-B7A5-D6DEA0CBF401}"/>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PM2.5 and PM10: 24 hours. HCHO: 30 minutes.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Incomplete periods are identified.</a:t>
            </a:r>
          </a:p>
        </p:txBody>
      </p:sp>
      <p:sp>
        <p:nvSpPr>
          <p:cNvPr id="12" name="">
            <a:extLst xmlns:a="http://schemas.openxmlformats.org/drawingml/2006/main">
              <a:ext uri="{FF2B5EF4-FFF2-40B4-BE49-F238E27FC236}">
                <a16:creationId xmlns:a16="http://schemas.microsoft.com/office/drawing/2014/main" id="{E517F011-8AB5-4059-A6A1-E5CA27E809AE}"/>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Chart history uses volatile memory; microSD provides persistent recording. Averaging does not make the device a regulatory instrument.</a:t>
            </a:r>
          </a:p>
        </p:txBody>
      </p:sp>
    </p:spTree>
    <p:extLst>
      <p:ext uri="{BB962C8B-B14F-4D97-AF65-F5344CB8AC3E}">
        <p14:creationId xmlns:p14="http://schemas.microsoft.com/office/powerpoint/2010/main" val="1212140113"/>
      </p:ext>
    </p:extLst>
  </p:cSld>
</p:sld>
</file>

<file path=ppt/slides/slide6.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53A5CC-20D2-4389-8535-749757248E0E}"/>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F477EABE-B1BB-434C-9594-253989BEB8B9}"/>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Printing in its environmental context</a:t>
            </a:r>
          </a:p>
        </p:txBody>
      </p:sp>
      <p:sp>
        <p:nvSpPr>
          <p:cNvPr id="3" name="">
            <a:extLst xmlns:a="http://schemas.openxmlformats.org/drawingml/2006/main">
              <a:ext uri="{FF2B5EF4-FFF2-40B4-BE49-F238E27FC236}">
                <a16:creationId xmlns:a16="http://schemas.microsoft.com/office/drawing/2014/main" id="{21956415-B29C-4AC1-A9C2-3127A594374C}"/>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F912135F-83E9-46A1-A5E8-54694D342C95}"/>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06</a:t>
            </a:r>
          </a:p>
        </p:txBody>
      </p:sp>
      <p:pic>
        <p:nvPicPr>
          <p:cNvPr id="5" name="">
            <a:extLst xmlns:a="http://schemas.openxmlformats.org/drawingml/2006/main">
              <a:ext uri="{FF2B5EF4-FFF2-40B4-BE49-F238E27FC236}">
                <a16:creationId xmlns:a16="http://schemas.microsoft.com/office/drawing/2014/main" id="{8D4EB6E4-334E-4631-A7A4-FAB018152E01}"/>
              </a:ext>
            </a:extLst>
          </p:cNvPr>
          <p:cNvPicPr>
            <a:picLocks xmlns:a="http://schemas.openxmlformats.org/drawingml/2006/main" noChangeAspect="1"/>
          </p:cNvPicPr>
          <p:nvPr/>
        </p:nvPicPr>
        <p:blipFill>
          <a:blip xmlns:r="http://schemas.openxmlformats.org/officeDocument/2006/relationships" xmlns:a="http://schemas.openxmlformats.org/drawingml/2006/main" r:embed="R54312adfe4694563"/>
          <a:stretch xmlns:a="http://schemas.openxmlformats.org/drawingml/2006/main"/>
        </p:blipFill>
        <p:spPr>
          <a:xfrm xmlns:a="http://schemas.openxmlformats.org/drawingml/2006/main">
            <a:off x="1239708" y="1435100"/>
            <a:ext cx="5458083"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AB23CA0-1211-4D27-B701-18569FD4004E}"/>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Before, during and peak</a:t>
            </a:r>
          </a:p>
        </p:txBody>
      </p:sp>
      <p:sp>
        <p:nvSpPr>
          <p:cNvPr id="7" name="">
            <a:extLst xmlns:a="http://schemas.openxmlformats.org/drawingml/2006/main">
              <a:ext uri="{FF2B5EF4-FFF2-40B4-BE49-F238E27FC236}">
                <a16:creationId xmlns:a16="http://schemas.microsoft.com/office/drawing/2014/main" id="{5C93640A-3391-4269-8D29-E8EF9DC85268}"/>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Compare the selected parameter with the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preceding period and the session readings.</a:t>
            </a:r>
          </a:p>
        </p:txBody>
      </p:sp>
      <p:sp>
        <p:nvSpPr>
          <p:cNvPr id="8" name="">
            <a:extLst xmlns:a="http://schemas.openxmlformats.org/drawingml/2006/main">
              <a:ext uri="{FF2B5EF4-FFF2-40B4-BE49-F238E27FC236}">
                <a16:creationId xmlns:a16="http://schemas.microsoft.com/office/drawing/2014/main" id="{2F2763DD-4060-4EB3-9E47-A273737DE43D}"/>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Overall status</a:t>
            </a:r>
          </a:p>
        </p:txBody>
      </p:sp>
      <p:sp>
        <p:nvSpPr>
          <p:cNvPr id="9" name="">
            <a:extLst xmlns:a="http://schemas.openxmlformats.org/drawingml/2006/main">
              <a:ext uri="{FF2B5EF4-FFF2-40B4-BE49-F238E27FC236}">
                <a16:creationId xmlns:a16="http://schemas.microsoft.com/office/drawing/2014/main" id="{EEDBA2F6-5CE1-44F9-BB38-917BA368831E}"/>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 bar summarises assessable parameters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against the configured thresholds.</a:t>
            </a:r>
          </a:p>
        </p:txBody>
      </p:sp>
      <p:sp>
        <p:nvSpPr>
          <p:cNvPr id="10" name="">
            <a:extLst xmlns:a="http://schemas.openxmlformats.org/drawingml/2006/main">
              <a:ext uri="{FF2B5EF4-FFF2-40B4-BE49-F238E27FC236}">
                <a16:creationId xmlns:a16="http://schemas.microsoft.com/office/drawing/2014/main" id="{BA1C9173-40ED-4A39-BA87-8E5716C5F9F9}"/>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Interpreting a correlation</a:t>
            </a:r>
          </a:p>
        </p:txBody>
      </p:sp>
      <p:sp>
        <p:nvSpPr>
          <p:cNvPr id="11" name="">
            <a:extLst xmlns:a="http://schemas.openxmlformats.org/drawingml/2006/main">
              <a:ext uri="{FF2B5EF4-FFF2-40B4-BE49-F238E27FC236}">
                <a16:creationId xmlns:a16="http://schemas.microsoft.com/office/drawing/2014/main" id="{12116C97-49EF-435D-BB14-2711AD902CB0}"/>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Simultaneous changes do not prove the printer is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the only cause.</a:t>
            </a:r>
          </a:p>
        </p:txBody>
      </p:sp>
      <p:sp>
        <p:nvSpPr>
          <p:cNvPr id="12" name="">
            <a:extLst xmlns:a="http://schemas.openxmlformats.org/drawingml/2006/main">
              <a:ext uri="{FF2B5EF4-FFF2-40B4-BE49-F238E27FC236}">
                <a16:creationId xmlns:a16="http://schemas.microsoft.com/office/drawing/2014/main" id="{5EA4F88D-C9E9-413B-BC9A-783DC2B517E2}"/>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A session started after printing began, or containing data gaps, is identified as partial.</a:t>
            </a:r>
          </a:p>
        </p:txBody>
      </p:sp>
    </p:spTree>
    <p:extLst>
      <p:ext uri="{BB962C8B-B14F-4D97-AF65-F5344CB8AC3E}">
        <p14:creationId xmlns:p14="http://schemas.microsoft.com/office/powerpoint/2010/main" val="922714728"/>
      </p:ext>
    </p:extLst>
  </p:cSld>
</p:sld>
</file>

<file path=ppt/slides/slide7.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96423FE-EA57-4F2F-996A-951FC80759EC}"/>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754F9FEA-E488-4CC3-AB25-E76025157100}"/>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The complete PRINTER 3D page</a:t>
            </a:r>
          </a:p>
        </p:txBody>
      </p:sp>
      <p:sp>
        <p:nvSpPr>
          <p:cNvPr id="3" name="">
            <a:extLst xmlns:a="http://schemas.openxmlformats.org/drawingml/2006/main">
              <a:ext uri="{FF2B5EF4-FFF2-40B4-BE49-F238E27FC236}">
                <a16:creationId xmlns:a16="http://schemas.microsoft.com/office/drawing/2014/main" id="{4E4FB4EC-48C7-407D-8401-89E1EDFC0919}"/>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040229C2-EB83-40F0-AD32-A9D3D1FEFFDB}"/>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07</a:t>
            </a:r>
          </a:p>
        </p:txBody>
      </p:sp>
      <p:pic>
        <p:nvPicPr>
          <p:cNvPr id="5" name="">
            <a:extLst xmlns:a="http://schemas.openxmlformats.org/drawingml/2006/main">
              <a:ext uri="{FF2B5EF4-FFF2-40B4-BE49-F238E27FC236}">
                <a16:creationId xmlns:a16="http://schemas.microsoft.com/office/drawing/2014/main" id="{3317FE95-EBA0-4816-9817-90765B3D25C4}"/>
              </a:ext>
            </a:extLst>
          </p:cNvPr>
          <p:cNvPicPr>
            <a:picLocks xmlns:a="http://schemas.openxmlformats.org/drawingml/2006/main" noChangeAspect="1"/>
          </p:cNvPicPr>
          <p:nvPr/>
        </p:nvPicPr>
        <p:blipFill>
          <a:blip xmlns:r="http://schemas.openxmlformats.org/officeDocument/2006/relationships" xmlns:a="http://schemas.openxmlformats.org/drawingml/2006/main" r:embed="R106fed47c10d419e"/>
          <a:stretch xmlns:a="http://schemas.openxmlformats.org/drawingml/2006/main"/>
        </p:blipFill>
        <p:spPr>
          <a:xfrm xmlns:a="http://schemas.openxmlformats.org/drawingml/2006/main">
            <a:off x="381000" y="1480437"/>
            <a:ext cx="7175500" cy="43543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5919031-C19E-4F88-BF95-FB12841A2887}"/>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Tested printer</a:t>
            </a:r>
          </a:p>
        </p:txBody>
      </p:sp>
      <p:sp>
        <p:nvSpPr>
          <p:cNvPr id="7" name="">
            <a:extLst xmlns:a="http://schemas.openxmlformats.org/drawingml/2006/main">
              <a:ext uri="{FF2B5EF4-FFF2-40B4-BE49-F238E27FC236}">
                <a16:creationId xmlns:a16="http://schemas.microsoft.com/office/drawing/2014/main" id="{AEB2B94F-9FEB-4C5D-9409-968FED67D7A7}"/>
              </a:ext>
            </a:extLst>
          </p:cNvPr>
          <p:cNvSpPr>
            <a:spLocks xmlns:a="http://schemas.openxmlformats.org/drawingml/2006/main" noGrp="1"/>
          </p:cNvSpPr>
          <p:nvPr/>
        </p:nvSpPr>
        <p:spPr>
          <a:xfrm xmlns:a="http://schemas.openxmlformats.org/drawingml/2006/main">
            <a:off x="7950200" y="1919605"/>
            <a:ext cx="3784600" cy="4718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75" b="0">
                <a:solidFill>
                  <a:srgbClr val="F6F8FC"/>
                </a:solidFill>
                <a:latin typeface="Arial"/>
                <a:ea typeface="Arial"/>
                <a:cs typeface="Arial"/>
              </a:defRPr>
            </a:defPPr>
            <a:lvl1pPr>
              <a:buNone/>
              <a:defRPr sz="1275" b="0">
                <a:solidFill>
                  <a:srgbClr val="F6F8FC"/>
                </a:solidFill>
                <a:latin typeface="Arial"/>
                <a:ea typeface="Arial"/>
                <a:cs typeface="Arial"/>
              </a:defRPr>
            </a:lvl1pPr>
            <a:lvl2pPr>
              <a:buNone/>
              <a:defRPr sz="1275" b="0">
                <a:solidFill>
                  <a:srgbClr val="F6F8FC"/>
                </a:solidFill>
                <a:latin typeface="Arial"/>
                <a:ea typeface="Arial"/>
                <a:cs typeface="Arial"/>
              </a:defRPr>
            </a:lvl2pPr>
            <a:lvl3pPr>
              <a:buNone/>
              <a:defRPr sz="1275" b="0">
                <a:solidFill>
                  <a:srgbClr val="F6F8FC"/>
                </a:solidFill>
                <a:latin typeface="Arial"/>
                <a:ea typeface="Arial"/>
                <a:cs typeface="Arial"/>
              </a:defRPr>
            </a:lvl3pPr>
            <a:lvl4pPr>
              <a:buNone/>
              <a:defRPr sz="1275" b="0">
                <a:solidFill>
                  <a:srgbClr val="F6F8FC"/>
                </a:solidFill>
                <a:latin typeface="Arial"/>
                <a:ea typeface="Arial"/>
                <a:cs typeface="Arial"/>
              </a:defRPr>
            </a:lvl4pPr>
            <a:lvl5pPr>
              <a:buNone/>
              <a:defRPr sz="1275" b="0">
                <a:solidFill>
                  <a:srgbClr val="F6F8FC"/>
                </a:solidFill>
                <a:latin typeface="Arial"/>
                <a:ea typeface="Arial"/>
                <a:cs typeface="Arial"/>
              </a:defRPr>
            </a:lvl5pPr>
            <a:lvl6pPr>
              <a:buNone/>
              <a:defRPr sz="1275" b="0">
                <a:solidFill>
                  <a:srgbClr val="F6F8FC"/>
                </a:solidFill>
                <a:latin typeface="Arial"/>
                <a:ea typeface="Arial"/>
                <a:cs typeface="Arial"/>
              </a:defRPr>
            </a:lvl6pPr>
            <a:lvl7pPr>
              <a:buNone/>
              <a:defRPr sz="1275" b="0">
                <a:solidFill>
                  <a:srgbClr val="F6F8FC"/>
                </a:solidFill>
                <a:latin typeface="Arial"/>
                <a:ea typeface="Arial"/>
                <a:cs typeface="Arial"/>
              </a:defRPr>
            </a:lvl7pPr>
            <a:lvl8pPr>
              <a:buNone/>
              <a:defRPr sz="1275" b="0">
                <a:solidFill>
                  <a:srgbClr val="F6F8FC"/>
                </a:solidFill>
                <a:latin typeface="Arial"/>
                <a:ea typeface="Arial"/>
                <a:cs typeface="Arial"/>
              </a:defRPr>
            </a:lvl8pPr>
            <a:lvl9pPr>
              <a:buNone/>
              <a:defRPr sz="1275" b="0">
                <a:solidFill>
                  <a:srgbClr val="F6F8FC"/>
                </a:solidFill>
                <a:latin typeface="Arial"/>
                <a:ea typeface="Arial"/>
                <a:cs typeface="Arial"/>
              </a:defRPr>
            </a:lvl9pPr>
          </a:lstStyle>
          <a:p xmlns:a="http://schemas.openxmlformats.org/drawingml/2006/main">
            <a:pPr>
              <a:buNone/>
              <a:defRPr sz="1275" b="0">
                <a:solidFill>
                  <a:srgbClr val="F6F8FC"/>
                </a:solidFill>
                <a:latin typeface="Arial"/>
                <a:ea typeface="Arial"/>
                <a:cs typeface="Arial"/>
              </a:defRPr>
            </a:pPr>
            <a:r>
              <a:rPr sz="1275" b="0">
                <a:solidFill>
                  <a:srgbClr val="F6F8FC"/>
                </a:solidFill>
                <a:latin typeface="Arial"/>
                <a:ea typeface="Arial"/>
                <a:cs typeface="Arial"/>
              </a:rPr>
              <a:t>One Bambu Lab on the local network. A1 tested; X1 Carbon connectivity verified.</a:t>
            </a:r>
          </a:p>
        </p:txBody>
      </p:sp>
      <p:sp>
        <p:nvSpPr>
          <p:cNvPr id="8" name="">
            <a:extLst xmlns:a="http://schemas.openxmlformats.org/drawingml/2006/main">
              <a:ext uri="{FF2B5EF4-FFF2-40B4-BE49-F238E27FC236}">
                <a16:creationId xmlns:a16="http://schemas.microsoft.com/office/drawing/2014/main" id="{7474F893-7274-44A2-9FAB-9938CBCE6149}"/>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Print information</a:t>
            </a:r>
          </a:p>
        </p:txBody>
      </p:sp>
      <p:sp>
        <p:nvSpPr>
          <p:cNvPr id="9" name="">
            <a:extLst xmlns:a="http://schemas.openxmlformats.org/drawingml/2006/main">
              <a:ext uri="{FF2B5EF4-FFF2-40B4-BE49-F238E27FC236}">
                <a16:creationId xmlns:a16="http://schemas.microsoft.com/office/drawing/2014/main" id="{94AAA9BD-D7C2-4097-ADE5-6F7B18FB3AE0}"/>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Preview, progress, layers, remaining time,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temperatures and filament, when available.</a:t>
            </a:r>
          </a:p>
        </p:txBody>
      </p:sp>
      <p:sp>
        <p:nvSpPr>
          <p:cNvPr id="10" name="">
            <a:extLst xmlns:a="http://schemas.openxmlformats.org/drawingml/2006/main">
              <a:ext uri="{FF2B5EF4-FFF2-40B4-BE49-F238E27FC236}">
                <a16:creationId xmlns:a16="http://schemas.microsoft.com/office/drawing/2014/main" id="{722C0C64-96F5-4A59-BF6C-56B7BA0A7348}"/>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Data continuity</a:t>
            </a:r>
          </a:p>
        </p:txBody>
      </p:sp>
      <p:sp>
        <p:nvSpPr>
          <p:cNvPr id="11" name="">
            <a:extLst xmlns:a="http://schemas.openxmlformats.org/drawingml/2006/main">
              <a:ext uri="{FF2B5EF4-FFF2-40B4-BE49-F238E27FC236}">
                <a16:creationId xmlns:a16="http://schemas.microsoft.com/office/drawing/2014/main" id="{34F9E4AB-156A-4CFE-BB93-329B6C287B48}"/>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After a disconnection, retained readings remain</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distinguishable from fresh data.</a:t>
            </a:r>
          </a:p>
        </p:txBody>
      </p:sp>
      <p:sp>
        <p:nvSpPr>
          <p:cNvPr id="12" name="">
            <a:extLst xmlns:a="http://schemas.openxmlformats.org/drawingml/2006/main">
              <a:ext uri="{FF2B5EF4-FFF2-40B4-BE49-F238E27FC236}">
                <a16:creationId xmlns:a16="http://schemas.microsoft.com/office/drawing/2014/main" id="{5A65C43F-AC70-468B-BA26-A1B6978D8575}"/>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The connection is for monitoring: GUARDIAN does not stop the printer. Preview and job name depend on the data and file available on the printer.</a:t>
            </a:r>
          </a:p>
        </p:txBody>
      </p:sp>
    </p:spTree>
    <p:extLst>
      <p:ext uri="{BB962C8B-B14F-4D97-AF65-F5344CB8AC3E}">
        <p14:creationId xmlns:p14="http://schemas.microsoft.com/office/powerpoint/2010/main" val="858303899"/>
      </p:ext>
    </p:extLst>
  </p:cSld>
</p:sld>
</file>

<file path=ppt/slides/slide8.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8A9AB9-FA5C-4C6A-9B20-1DC9DEA55462}"/>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8C356297-B677-49C1-A3A5-1B8C6F23D833}"/>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Alerts and comfort serve different purposes</a:t>
            </a:r>
          </a:p>
        </p:txBody>
      </p:sp>
      <p:sp>
        <p:nvSpPr>
          <p:cNvPr id="3" name="">
            <a:extLst xmlns:a="http://schemas.openxmlformats.org/drawingml/2006/main">
              <a:ext uri="{FF2B5EF4-FFF2-40B4-BE49-F238E27FC236}">
                <a16:creationId xmlns:a16="http://schemas.microsoft.com/office/drawing/2014/main" id="{8F8BD44F-D8A0-400A-AF6A-201EB637EBA8}"/>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C3AB0A3B-1896-420F-9251-9C149511598F}"/>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08</a:t>
            </a:r>
          </a:p>
        </p:txBody>
      </p:sp>
      <p:pic>
        <p:nvPicPr>
          <p:cNvPr id="5" name="">
            <a:extLst xmlns:a="http://schemas.openxmlformats.org/drawingml/2006/main">
              <a:ext uri="{FF2B5EF4-FFF2-40B4-BE49-F238E27FC236}">
                <a16:creationId xmlns:a16="http://schemas.microsoft.com/office/drawing/2014/main" id="{64392AB5-58E7-421B-8A98-49CE84F78C0A}"/>
              </a:ext>
            </a:extLst>
          </p:cNvPr>
          <p:cNvPicPr>
            <a:picLocks xmlns:a="http://schemas.openxmlformats.org/drawingml/2006/main" noChangeAspect="1"/>
          </p:cNvPicPr>
          <p:nvPr/>
        </p:nvPicPr>
        <p:blipFill>
          <a:blip xmlns:r="http://schemas.openxmlformats.org/officeDocument/2006/relationships" xmlns:a="http://schemas.openxmlformats.org/drawingml/2006/main" r:embed="R6dc59b6c5eb54ce3"/>
          <a:stretch xmlns:a="http://schemas.openxmlformats.org/drawingml/2006/main"/>
        </p:blipFill>
        <p:spPr>
          <a:xfrm xmlns:a="http://schemas.openxmlformats.org/drawingml/2006/main">
            <a:off x="1115839" y="1435100"/>
            <a:ext cx="5705822"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D217AC5-67FA-441B-847F-8C560CDA5242}"/>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Alert centre</a:t>
            </a:r>
          </a:p>
        </p:txBody>
      </p:sp>
      <p:sp>
        <p:nvSpPr>
          <p:cNvPr id="7" name="">
            <a:extLst xmlns:a="http://schemas.openxmlformats.org/drawingml/2006/main">
              <a:ext uri="{FF2B5EF4-FFF2-40B4-BE49-F238E27FC236}">
                <a16:creationId xmlns:a16="http://schemas.microsoft.com/office/drawing/2014/main" id="{BC083AC8-4A61-4518-8991-BFD22C4DE7C6}"/>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Collects events and shows threshold</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exceedances and conditions requiring attention.</a:t>
            </a:r>
          </a:p>
        </p:txBody>
      </p:sp>
      <p:sp>
        <p:nvSpPr>
          <p:cNvPr id="8" name="">
            <a:extLst xmlns:a="http://schemas.openxmlformats.org/drawingml/2006/main">
              <a:ext uri="{FF2B5EF4-FFF2-40B4-BE49-F238E27FC236}">
                <a16:creationId xmlns:a16="http://schemas.microsoft.com/office/drawing/2014/main" id="{F1AFC050-AEBB-4637-BE6D-8FF28B3235DA}"/>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Personal thresholds</a:t>
            </a:r>
          </a:p>
        </p:txBody>
      </p:sp>
      <p:sp>
        <p:nvSpPr>
          <p:cNvPr id="9" name="">
            <a:extLst xmlns:a="http://schemas.openxmlformats.org/drawingml/2006/main">
              <a:ext uri="{FF2B5EF4-FFF2-40B4-BE49-F238E27FC236}">
                <a16:creationId xmlns:a16="http://schemas.microsoft.com/office/drawing/2014/main" id="{4DFB23CA-A8A9-49CF-88AD-9203EC401BCB}"/>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User-defined operating values are not certified</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health limits.</a:t>
            </a:r>
          </a:p>
        </p:txBody>
      </p:sp>
      <p:sp>
        <p:nvSpPr>
          <p:cNvPr id="10" name="">
            <a:extLst xmlns:a="http://schemas.openxmlformats.org/drawingml/2006/main">
              <a:ext uri="{FF2B5EF4-FFF2-40B4-BE49-F238E27FC236}">
                <a16:creationId xmlns:a16="http://schemas.microsoft.com/office/drawing/2014/main" id="{5DCC6305-C241-4758-A07B-CA1B27382D8C}"/>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Comfort indication</a:t>
            </a:r>
          </a:p>
        </p:txBody>
      </p:sp>
      <p:sp>
        <p:nvSpPr>
          <p:cNvPr id="11" name="">
            <a:extLst xmlns:a="http://schemas.openxmlformats.org/drawingml/2006/main">
              <a:ext uri="{FF2B5EF4-FFF2-40B4-BE49-F238E27FC236}">
                <a16:creationId xmlns:a16="http://schemas.microsoft.com/office/drawing/2014/main" id="{F9BC776D-789F-4DDF-AFB2-6E636C4E58C9}"/>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Temperature or humidity outside the personal</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range generates a comfort indication.</a:t>
            </a:r>
          </a:p>
        </p:txBody>
      </p:sp>
      <p:sp>
        <p:nvSpPr>
          <p:cNvPr id="12" name="">
            <a:extLst xmlns:a="http://schemas.openxmlformats.org/drawingml/2006/main">
              <a:ext uri="{FF2B5EF4-FFF2-40B4-BE49-F238E27FC236}">
                <a16:creationId xmlns:a16="http://schemas.microsoft.com/office/drawing/2014/main" id="{5F3A9100-EFE2-44CF-8101-309EBC91EF6B}"/>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A normally switched-off or idle printer is not treated as a fault. Loss of data during a print is a separate condition.</a:t>
            </a:r>
          </a:p>
        </p:txBody>
      </p:sp>
    </p:spTree>
    <p:extLst>
      <p:ext uri="{BB962C8B-B14F-4D97-AF65-F5344CB8AC3E}">
        <p14:creationId xmlns:p14="http://schemas.microsoft.com/office/powerpoint/2010/main" val="1501918135"/>
      </p:ext>
    </p:extLst>
  </p:cSld>
</p:sld>
</file>

<file path=ppt/slides/slide9.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2454FE-7998-4831-945D-D4AC882D5E3A}"/>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0DCAE984-D951-4C4B-B541-3FE30ADC05D9}"/>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Viewing beyond the device</a:t>
            </a:r>
          </a:p>
        </p:txBody>
      </p:sp>
      <p:sp>
        <p:nvSpPr>
          <p:cNvPr id="3" name="">
            <a:extLst xmlns:a="http://schemas.openxmlformats.org/drawingml/2006/main">
              <a:ext uri="{FF2B5EF4-FFF2-40B4-BE49-F238E27FC236}">
                <a16:creationId xmlns:a16="http://schemas.microsoft.com/office/drawing/2014/main" id="{0AB1D9E7-73F4-4956-B709-F7BE7717C937}"/>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1A94CAA5-DC97-4FB1-BC41-9832786C1EEC}"/>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28E9D6C7-2DB7-44D7-89D2-09AF275D3514}"/>
              </a:ext>
            </a:extLst>
          </p:cNvPr>
          <p:cNvPicPr>
            <a:picLocks xmlns:a="http://schemas.openxmlformats.org/drawingml/2006/main" noChangeAspect="1"/>
          </p:cNvPicPr>
          <p:nvPr/>
        </p:nvPicPr>
        <p:blipFill>
          <a:blip xmlns:r="http://schemas.openxmlformats.org/officeDocument/2006/relationships" xmlns:a="http://schemas.openxmlformats.org/drawingml/2006/main" r:embed="R0d2f1d46058348d9"/>
          <a:stretch xmlns:a="http://schemas.openxmlformats.org/drawingml/2006/main"/>
        </p:blipFill>
        <p:spPr>
          <a:xfrm xmlns:a="http://schemas.openxmlformats.org/drawingml/2006/main">
            <a:off x="1389199" y="1435100"/>
            <a:ext cx="5159102"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9A1EA7C-CCB8-4096-BDF1-67D9C75F43D5}"/>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PC and smartphone</a:t>
            </a:r>
          </a:p>
        </p:txBody>
      </p:sp>
      <p:sp>
        <p:nvSpPr>
          <p:cNvPr id="7" name="">
            <a:extLst xmlns:a="http://schemas.openxmlformats.org/drawingml/2006/main">
              <a:ext uri="{FF2B5EF4-FFF2-40B4-BE49-F238E27FC236}">
                <a16:creationId xmlns:a16="http://schemas.microsoft.com/office/drawing/2014/main" id="{A4584399-7888-4BA2-A78B-EE4D388799C5}"/>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Browser access on the local network; remote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access through your network VPN.</a:t>
            </a:r>
          </a:p>
        </p:txBody>
      </p:sp>
      <p:sp>
        <p:nvSpPr>
          <p:cNvPr id="8" name="">
            <a:extLst xmlns:a="http://schemas.openxmlformats.org/drawingml/2006/main">
              <a:ext uri="{FF2B5EF4-FFF2-40B4-BE49-F238E27FC236}">
                <a16:creationId xmlns:a16="http://schemas.microsoft.com/office/drawing/2014/main" id="{018EBC6D-A5AD-4C8B-8E1D-93DBC2CD0960}"/>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Configuration</a:t>
            </a:r>
          </a:p>
        </p:txBody>
      </p:sp>
      <p:sp>
        <p:nvSpPr>
          <p:cNvPr id="9" name="">
            <a:extLst xmlns:a="http://schemas.openxmlformats.org/drawingml/2006/main">
              <a:ext uri="{FF2B5EF4-FFF2-40B4-BE49-F238E27FC236}">
                <a16:creationId xmlns:a16="http://schemas.microsoft.com/office/drawing/2014/main" id="{4BC2244E-C241-428A-AEF5-2A3F4104FE5A}"/>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Network, time, lighting and the settings available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in the web interface.</a:t>
            </a:r>
          </a:p>
        </p:txBody>
      </p:sp>
      <p:sp>
        <p:nvSpPr>
          <p:cNvPr id="10" name="">
            <a:extLst xmlns:a="http://schemas.openxmlformats.org/drawingml/2006/main">
              <a:ext uri="{FF2B5EF4-FFF2-40B4-BE49-F238E27FC236}">
                <a16:creationId xmlns:a16="http://schemas.microsoft.com/office/drawing/2014/main" id="{315975B8-600A-4F61-9233-9DFD7CB47E2E}"/>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Device identification</a:t>
            </a:r>
          </a:p>
        </p:txBody>
      </p:sp>
      <p:sp>
        <p:nvSpPr>
          <p:cNvPr id="11" name="">
            <a:extLst xmlns:a="http://schemas.openxmlformats.org/drawingml/2006/main">
              <a:ext uri="{FF2B5EF4-FFF2-40B4-BE49-F238E27FC236}">
                <a16:creationId xmlns:a16="http://schemas.microsoft.com/office/drawing/2014/main" id="{81215632-A884-40BE-B8E1-F732F8326EE0}"/>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The NETWORK page shows the device address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and numerical Wi-Fi signal strength.</a:t>
            </a:r>
          </a:p>
        </p:txBody>
      </p:sp>
      <p:sp>
        <p:nvSpPr>
          <p:cNvPr id="12" name="">
            <a:extLst xmlns:a="http://schemas.openxmlformats.org/drawingml/2006/main">
              <a:ext uri="{FF2B5EF4-FFF2-40B4-BE49-F238E27FC236}">
                <a16:creationId xmlns:a16="http://schemas.microsoft.com/office/drawing/2014/main" id="{3C68E803-ED61-4331-B6CB-E036668BAC4B}"/>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Anonymised photograph with example details. The local web service uses HTTP: do not expose it directly to the Internet.</a:t>
            </a:r>
          </a:p>
        </p:txBody>
      </p:sp>
    </p:spTree>
    <p:extLst>
      <p:ext uri="{BB962C8B-B14F-4D97-AF65-F5344CB8AC3E}">
        <p14:creationId xmlns:p14="http://schemas.microsoft.com/office/powerpoint/2010/main" val="751098252"/>
      </p:ext>
    </p:extLst>
  </p:cSld>
</p:sld>
</file>

<file path=ppt/slides/slide10.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B8B2C3-9786-4969-B790-C3245D070A05}"/>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1FFF138D-0CC0-471B-BF70-8CC19A24BF91}"/>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Lighting and time settings</a:t>
            </a:r>
          </a:p>
        </p:txBody>
      </p:sp>
      <p:sp>
        <p:nvSpPr>
          <p:cNvPr id="3" name="">
            <a:extLst xmlns:a="http://schemas.openxmlformats.org/drawingml/2006/main">
              <a:ext uri="{FF2B5EF4-FFF2-40B4-BE49-F238E27FC236}">
                <a16:creationId xmlns:a16="http://schemas.microsoft.com/office/drawing/2014/main" id="{03AD403E-C545-471B-B6C3-3E4CCB1A2723}"/>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1B886634-3C2B-44E6-A1B7-DC9257C78E41}"/>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10</a:t>
            </a:r>
          </a:p>
        </p:txBody>
      </p:sp>
      <p:pic>
        <p:nvPicPr>
          <p:cNvPr id="5" name="">
            <a:extLst xmlns:a="http://schemas.openxmlformats.org/drawingml/2006/main">
              <a:ext uri="{FF2B5EF4-FFF2-40B4-BE49-F238E27FC236}">
                <a16:creationId xmlns:a16="http://schemas.microsoft.com/office/drawing/2014/main" id="{51FAADC4-0A02-4C02-9B5B-504239516355}"/>
              </a:ext>
            </a:extLst>
          </p:cNvPr>
          <p:cNvPicPr>
            <a:picLocks xmlns:a="http://schemas.openxmlformats.org/drawingml/2006/main" noChangeAspect="1"/>
          </p:cNvPicPr>
          <p:nvPr/>
        </p:nvPicPr>
        <p:blipFill>
          <a:blip xmlns:r="http://schemas.openxmlformats.org/officeDocument/2006/relationships" xmlns:a="http://schemas.openxmlformats.org/drawingml/2006/main" r:embed="R5a0f59b31e974536"/>
          <a:stretch xmlns:a="http://schemas.openxmlformats.org/drawingml/2006/main"/>
        </p:blipFill>
        <p:spPr>
          <a:xfrm xmlns:a="http://schemas.openxmlformats.org/drawingml/2006/main">
            <a:off x="1088777" y="1435100"/>
            <a:ext cx="5759946"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B823384-E9E6-4879-ACB8-49DC5D8B2D36}"/>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Manual</a:t>
            </a:r>
          </a:p>
        </p:txBody>
      </p:sp>
      <p:sp>
        <p:nvSpPr>
          <p:cNvPr id="7" name="">
            <a:extLst xmlns:a="http://schemas.openxmlformats.org/drawingml/2006/main">
              <a:ext uri="{FF2B5EF4-FFF2-40B4-BE49-F238E27FC236}">
                <a16:creationId xmlns:a16="http://schemas.microsoft.com/office/drawing/2014/main" id="{B1A783F1-58C3-43D1-BB25-94F854532C79}"/>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Adjust brightness from the display or smartphone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browser.</a:t>
            </a:r>
          </a:p>
        </p:txBody>
      </p:sp>
      <p:sp>
        <p:nvSpPr>
          <p:cNvPr id="8" name="">
            <a:extLst xmlns:a="http://schemas.openxmlformats.org/drawingml/2006/main">
              <a:ext uri="{FF2B5EF4-FFF2-40B4-BE49-F238E27FC236}">
                <a16:creationId xmlns:a16="http://schemas.microsoft.com/office/drawing/2014/main" id="{6CB9A2A9-B649-4D54-A6CE-0AD24B1BDECC}"/>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Automatic</a:t>
            </a:r>
          </a:p>
        </p:txBody>
      </p:sp>
      <p:sp>
        <p:nvSpPr>
          <p:cNvPr id="9" name="">
            <a:extLst xmlns:a="http://schemas.openxmlformats.org/drawingml/2006/main">
              <a:ext uri="{FF2B5EF4-FFF2-40B4-BE49-F238E27FC236}">
                <a16:creationId xmlns:a16="http://schemas.microsoft.com/office/drawing/2014/main" id="{58D9753E-C17A-4BE0-AF98-1237B42D84EE}"/>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Day/night brightness with start and stop times,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including periods crossing midnight.</a:t>
            </a:r>
          </a:p>
        </p:txBody>
      </p:sp>
      <p:sp>
        <p:nvSpPr>
          <p:cNvPr id="10" name="">
            <a:extLst xmlns:a="http://schemas.openxmlformats.org/drawingml/2006/main">
              <a:ext uri="{FF2B5EF4-FFF2-40B4-BE49-F238E27FC236}">
                <a16:creationId xmlns:a16="http://schemas.microsoft.com/office/drawing/2014/main" id="{4CA90105-9091-4E5C-AD48-6469AD15B5F7}"/>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Time zone</a:t>
            </a:r>
          </a:p>
        </p:txBody>
      </p:sp>
      <p:sp>
        <p:nvSpPr>
          <p:cNvPr id="11" name="">
            <a:extLst xmlns:a="http://schemas.openxmlformats.org/drawingml/2006/main">
              <a:ext uri="{FF2B5EF4-FFF2-40B4-BE49-F238E27FC236}">
                <a16:creationId xmlns:a16="http://schemas.microsoft.com/office/drawing/2014/main" id="{802A6F41-AF07-4148-BC9A-575613435D14}"/>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Select a time-zone profile; daylight saving follows</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the selected profile.</a:t>
            </a:r>
          </a:p>
        </p:txBody>
      </p:sp>
    </p:spTree>
    <p:extLst>
      <p:ext uri="{BB962C8B-B14F-4D97-AF65-F5344CB8AC3E}">
        <p14:creationId xmlns:p14="http://schemas.microsoft.com/office/powerpoint/2010/main" val="1922629646"/>
      </p:ext>
    </p:extLst>
  </p:cSld>
</p:sld>
</file>

<file path=ppt/slides/slide11.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37FED5-3C8C-4E8E-B045-F96BCC4E9B96}"/>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177F8100-7C79-474C-8043-01D25E18DD4E}"/>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Keeping a record of the data</a:t>
            </a:r>
          </a:p>
        </p:txBody>
      </p:sp>
      <p:sp>
        <p:nvSpPr>
          <p:cNvPr id="3" name="">
            <a:extLst xmlns:a="http://schemas.openxmlformats.org/drawingml/2006/main">
              <a:ext uri="{FF2B5EF4-FFF2-40B4-BE49-F238E27FC236}">
                <a16:creationId xmlns:a16="http://schemas.microsoft.com/office/drawing/2014/main" id="{D833D048-00D6-4285-BCDA-000E37F3D820}"/>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AA8EDA7A-6A65-4A02-B2D9-48968B47B608}"/>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11</a:t>
            </a:r>
          </a:p>
        </p:txBody>
      </p:sp>
      <p:pic>
        <p:nvPicPr>
          <p:cNvPr id="5" name="">
            <a:extLst xmlns:a="http://schemas.openxmlformats.org/drawingml/2006/main">
              <a:ext uri="{FF2B5EF4-FFF2-40B4-BE49-F238E27FC236}">
                <a16:creationId xmlns:a16="http://schemas.microsoft.com/office/drawing/2014/main" id="{74A814C4-CA28-49EF-9354-446CF7B37483}"/>
              </a:ext>
            </a:extLst>
          </p:cNvPr>
          <p:cNvPicPr>
            <a:picLocks xmlns:a="http://schemas.openxmlformats.org/drawingml/2006/main" noChangeAspect="1"/>
          </p:cNvPicPr>
          <p:nvPr/>
        </p:nvPicPr>
        <p:blipFill>
          <a:blip xmlns:r="http://schemas.openxmlformats.org/officeDocument/2006/relationships" xmlns:a="http://schemas.openxmlformats.org/drawingml/2006/main" r:embed="R4ed7b9fe130c4a93"/>
          <a:stretch xmlns:a="http://schemas.openxmlformats.org/drawingml/2006/main"/>
        </p:blipFill>
        <p:spPr>
          <a:xfrm xmlns:a="http://schemas.openxmlformats.org/drawingml/2006/main">
            <a:off x="1191615" y="1435100"/>
            <a:ext cx="5554269"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0900DD-76C7-4175-B9E3-6CFD4452C824}"/>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microSD</a:t>
            </a:r>
          </a:p>
        </p:txBody>
      </p:sp>
      <p:sp>
        <p:nvSpPr>
          <p:cNvPr id="7" name="">
            <a:extLst xmlns:a="http://schemas.openxmlformats.org/drawingml/2006/main">
              <a:ext uri="{FF2B5EF4-FFF2-40B4-BE49-F238E27FC236}">
                <a16:creationId xmlns:a16="http://schemas.microsoft.com/office/drawing/2014/main" id="{C2AC52BC-06BA-4C6A-855D-FF201B626A7E}"/>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Periodic CSV recording with units and session</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context.</a:t>
            </a:r>
          </a:p>
        </p:txBody>
      </p:sp>
      <p:sp>
        <p:nvSpPr>
          <p:cNvPr id="8" name="">
            <a:extLst xmlns:a="http://schemas.openxmlformats.org/drawingml/2006/main">
              <a:ext uri="{FF2B5EF4-FFF2-40B4-BE49-F238E27FC236}">
                <a16:creationId xmlns:a16="http://schemas.microsoft.com/office/drawing/2014/main" id="{1FE6FF1F-F8F7-4235-8477-A0795F73021F}"/>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Browser download</a:t>
            </a:r>
          </a:p>
        </p:txBody>
      </p:sp>
      <p:sp>
        <p:nvSpPr>
          <p:cNvPr id="9" name="">
            <a:extLst xmlns:a="http://schemas.openxmlformats.org/drawingml/2006/main">
              <a:ext uri="{FF2B5EF4-FFF2-40B4-BE49-F238E27FC236}">
                <a16:creationId xmlns:a16="http://schemas.microsoft.com/office/drawing/2014/main" id="{B4AEA579-E47F-4484-A496-871F7A110F74}"/>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A dedicated current-CSV link and subsequent</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pages for historical files.</a:t>
            </a:r>
          </a:p>
        </p:txBody>
      </p:sp>
      <p:sp>
        <p:nvSpPr>
          <p:cNvPr id="10" name="">
            <a:extLst xmlns:a="http://schemas.openxmlformats.org/drawingml/2006/main">
              <a:ext uri="{FF2B5EF4-FFF2-40B4-BE49-F238E27FC236}">
                <a16:creationId xmlns:a16="http://schemas.microsoft.com/office/drawing/2014/main" id="{84673939-67DE-4DF1-9D5C-CFB035291818}"/>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Local management</a:t>
            </a:r>
          </a:p>
        </p:txBody>
      </p:sp>
      <p:sp>
        <p:nvSpPr>
          <p:cNvPr id="11" name="">
            <a:extLst xmlns:a="http://schemas.openxmlformats.org/drawingml/2006/main">
              <a:ext uri="{FF2B5EF4-FFF2-40B4-BE49-F238E27FC236}">
                <a16:creationId xmlns:a16="http://schemas.microsoft.com/office/drawing/2014/main" id="{A483FFA9-1F40-4C7D-BFA7-C5D8F44F91DD}"/>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Read, test and format the card, with explicit</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confirmation.</a:t>
            </a:r>
          </a:p>
        </p:txBody>
      </p:sp>
      <p:sp>
        <p:nvSpPr>
          <p:cNvPr id="12" name="">
            <a:extLst xmlns:a="http://schemas.openxmlformats.org/drawingml/2006/main">
              <a:ext uri="{FF2B5EF4-FFF2-40B4-BE49-F238E27FC236}">
                <a16:creationId xmlns:a16="http://schemas.microsoft.com/office/drawing/2014/main" id="{E566931C-177D-4AF6-B43C-3B6D458775CD}"/>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FORMAT erases every file on the microSD card.</a:t>
            </a:r>
          </a:p>
        </p:txBody>
      </p:sp>
    </p:spTree>
    <p:extLst>
      <p:ext uri="{BB962C8B-B14F-4D97-AF65-F5344CB8AC3E}">
        <p14:creationId xmlns:p14="http://schemas.microsoft.com/office/powerpoint/2010/main" val="510974080"/>
      </p:ext>
    </p:extLst>
  </p:cSld>
</p:sld>
</file>

<file path=ppt/slides/slide12.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6D40A63-D3DB-4CB8-A45C-FD8419A2E2BF}"/>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FEA1203D-7A73-48CA-B229-35D9303191AF}"/>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A clear technical workflow</a:t>
            </a:r>
          </a:p>
        </p:txBody>
      </p:sp>
      <p:pic>
        <p:nvPicPr>
          <p:cNvPr id="3" name="">
            <a:extLst xmlns:a="http://schemas.openxmlformats.org/drawingml/2006/main">
              <a:ext uri="{FF2B5EF4-FFF2-40B4-BE49-F238E27FC236}">
                <a16:creationId xmlns:a16="http://schemas.microsoft.com/office/drawing/2014/main" id="{DA5FE51E-2E7A-4E6C-8980-5AEADB29E54D}"/>
              </a:ext>
            </a:extLst>
          </p:cNvPr>
          <p:cNvPicPr>
            <a:picLocks xmlns:a="http://schemas.openxmlformats.org/drawingml/2006/main" noChangeAspect="1"/>
          </p:cNvPicPr>
          <p:nvPr/>
        </p:nvPicPr>
        <p:blipFill>
          <a:blip xmlns:r="http://schemas.openxmlformats.org/officeDocument/2006/relationships" xmlns:a="http://schemas.openxmlformats.org/drawingml/2006/main" r:embed="R8834191cc150475a"/>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9D6BC3E-2E1E-4C68-B791-D774B97F9A22}"/>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Open MORE → MAINTENANCE → VERIFY &amp; CORRECT.</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First check SEN69C presence and status on the SENSOR page.</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This edition describes GUARDIAN 1.1.0 and the functions tested in build TEST4 FIX1.</a:t>
            </a:r>
          </a:p>
        </p:txBody>
      </p:sp>
      <p:sp>
        <p:nvSpPr>
          <p:cNvPr id="5" name="">
            <a:extLst xmlns:a="http://schemas.openxmlformats.org/drawingml/2006/main">
              <a:ext uri="{FF2B5EF4-FFF2-40B4-BE49-F238E27FC236}">
                <a16:creationId xmlns:a16="http://schemas.microsoft.com/office/drawing/2014/main" id="{FE7A9F16-9732-42B5-9001-0182608CCEF7}"/>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73987A62-9CD4-4DF9-B20C-E6FE372B9F13}"/>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1362388348"/>
      </p:ext>
    </p:extLst>
  </p:cSld>
</p:sld>
</file>

<file path=ppt/slides/slide13.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847CD9-C4A4-4DF9-85A6-B6B6C5F4958B}"/>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117F0186-CE16-4943-A38C-7D2ED6EE2CA0}"/>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Maintenance and preliminary checks</a:t>
            </a:r>
          </a:p>
        </p:txBody>
      </p:sp>
      <p:pic>
        <p:nvPicPr>
          <p:cNvPr id="3" name="">
            <a:extLst xmlns:a="http://schemas.openxmlformats.org/drawingml/2006/main">
              <a:ext uri="{FF2B5EF4-FFF2-40B4-BE49-F238E27FC236}">
                <a16:creationId xmlns:a16="http://schemas.microsoft.com/office/drawing/2014/main" id="{0EDCC74E-68A0-4411-83F5-A99EF5E296A2}"/>
              </a:ext>
            </a:extLst>
          </p:cNvPr>
          <p:cNvPicPr>
            <a:picLocks xmlns:a="http://schemas.openxmlformats.org/drawingml/2006/main" noChangeAspect="1"/>
          </p:cNvPicPr>
          <p:nvPr/>
        </p:nvPicPr>
        <p:blipFill>
          <a:blip xmlns:r="http://schemas.openxmlformats.org/officeDocument/2006/relationships" xmlns:a="http://schemas.openxmlformats.org/drawingml/2006/main" r:embed="R08dbf09921254f22"/>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920A5D-21A5-42A2-A8F9-B568F2F9322F}"/>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Fan cleaning is a sensor maintenance operation.</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Before comparing instruments, allow stabilisation and record placement, environmental conditions, sampling interval and reference instrument.</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Compare the same quantity and unit.</a:t>
            </a:r>
          </a:p>
        </p:txBody>
      </p:sp>
      <p:sp>
        <p:nvSpPr>
          <p:cNvPr id="5" name="">
            <a:extLst xmlns:a="http://schemas.openxmlformats.org/drawingml/2006/main">
              <a:ext uri="{FF2B5EF4-FFF2-40B4-BE49-F238E27FC236}">
                <a16:creationId xmlns:a16="http://schemas.microsoft.com/office/drawing/2014/main" id="{81835AA6-4261-4652-BC09-43E627774FD0}"/>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731E6330-783D-46E9-AA64-C262DD5D510F}"/>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2122082712"/>
      </p:ext>
    </p:extLst>
  </p:cSld>
</p:sld>
</file>

<file path=ppt/slides/slide14.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8456C7-B4C8-4CB5-A10B-AB44983FDB78}"/>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6F96B4A2-6992-4AF2-BFFC-AAD3AB234E08}"/>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Technical access: six-digit PIN</a:t>
            </a:r>
          </a:p>
        </p:txBody>
      </p:sp>
      <p:pic>
        <p:nvPicPr>
          <p:cNvPr id="3" name="">
            <a:extLst xmlns:a="http://schemas.openxmlformats.org/drawingml/2006/main">
              <a:ext uri="{FF2B5EF4-FFF2-40B4-BE49-F238E27FC236}">
                <a16:creationId xmlns:a16="http://schemas.microsoft.com/office/drawing/2014/main" id="{48417DC1-B0BB-40F4-A5AA-854C8BE419DF}"/>
              </a:ext>
            </a:extLst>
          </p:cNvPr>
          <p:cNvPicPr>
            <a:picLocks xmlns:a="http://schemas.openxmlformats.org/drawingml/2006/main" noChangeAspect="1"/>
          </p:cNvPicPr>
          <p:nvPr/>
        </p:nvPicPr>
        <p:blipFill>
          <a:blip xmlns:r="http://schemas.openxmlformats.org/officeDocument/2006/relationships" xmlns:a="http://schemas.openxmlformats.org/drawingml/2006/main" r:embed="R6048179a0cac400a"/>
          <a:stretch xmlns:a="http://schemas.openxmlformats.org/drawingml/2006/main"/>
        </p:blipFill>
        <p:spPr>
          <a:xfrm xmlns:a="http://schemas.openxmlformats.org/drawingml/2006/main">
            <a:off x="459317" y="1955797"/>
            <a:ext cx="6853767" cy="4114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DD2463-BE93-47A7-A232-0535E6625787}"/>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On first access, choose a six-digit PIN and enter it twice.</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After five incorrect attempts, wait 60 seconds before retrying.</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The PIN restricts interface changes; it does not encrypt memory or enable Secure Boot.</a:t>
            </a:r>
          </a:p>
        </p:txBody>
      </p:sp>
      <p:sp>
        <p:nvSpPr>
          <p:cNvPr id="5" name="">
            <a:extLst xmlns:a="http://schemas.openxmlformats.org/drawingml/2006/main">
              <a:ext uri="{FF2B5EF4-FFF2-40B4-BE49-F238E27FC236}">
                <a16:creationId xmlns:a16="http://schemas.microsoft.com/office/drawing/2014/main" id="{DA8A5D66-41E7-4E4E-8442-4C11FF6F420B}"/>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5BE7D08D-2953-46CB-B806-2DF2A449A482}"/>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1866171520"/>
      </p:ext>
    </p:extLst>
  </p:cSld>
</p:sld>
</file>

<file path=ppt/slides/slide15.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D9A3F9-911A-484E-B8A7-6247A63413C6}"/>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F4F4F3B0-AD6D-4615-A7B8-E246163813FA}"/>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Which parameters can be corrected</a:t>
            </a:r>
          </a:p>
        </p:txBody>
      </p:sp>
      <p:pic>
        <p:nvPicPr>
          <p:cNvPr id="3" name="">
            <a:extLst xmlns:a="http://schemas.openxmlformats.org/drawingml/2006/main">
              <a:ext uri="{FF2B5EF4-FFF2-40B4-BE49-F238E27FC236}">
                <a16:creationId xmlns:a16="http://schemas.microsoft.com/office/drawing/2014/main" id="{DE675B23-875E-4A2F-AE9E-08E35B365DDC}"/>
              </a:ext>
            </a:extLst>
          </p:cNvPr>
          <p:cNvPicPr>
            <a:picLocks xmlns:a="http://schemas.openxmlformats.org/drawingml/2006/main" noChangeAspect="1"/>
          </p:cNvPicPr>
          <p:nvPr/>
        </p:nvPicPr>
        <p:blipFill>
          <a:blip xmlns:r="http://schemas.openxmlformats.org/officeDocument/2006/relationships" xmlns:a="http://schemas.openxmlformats.org/drawingml/2006/main" r:embed="R8e3965e51fa64a3b"/>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E63AF1F-74EC-4B3C-BE19-5EDA0E3F7DBF}"/>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PM1, PM2.5, PM4, PM10, temperature, relative humidity, HCHO and CO2 are available.</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Each parameter has a profile containing comparisons, factor or offset, valid range and report reference.</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Particulate channels use a multiplicative factor; the other channels use an additive offset.</a:t>
            </a:r>
          </a:p>
        </p:txBody>
      </p:sp>
      <p:sp>
        <p:nvSpPr>
          <p:cNvPr id="5" name="">
            <a:extLst xmlns:a="http://schemas.openxmlformats.org/drawingml/2006/main">
              <a:ext uri="{FF2B5EF4-FFF2-40B4-BE49-F238E27FC236}">
                <a16:creationId xmlns:a16="http://schemas.microsoft.com/office/drawing/2014/main" id="{AF6737BF-4F8F-457A-9DD1-0A2723066C24}"/>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47111239-B9FE-4D88-B222-3623FC4E24F5}"/>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550940258"/>
      </p:ext>
    </p:extLst>
  </p:cSld>
</p:sld>
</file>

<file path=ppt/slides/slide16.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8F0D01C-EBE2-4D11-8775-A6E9F5C414A0}"/>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34C4C3FD-212D-4D62-9FE7-4F3B9CDC730A}"/>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Profile: enabling and valid range</a:t>
            </a:r>
          </a:p>
        </p:txBody>
      </p:sp>
      <p:pic>
        <p:nvPicPr>
          <p:cNvPr id="3" name="">
            <a:extLst xmlns:a="http://schemas.openxmlformats.org/drawingml/2006/main">
              <a:ext uri="{FF2B5EF4-FFF2-40B4-BE49-F238E27FC236}">
                <a16:creationId xmlns:a16="http://schemas.microsoft.com/office/drawing/2014/main" id="{E70DE77F-255D-4D61-96F7-E427F84C4C15}"/>
              </a:ext>
            </a:extLst>
          </p:cNvPr>
          <p:cNvPicPr>
            <a:picLocks xmlns:a="http://schemas.openxmlformats.org/drawingml/2006/main" noChangeAspect="1"/>
          </p:cNvPicPr>
          <p:nvPr/>
        </p:nvPicPr>
        <p:blipFill>
          <a:blip xmlns:r="http://schemas.openxmlformats.org/officeDocument/2006/relationships" xmlns:a="http://schemas.openxmlformats.org/drawingml/2006/main" r:embed="R5fa3514bea3042b5"/>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35C3BA8-2E3A-475F-8F4D-2CCC6F7373A0}"/>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Enabling a correction requires at least three distinct original readings, a report identifier and confirmation of independent verification.</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Correction applies only within the range of the compared original readings.</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DISABLE retains comparisons but suspends correction.</a:t>
            </a:r>
          </a:p>
        </p:txBody>
      </p:sp>
      <p:sp>
        <p:nvSpPr>
          <p:cNvPr id="5" name="">
            <a:extLst xmlns:a="http://schemas.openxmlformats.org/drawingml/2006/main">
              <a:ext uri="{FF2B5EF4-FFF2-40B4-BE49-F238E27FC236}">
                <a16:creationId xmlns:a16="http://schemas.microsoft.com/office/drawing/2014/main" id="{CF7288CA-F0DC-44E1-BF5C-83A4AF177746}"/>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E8FF408C-A0E0-4B20-B019-462B0F56C3EE}"/>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123579281"/>
      </p:ext>
    </p:extLst>
  </p:cSld>
</p:sld>
</file>

<file path=ppt/slides/slide17.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E45590-E0B2-41D2-910D-DAAABB09192E}"/>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22F31428-AA48-4782-9FAF-D4220DD21171}"/>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New comparison: original and reference</a:t>
            </a:r>
          </a:p>
        </p:txBody>
      </p:sp>
      <p:pic>
        <p:nvPicPr>
          <p:cNvPr id="3" name="">
            <a:extLst xmlns:a="http://schemas.openxmlformats.org/drawingml/2006/main">
              <a:ext uri="{FF2B5EF4-FFF2-40B4-BE49-F238E27FC236}">
                <a16:creationId xmlns:a16="http://schemas.microsoft.com/office/drawing/2014/main" id="{466113D8-953A-4830-ADCF-D717B432A18B}"/>
              </a:ext>
            </a:extLst>
          </p:cNvPr>
          <p:cNvPicPr>
            <a:picLocks xmlns:a="http://schemas.openxmlformats.org/drawingml/2006/main" noChangeAspect="1"/>
          </p:cNvPicPr>
          <p:nvPr/>
        </p:nvPicPr>
        <p:blipFill>
          <a:blip xmlns:r="http://schemas.openxmlformats.org/officeDocument/2006/relationships" xmlns:a="http://schemas.openxmlformats.org/drawingml/2006/main" r:embed="Ra696a60c38b04195"/>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C881A61-8DE6-4033-8669-E1FE65BB5EB6}"/>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GUARDIAN ORIGINAL shows the current reading before GUARDIAN software correction.</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Capture the reading into the comparison field, then enter the reference instrument reading in the same unit.</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The report field accepts /, for example DEMO/2026.</a:t>
            </a:r>
          </a:p>
        </p:txBody>
      </p:sp>
      <p:sp>
        <p:nvSpPr>
          <p:cNvPr id="5" name="">
            <a:extLst xmlns:a="http://schemas.openxmlformats.org/drawingml/2006/main">
              <a:ext uri="{FF2B5EF4-FFF2-40B4-BE49-F238E27FC236}">
                <a16:creationId xmlns:a16="http://schemas.microsoft.com/office/drawing/2014/main" id="{B8529B4B-3106-448B-AB75-0A9A981A21BB}"/>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79D925C9-A75A-46DE-9F59-559171ED7F2D}"/>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1628668812"/>
      </p:ext>
    </p:extLst>
  </p:cSld>
</p:sld>
</file>

<file path=ppt/slides/slide18.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136A4CB-7EDD-403E-8E6F-E81D193625D4}"/>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B272B7D7-ED84-4E50-BD0F-D37A861B8277}"/>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CO2: two different operations</a:t>
            </a:r>
          </a:p>
        </p:txBody>
      </p:sp>
      <p:pic>
        <p:nvPicPr>
          <p:cNvPr id="3" name="">
            <a:extLst xmlns:a="http://schemas.openxmlformats.org/drawingml/2006/main">
              <a:ext uri="{FF2B5EF4-FFF2-40B4-BE49-F238E27FC236}">
                <a16:creationId xmlns:a16="http://schemas.microsoft.com/office/drawing/2014/main" id="{A957F48D-7A15-402C-8EF7-E990A6BE2202}"/>
              </a:ext>
            </a:extLst>
          </p:cNvPr>
          <p:cNvPicPr>
            <a:picLocks xmlns:a="http://schemas.openxmlformats.org/drawingml/2006/main" noChangeAspect="1"/>
          </p:cNvPicPr>
          <p:nvPr/>
        </p:nvPicPr>
        <p:blipFill>
          <a:blip xmlns:r="http://schemas.openxmlformats.org/officeDocument/2006/relationships" xmlns:a="http://schemas.openxmlformats.org/drawingml/2006/main" r:embed="R82ebd75174c8413f"/>
          <a:stretch xmlns:a="http://schemas.openxmlformats.org/drawingml/2006/main"/>
        </p:blipFill>
        <p:spPr>
          <a:xfrm xmlns:a="http://schemas.openxmlformats.org/drawingml/2006/main">
            <a:off x="459317" y="1955797"/>
            <a:ext cx="6853767" cy="4114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FAE1D7E-7F69-4EF2-9B70-DA649ACE5EC5}"/>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The CO2 entry groups the software correction profile and internal sensor operations.</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Software correction adds an offset within the verified range and can be disabled.</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Do not stack the two operations: disable the software CO2 correction before internal calibration.</a:t>
            </a:r>
          </a:p>
        </p:txBody>
      </p:sp>
      <p:sp>
        <p:nvSpPr>
          <p:cNvPr id="5" name="">
            <a:extLst xmlns:a="http://schemas.openxmlformats.org/drawingml/2006/main">
              <a:ext uri="{FF2B5EF4-FFF2-40B4-BE49-F238E27FC236}">
                <a16:creationId xmlns:a16="http://schemas.microsoft.com/office/drawing/2014/main" id="{8A716168-8E3B-42D9-8651-00437A532DB3}"/>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9CB35A77-75FA-4BCF-BE48-7AA6C22184CF}"/>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934269091"/>
      </p:ext>
    </p:extLst>
  </p:cSld>
</p:sld>
</file>

<file path=ppt/slides/slide19.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8F8055-9B1E-496D-BD2D-775950C2A88B}"/>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D0CC9424-0B21-467B-A5FF-4E7A17F68A26}"/>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CO2 example: one point is not enough</a:t>
            </a:r>
          </a:p>
        </p:txBody>
      </p:sp>
      <p:pic>
        <p:nvPicPr>
          <p:cNvPr id="3" name="">
            <a:extLst xmlns:a="http://schemas.openxmlformats.org/drawingml/2006/main">
              <a:ext uri="{FF2B5EF4-FFF2-40B4-BE49-F238E27FC236}">
                <a16:creationId xmlns:a16="http://schemas.microsoft.com/office/drawing/2014/main" id="{AB413FC1-7C62-46EA-BE7B-3006B3E9290A}"/>
              </a:ext>
            </a:extLst>
          </p:cNvPr>
          <p:cNvPicPr>
            <a:picLocks xmlns:a="http://schemas.openxmlformats.org/drawingml/2006/main" noChangeAspect="1"/>
          </p:cNvPicPr>
          <p:nvPr/>
        </p:nvPicPr>
        <p:blipFill>
          <a:blip xmlns:r="http://schemas.openxmlformats.org/officeDocument/2006/relationships" xmlns:a="http://schemas.openxmlformats.org/drawingml/2006/main" r:embed="R0176a9ce49d74564"/>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D11CBC-07F1-4B77-ACD6-5023EF61BBA5}"/>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The screen shows one comparison: an original reading of 887 ppm and a calculated +13 ppm offset.</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The software enabling requirements are not yet met.</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Select points representative of intended use within a suitable comparison plan.</a:t>
            </a:r>
          </a:p>
        </p:txBody>
      </p:sp>
      <p:sp>
        <p:nvSpPr>
          <p:cNvPr id="5" name="">
            <a:extLst xmlns:a="http://schemas.openxmlformats.org/drawingml/2006/main">
              <a:ext uri="{FF2B5EF4-FFF2-40B4-BE49-F238E27FC236}">
                <a16:creationId xmlns:a16="http://schemas.microsoft.com/office/drawing/2014/main" id="{369D2F00-3779-490E-AE66-F0E4848A6D67}"/>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45A247A8-40C2-4C16-AA35-9DCDACA7AAA5}"/>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1531323163"/>
      </p:ext>
    </p:extLst>
  </p:cSld>
</p:sld>
</file>

<file path=ppt/slides/slide20.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6BC603-EF94-4035-B18D-3EB11C4D0826}"/>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5A2B8FED-9664-4166-9058-989226517D9C}"/>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CO2 comparison and data retention</a:t>
            </a:r>
          </a:p>
        </p:txBody>
      </p:sp>
      <p:pic>
        <p:nvPicPr>
          <p:cNvPr id="3" name="">
            <a:extLst xmlns:a="http://schemas.openxmlformats.org/drawingml/2006/main">
              <a:ext uri="{FF2B5EF4-FFF2-40B4-BE49-F238E27FC236}">
                <a16:creationId xmlns:a16="http://schemas.microsoft.com/office/drawing/2014/main" id="{0F6FDCB0-11FA-4353-8216-6B806AB4736C}"/>
              </a:ext>
            </a:extLst>
          </p:cNvPr>
          <p:cNvPicPr>
            <a:picLocks xmlns:a="http://schemas.openxmlformats.org/drawingml/2006/main" noChangeAspect="1"/>
          </p:cNvPicPr>
          <p:nvPr/>
        </p:nvPicPr>
        <p:blipFill>
          <a:blip xmlns:r="http://schemas.openxmlformats.org/officeDocument/2006/relationships" xmlns:a="http://schemas.openxmlformats.org/drawingml/2006/main" r:embed="R80f7cbaebc6d4430"/>
          <a:stretch xmlns:a="http://schemas.openxmlformats.org/drawingml/2006/main"/>
        </p:blipFill>
        <p:spPr>
          <a:xfrm xmlns:a="http://schemas.openxmlformats.org/drawingml/2006/main">
            <a:off x="457200" y="1956644"/>
            <a:ext cx="6858000" cy="4113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87AA291-79C7-4565-B13F-1055DBABA68B}"/>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The original reading continues updating; the captured comparison value remains the selected value.</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Profiles and the technical log are stored on microSD.</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Restarting preserves the PIN and profiles.</a:t>
            </a:r>
          </a:p>
        </p:txBody>
      </p:sp>
      <p:sp>
        <p:nvSpPr>
          <p:cNvPr id="5" name="">
            <a:extLst xmlns:a="http://schemas.openxmlformats.org/drawingml/2006/main">
              <a:ext uri="{FF2B5EF4-FFF2-40B4-BE49-F238E27FC236}">
                <a16:creationId xmlns:a16="http://schemas.microsoft.com/office/drawing/2014/main" id="{495CF21A-B37A-4BEC-AAE4-A98753D00189}"/>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05DE54C8-9986-498D-9C25-4CBBA7C855D5}"/>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64587742"/>
      </p:ext>
    </p:extLst>
  </p:cSld>
</p:sld>
</file>

<file path=ppt/slides/slide21.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C7CC71D-FEAA-419A-BA4C-7A36AF42F32F}"/>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F3A1C7B2-90B9-47E2-8C71-EABE4DD099DB}"/>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CO2 operations: prepare and verify</a:t>
            </a:r>
          </a:p>
        </p:txBody>
      </p:sp>
      <p:pic>
        <p:nvPicPr>
          <p:cNvPr id="3" name="">
            <a:extLst xmlns:a="http://schemas.openxmlformats.org/drawingml/2006/main">
              <a:ext uri="{FF2B5EF4-FFF2-40B4-BE49-F238E27FC236}">
                <a16:creationId xmlns:a16="http://schemas.microsoft.com/office/drawing/2014/main" id="{2F16119D-92BF-43F8-81AF-8A1D564F17E9}"/>
              </a:ext>
            </a:extLst>
          </p:cNvPr>
          <p:cNvPicPr>
            <a:picLocks xmlns:a="http://schemas.openxmlformats.org/drawingml/2006/main" noChangeAspect="1"/>
          </p:cNvPicPr>
          <p:nvPr/>
        </p:nvPicPr>
        <p:blipFill>
          <a:blip xmlns:r="http://schemas.openxmlformats.org/officeDocument/2006/relationships" xmlns:a="http://schemas.openxmlformats.org/drawingml/2006/main" r:embed="R6ae3592dbb5d484a"/>
          <a:stretch xmlns:a="http://schemas.openxmlformats.org/drawingml/2006/main"/>
        </p:blipFill>
        <p:spPr>
          <a:xfrm xmlns:a="http://schemas.openxmlformats.org/drawingml/2006/main">
            <a:off x="459317" y="1955797"/>
            <a:ext cx="6853767" cy="4114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C0256B-8A3C-4735-B7E0-F49503723C73}"/>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Use a reliable, known reference within the allowed 400–2000 ppm range.</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PREPARE starts a three-minute wait.</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CO2 RESET concerns the sensor channel, not the whole GUARDIAN.</a:t>
            </a:r>
          </a:p>
        </p:txBody>
      </p:sp>
      <p:sp>
        <p:nvSpPr>
          <p:cNvPr id="5" name="">
            <a:extLst xmlns:a="http://schemas.openxmlformats.org/drawingml/2006/main">
              <a:ext uri="{FF2B5EF4-FFF2-40B4-BE49-F238E27FC236}">
                <a16:creationId xmlns:a16="http://schemas.microsoft.com/office/drawing/2014/main" id="{A971B354-8859-43BE-AA8D-7BDC7667C06C}"/>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Cleaned demonstration screen based on a real photograph.</a:t>
            </a:r>
          </a:p>
        </p:txBody>
      </p:sp>
      <p:sp>
        <p:nvSpPr>
          <p:cNvPr id="6" name="">
            <a:extLst xmlns:a="http://schemas.openxmlformats.org/drawingml/2006/main">
              <a:ext uri="{FF2B5EF4-FFF2-40B4-BE49-F238E27FC236}">
                <a16:creationId xmlns:a16="http://schemas.microsoft.com/office/drawing/2014/main" id="{9C4D648C-9A6B-43CA-97CF-6C00EC78F4E6}"/>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95601594"/>
      </p:ext>
    </p:extLst>
  </p:cSld>
</p:sld>
</file>

<file path=ppt/slides/slide22.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933427-1312-4D3D-AF53-C6821D1E4AC7}"/>
              </a:ext>
            </a:extLst>
          </p:cNvPr>
          <p:cNvSpPr>
            <a:spLocks xmlns:a="http://schemas.openxmlformats.org/drawingml/2006/main" noGrp="1"/>
          </p:cNvSpPr>
          <p:nvPr/>
        </p:nvSpPr>
        <p:spPr>
          <a:xfrm xmlns:a="http://schemas.openxmlformats.org/drawingml/2006/main">
            <a:off x="457200" y="304800"/>
            <a:ext cx="1117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1">
                <a:solidFill>
                  <a:srgbClr val="65A3FF"/>
                </a:solidFill>
              </a:defRPr>
            </a:defPPr>
            <a:lvl1pPr>
              <a:defRPr sz="1100" b="1">
                <a:solidFill>
                  <a:srgbClr val="65A3FF"/>
                </a:solidFill>
              </a:defRPr>
            </a:lvl1pPr>
            <a:lvl2pPr>
              <a:defRPr sz="1100" b="1">
                <a:solidFill>
                  <a:srgbClr val="65A3FF"/>
                </a:solidFill>
              </a:defRPr>
            </a:lvl2pPr>
            <a:lvl3pPr>
              <a:defRPr sz="1100" b="1">
                <a:solidFill>
                  <a:srgbClr val="65A3FF"/>
                </a:solidFill>
              </a:defRPr>
            </a:lvl3pPr>
            <a:lvl4pPr>
              <a:defRPr sz="1100" b="1">
                <a:solidFill>
                  <a:srgbClr val="65A3FF"/>
                </a:solidFill>
              </a:defRPr>
            </a:lvl4pPr>
            <a:lvl5pPr>
              <a:defRPr sz="1100" b="1">
                <a:solidFill>
                  <a:srgbClr val="65A3FF"/>
                </a:solidFill>
              </a:defRPr>
            </a:lvl5pPr>
            <a:lvl6pPr>
              <a:defRPr sz="1100" b="1">
                <a:solidFill>
                  <a:srgbClr val="65A3FF"/>
                </a:solidFill>
              </a:defRPr>
            </a:lvl6pPr>
            <a:lvl7pPr>
              <a:defRPr sz="1100" b="1">
                <a:solidFill>
                  <a:srgbClr val="65A3FF"/>
                </a:solidFill>
              </a:defRPr>
            </a:lvl7pPr>
            <a:lvl8pPr>
              <a:defRPr sz="1100" b="1">
                <a:solidFill>
                  <a:srgbClr val="65A3FF"/>
                </a:solidFill>
              </a:defRPr>
            </a:lvl8pPr>
            <a:lvl9pPr>
              <a:defRPr sz="1100" b="1">
                <a:solidFill>
                  <a:srgbClr val="65A3FF"/>
                </a:solidFill>
              </a:defRPr>
            </a:lvl9pPr>
          </a:lstStyle>
          <a:p xmlns:a="http://schemas.openxmlformats.org/drawingml/2006/main">
            <a:pPr>
              <a:defRPr sz="1100" b="1">
                <a:solidFill>
                  <a:srgbClr val="65A3FF"/>
                </a:solidFill>
              </a:defRPr>
            </a:pPr>
            <a:r>
              <a:rPr sz="1100" b="1">
                <a:solidFill>
                  <a:srgbClr val="65A3FF"/>
                </a:solidFill>
              </a:rPr>
              <a:t>GUARDIAN 1.1.0 / VERIFY &amp; CORRECT</a:t>
            </a:r>
          </a:p>
        </p:txBody>
      </p:sp>
      <p:sp>
        <p:nvSpPr>
          <p:cNvPr id="2" name="">
            <a:extLst xmlns:a="http://schemas.openxmlformats.org/drawingml/2006/main">
              <a:ext uri="{FF2B5EF4-FFF2-40B4-BE49-F238E27FC236}">
                <a16:creationId xmlns:a16="http://schemas.microsoft.com/office/drawing/2014/main" id="{DCF51B83-D3E9-4DB9-9AE5-E83EF87BAE71}"/>
              </a:ext>
            </a:extLst>
          </p:cNvPr>
          <p:cNvSpPr>
            <a:spLocks xmlns:a="http://schemas.openxmlformats.org/drawingml/2006/main" noGrp="1"/>
          </p:cNvSpPr>
          <p:nvPr/>
        </p:nvSpPr>
        <p:spPr>
          <a:xfrm xmlns:a="http://schemas.openxmlformats.org/drawingml/2006/main">
            <a:off x="457200" y="787400"/>
            <a:ext cx="11277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100" b="1">
                <a:solidFill>
                  <a:srgbClr val="F6F8FC"/>
                </a:solidFill>
              </a:defRPr>
            </a:defPPr>
            <a:lvl1pPr>
              <a:defRPr sz="3100" b="1">
                <a:solidFill>
                  <a:srgbClr val="F6F8FC"/>
                </a:solidFill>
              </a:defRPr>
            </a:lvl1pPr>
            <a:lvl2pPr>
              <a:defRPr sz="3100" b="1">
                <a:solidFill>
                  <a:srgbClr val="F6F8FC"/>
                </a:solidFill>
              </a:defRPr>
            </a:lvl2pPr>
            <a:lvl3pPr>
              <a:defRPr sz="3100" b="1">
                <a:solidFill>
                  <a:srgbClr val="F6F8FC"/>
                </a:solidFill>
              </a:defRPr>
            </a:lvl3pPr>
            <a:lvl4pPr>
              <a:defRPr sz="3100" b="1">
                <a:solidFill>
                  <a:srgbClr val="F6F8FC"/>
                </a:solidFill>
              </a:defRPr>
            </a:lvl4pPr>
            <a:lvl5pPr>
              <a:defRPr sz="3100" b="1">
                <a:solidFill>
                  <a:srgbClr val="F6F8FC"/>
                </a:solidFill>
              </a:defRPr>
            </a:lvl5pPr>
            <a:lvl6pPr>
              <a:defRPr sz="3100" b="1">
                <a:solidFill>
                  <a:srgbClr val="F6F8FC"/>
                </a:solidFill>
              </a:defRPr>
            </a:lvl6pPr>
            <a:lvl7pPr>
              <a:defRPr sz="3100" b="1">
                <a:solidFill>
                  <a:srgbClr val="F6F8FC"/>
                </a:solidFill>
              </a:defRPr>
            </a:lvl7pPr>
            <a:lvl8pPr>
              <a:defRPr sz="3100" b="1">
                <a:solidFill>
                  <a:srgbClr val="F6F8FC"/>
                </a:solidFill>
              </a:defRPr>
            </a:lvl8pPr>
            <a:lvl9pPr>
              <a:defRPr sz="3100" b="1">
                <a:solidFill>
                  <a:srgbClr val="F6F8FC"/>
                </a:solidFill>
              </a:defRPr>
            </a:lvl9pPr>
          </a:lstStyle>
          <a:p xmlns:a="http://schemas.openxmlformats.org/drawingml/2006/main">
            <a:pPr>
              <a:defRPr sz="3100" b="1">
                <a:solidFill>
                  <a:srgbClr val="F6F8FC"/>
                </a:solidFill>
              </a:defRPr>
            </a:pPr>
            <a:r>
              <a:rPr sz="3100" b="1">
                <a:solidFill>
                  <a:srgbClr val="F6F8FC"/>
                </a:solidFill>
              </a:rPr>
              <a:t>Technical log and traceability</a:t>
            </a:r>
          </a:p>
        </p:txBody>
      </p:sp>
      <p:pic>
        <p:nvPicPr>
          <p:cNvPr id="3" name="">
            <a:extLst xmlns:a="http://schemas.openxmlformats.org/drawingml/2006/main">
              <a:ext uri="{FF2B5EF4-FFF2-40B4-BE49-F238E27FC236}">
                <a16:creationId xmlns:a16="http://schemas.microsoft.com/office/drawing/2014/main" id="{CD76963F-6936-4F21-8ED2-90A237BA54D3}"/>
              </a:ext>
            </a:extLst>
          </p:cNvPr>
          <p:cNvPicPr>
            <a:picLocks xmlns:a="http://schemas.openxmlformats.org/drawingml/2006/main" noChangeAspect="1"/>
          </p:cNvPicPr>
          <p:nvPr/>
        </p:nvPicPr>
        <p:blipFill>
          <a:blip xmlns:r="http://schemas.openxmlformats.org/officeDocument/2006/relationships" xmlns:a="http://schemas.openxmlformats.org/drawingml/2006/main" r:embed="R701f478c00264134"/>
          <a:stretch xmlns:a="http://schemas.openxmlformats.org/drawingml/2006/main"/>
        </p:blipFill>
        <p:spPr>
          <a:xfrm xmlns:a="http://schemas.openxmlformats.org/drawingml/2006/main">
            <a:off x="1143000" y="1955797"/>
            <a:ext cx="5486400" cy="4114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E92F5AB-3A8A-480C-A05E-3D2F6481E146}"/>
              </a:ext>
            </a:extLst>
          </p:cNvPr>
          <p:cNvSpPr>
            <a:spLocks xmlns:a="http://schemas.openxmlformats.org/drawingml/2006/main" noGrp="1"/>
          </p:cNvSpPr>
          <p:nvPr/>
        </p:nvSpPr>
        <p:spPr>
          <a:xfrm xmlns:a="http://schemas.openxmlformats.org/drawingml/2006/main">
            <a:off x="1332448" y="5301440"/>
            <a:ext cx="4736188" cy="147769"/>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357F47-FB39-4722-B49F-DA329521A88D}"/>
              </a:ext>
            </a:extLst>
          </p:cNvPr>
          <p:cNvSpPr>
            <a:spLocks xmlns:a="http://schemas.openxmlformats.org/drawingml/2006/main" noGrp="1"/>
          </p:cNvSpPr>
          <p:nvPr/>
        </p:nvSpPr>
        <p:spPr>
          <a:xfrm xmlns:a="http://schemas.openxmlformats.org/drawingml/2006/main">
            <a:off x="1355181" y="5305229"/>
            <a:ext cx="4736188" cy="1477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95" b="0">
                <a:solidFill>
                  <a:srgbClr val="111111"/>
                </a:solidFill>
              </a:defRPr>
            </a:defPPr>
            <a:lvl1pPr>
              <a:defRPr sz="895" b="0">
                <a:solidFill>
                  <a:srgbClr val="111111"/>
                </a:solidFill>
              </a:defRPr>
            </a:lvl1pPr>
            <a:lvl2pPr>
              <a:defRPr sz="895" b="0">
                <a:solidFill>
                  <a:srgbClr val="111111"/>
                </a:solidFill>
              </a:defRPr>
            </a:lvl2pPr>
            <a:lvl3pPr>
              <a:defRPr sz="895" b="0">
                <a:solidFill>
                  <a:srgbClr val="111111"/>
                </a:solidFill>
              </a:defRPr>
            </a:lvl3pPr>
            <a:lvl4pPr>
              <a:defRPr sz="895" b="0">
                <a:solidFill>
                  <a:srgbClr val="111111"/>
                </a:solidFill>
              </a:defRPr>
            </a:lvl4pPr>
            <a:lvl5pPr>
              <a:defRPr sz="895" b="0">
                <a:solidFill>
                  <a:srgbClr val="111111"/>
                </a:solidFill>
              </a:defRPr>
            </a:lvl5pPr>
            <a:lvl6pPr>
              <a:defRPr sz="895" b="0">
                <a:solidFill>
                  <a:srgbClr val="111111"/>
                </a:solidFill>
              </a:defRPr>
            </a:lvl6pPr>
            <a:lvl7pPr>
              <a:defRPr sz="895" b="0">
                <a:solidFill>
                  <a:srgbClr val="111111"/>
                </a:solidFill>
              </a:defRPr>
            </a:lvl7pPr>
            <a:lvl8pPr>
              <a:defRPr sz="895" b="0">
                <a:solidFill>
                  <a:srgbClr val="111111"/>
                </a:solidFill>
              </a:defRPr>
            </a:lvl8pPr>
            <a:lvl9pPr>
              <a:defRPr sz="895" b="0">
                <a:solidFill>
                  <a:srgbClr val="111111"/>
                </a:solidFill>
              </a:defRPr>
            </a:lvl9pPr>
          </a:lstStyle>
          <a:p xmlns:a="http://schemas.openxmlformats.org/drawingml/2006/main">
            <a:pPr>
              <a:defRPr sz="895" b="0">
                <a:solidFill>
                  <a:srgbClr val="111111"/>
                </a:solidFill>
              </a:defRPr>
            </a:pPr>
            <a:r>
              <a:rPr sz="895" b="0">
                <a:solidFill>
                  <a:srgbClr val="111111"/>
                </a:solidFill>
              </a:rPr>
              <a:t>17;1793117537;517423;2;clear;display;0.00000;0.00000;</a:t>
            </a:r>
          </a:p>
        </p:txBody>
      </p:sp>
      <p:sp>
        <p:nvSpPr>
          <p:cNvPr id="6" name="">
            <a:extLst xmlns:a="http://schemas.openxmlformats.org/drawingml/2006/main">
              <a:ext uri="{FF2B5EF4-FFF2-40B4-BE49-F238E27FC236}">
                <a16:creationId xmlns:a16="http://schemas.microsoft.com/office/drawing/2014/main" id="{E68E4936-8F57-43D7-978B-7E5B88D73CC8}"/>
              </a:ext>
            </a:extLst>
          </p:cNvPr>
          <p:cNvSpPr>
            <a:spLocks xmlns:a="http://schemas.openxmlformats.org/drawingml/2006/main" noGrp="1"/>
          </p:cNvSpPr>
          <p:nvPr/>
        </p:nvSpPr>
        <p:spPr>
          <a:xfrm xmlns:a="http://schemas.openxmlformats.org/drawingml/2006/main">
            <a:off x="7721600" y="1955800"/>
            <a:ext cx="3937000" cy="463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D7E1EE"/>
                </a:solidFill>
              </a:defRPr>
            </a:defPPr>
            <a:lvl1pPr>
              <a:defRPr sz="1800" b="0">
                <a:solidFill>
                  <a:srgbClr val="D7E1EE"/>
                </a:solidFill>
              </a:defRPr>
            </a:lvl1pPr>
            <a:lvl2pPr>
              <a:defRPr sz="1800" b="0">
                <a:solidFill>
                  <a:srgbClr val="D7E1EE"/>
                </a:solidFill>
              </a:defRPr>
            </a:lvl2pPr>
            <a:lvl3pPr>
              <a:defRPr sz="1800" b="0">
                <a:solidFill>
                  <a:srgbClr val="D7E1EE"/>
                </a:solidFill>
              </a:defRPr>
            </a:lvl3pPr>
            <a:lvl4pPr>
              <a:defRPr sz="1800" b="0">
                <a:solidFill>
                  <a:srgbClr val="D7E1EE"/>
                </a:solidFill>
              </a:defRPr>
            </a:lvl4pPr>
            <a:lvl5pPr>
              <a:defRPr sz="1800" b="0">
                <a:solidFill>
                  <a:srgbClr val="D7E1EE"/>
                </a:solidFill>
              </a:defRPr>
            </a:lvl5pPr>
            <a:lvl6pPr>
              <a:defRPr sz="1800" b="0">
                <a:solidFill>
                  <a:srgbClr val="D7E1EE"/>
                </a:solidFill>
              </a:defRPr>
            </a:lvl6pPr>
            <a:lvl7pPr>
              <a:defRPr sz="1800" b="0">
                <a:solidFill>
                  <a:srgbClr val="D7E1EE"/>
                </a:solidFill>
              </a:defRPr>
            </a:lvl7pPr>
            <a:lvl8pPr>
              <a:defRPr sz="1800" b="0">
                <a:solidFill>
                  <a:srgbClr val="D7E1EE"/>
                </a:solidFill>
              </a:defRPr>
            </a:lvl8pPr>
            <a:lvl9pPr>
              <a:defRPr sz="1800" b="0">
                <a:solidFill>
                  <a:srgbClr val="D7E1EE"/>
                </a:solidFill>
              </a:defRPr>
            </a:lvl9pPr>
          </a:lstStyle>
          <a:p xmlns:a="http://schemas.openxmlformats.org/drawingml/2006/main">
            <a:pPr>
              <a:defRPr sz="1800" b="0">
                <a:solidFill>
                  <a:srgbClr val="D7E1EE"/>
                </a:solidFill>
              </a:defRPr>
            </a:pPr>
            <a:r>
              <a:rPr sz="1800" b="0">
                <a:solidFill>
                  <a:srgbClr val="D7E1EE"/>
                </a:solidFill>
              </a:rPr>
              <a:t>The log retains the last 48 events: comparison additions, profile enabling, disabling and clearing.</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To export: open the browser on the same network, MAINTENANCE &gt; Verification &amp; corrections (PIN).</a:t>
            </a:r>
          </a:p>
          <a:p xmlns:a="http://schemas.openxmlformats.org/drawingml/2006/main">
            <a:pPr>
              <a:defRPr sz="1800" b="0">
                <a:solidFill>
                  <a:srgbClr val="D7E1EE"/>
                </a:solidFill>
              </a:defRPr>
            </a:pPr>
            <a:r>
              <a:t/>
            </a:r>
          </a:p>
          <a:p xmlns:a="http://schemas.openxmlformats.org/drawingml/2006/main">
            <a:pPr>
              <a:defRPr sz="1800" b="0">
                <a:solidFill>
                  <a:srgbClr val="D7E1EE"/>
                </a:solidFill>
              </a:defRPr>
            </a:pPr>
            <a:r>
              <a:rPr sz="1800" b="0">
                <a:solidFill>
                  <a:srgbClr val="D7E1EE"/>
                </a:solidFill>
              </a:rPr>
              <a:t>Columns show sequence, UTC, uptime, parameter, action, origin, before/after and report.</a:t>
            </a:r>
          </a:p>
        </p:txBody>
      </p:sp>
      <p:sp>
        <p:nvSpPr>
          <p:cNvPr id="7" name="">
            <a:extLst xmlns:a="http://schemas.openxmlformats.org/drawingml/2006/main">
              <a:ext uri="{FF2B5EF4-FFF2-40B4-BE49-F238E27FC236}">
                <a16:creationId xmlns:a16="http://schemas.microsoft.com/office/drawing/2014/main" id="{CB8ADC98-92CB-4EC5-9A35-850BB990A9EC}"/>
              </a:ext>
            </a:extLst>
          </p:cNvPr>
          <p:cNvSpPr>
            <a:spLocks xmlns:a="http://schemas.openxmlformats.org/drawingml/2006/main" noGrp="1"/>
          </p:cNvSpPr>
          <p:nvPr/>
        </p:nvSpPr>
        <p:spPr>
          <a:xfrm xmlns:a="http://schemas.openxmlformats.org/drawingml/2006/main">
            <a:off x="457200" y="6388100"/>
            <a:ext cx="68580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000" b="0">
                <a:solidFill>
                  <a:srgbClr val="B9C4D3"/>
                </a:solidFill>
              </a:defRPr>
            </a:defPPr>
            <a:lvl1pPr>
              <a:defRPr sz="1000" b="0">
                <a:solidFill>
                  <a:srgbClr val="B9C4D3"/>
                </a:solidFill>
              </a:defRPr>
            </a:lvl1pPr>
            <a:lvl2pPr>
              <a:defRPr sz="1000" b="0">
                <a:solidFill>
                  <a:srgbClr val="B9C4D3"/>
                </a:solidFill>
              </a:defRPr>
            </a:lvl2pPr>
            <a:lvl3pPr>
              <a:defRPr sz="1000" b="0">
                <a:solidFill>
                  <a:srgbClr val="B9C4D3"/>
                </a:solidFill>
              </a:defRPr>
            </a:lvl3pPr>
            <a:lvl4pPr>
              <a:defRPr sz="1000" b="0">
                <a:solidFill>
                  <a:srgbClr val="B9C4D3"/>
                </a:solidFill>
              </a:defRPr>
            </a:lvl4pPr>
            <a:lvl5pPr>
              <a:defRPr sz="1000" b="0">
                <a:solidFill>
                  <a:srgbClr val="B9C4D3"/>
                </a:solidFill>
              </a:defRPr>
            </a:lvl5pPr>
            <a:lvl6pPr>
              <a:defRPr sz="1000" b="0">
                <a:solidFill>
                  <a:srgbClr val="B9C4D3"/>
                </a:solidFill>
              </a:defRPr>
            </a:lvl6pPr>
            <a:lvl7pPr>
              <a:defRPr sz="1000" b="0">
                <a:solidFill>
                  <a:srgbClr val="B9C4D3"/>
                </a:solidFill>
              </a:defRPr>
            </a:lvl7pPr>
            <a:lvl8pPr>
              <a:defRPr sz="1000" b="0">
                <a:solidFill>
                  <a:srgbClr val="B9C4D3"/>
                </a:solidFill>
              </a:defRPr>
            </a:lvl8pPr>
            <a:lvl9pPr>
              <a:defRPr sz="1000" b="0">
                <a:solidFill>
                  <a:srgbClr val="B9C4D3"/>
                </a:solidFill>
              </a:defRPr>
            </a:lvl9pPr>
          </a:lstStyle>
          <a:p xmlns:a="http://schemas.openxmlformats.org/drawingml/2006/main">
            <a:pPr>
              <a:defRPr sz="1000" b="0">
                <a:solidFill>
                  <a:srgbClr val="B9C4D3"/>
                </a:solidFill>
              </a:defRPr>
            </a:pPr>
            <a:r>
              <a:rPr sz="1000" b="0">
                <a:solidFill>
                  <a:srgbClr val="B9C4D3"/>
                </a:solidFill>
              </a:rPr>
              <a:t>Log: new optimized photo (Italian display).</a:t>
            </a:r>
          </a:p>
        </p:txBody>
      </p:sp>
      <p:sp>
        <p:nvSpPr>
          <p:cNvPr id="8" name="">
            <a:extLst xmlns:a="http://schemas.openxmlformats.org/drawingml/2006/main">
              <a:ext uri="{FF2B5EF4-FFF2-40B4-BE49-F238E27FC236}">
                <a16:creationId xmlns:a16="http://schemas.microsoft.com/office/drawing/2014/main" id="{CF23FDF7-0B97-4993-9AD9-6934FC60C812}"/>
              </a:ext>
            </a:extLst>
          </p:cNvPr>
          <p:cNvSpPr>
            <a:spLocks xmlns:a="http://schemas.openxmlformats.org/drawingml/2006/main" noGrp="1"/>
          </p:cNvSpPr>
          <p:nvPr/>
        </p:nvSpPr>
        <p:spPr>
          <a:xfrm xmlns:a="http://schemas.openxmlformats.org/drawingml/2006/main">
            <a:off x="457200" y="6934200"/>
            <a:ext cx="111125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00" b="0">
                <a:solidFill>
                  <a:srgbClr val="65A3FF"/>
                </a:solidFill>
              </a:defRPr>
            </a:defPPr>
            <a:lvl1pPr>
              <a:defRPr sz="1100" b="0">
                <a:solidFill>
                  <a:srgbClr val="65A3FF"/>
                </a:solidFill>
              </a:defRPr>
            </a:lvl1pPr>
            <a:lvl2pPr>
              <a:defRPr sz="1100" b="0">
                <a:solidFill>
                  <a:srgbClr val="65A3FF"/>
                </a:solidFill>
              </a:defRPr>
            </a:lvl2pPr>
            <a:lvl3pPr>
              <a:defRPr sz="1100" b="0">
                <a:solidFill>
                  <a:srgbClr val="65A3FF"/>
                </a:solidFill>
              </a:defRPr>
            </a:lvl3pPr>
            <a:lvl4pPr>
              <a:defRPr sz="1100" b="0">
                <a:solidFill>
                  <a:srgbClr val="65A3FF"/>
                </a:solidFill>
              </a:defRPr>
            </a:lvl4pPr>
            <a:lvl5pPr>
              <a:defRPr sz="1100" b="0">
                <a:solidFill>
                  <a:srgbClr val="65A3FF"/>
                </a:solidFill>
              </a:defRPr>
            </a:lvl5pPr>
            <a:lvl6pPr>
              <a:defRPr sz="1100" b="0">
                <a:solidFill>
                  <a:srgbClr val="65A3FF"/>
                </a:solidFill>
              </a:defRPr>
            </a:lvl6pPr>
            <a:lvl7pPr>
              <a:defRPr sz="1100" b="0">
                <a:solidFill>
                  <a:srgbClr val="65A3FF"/>
                </a:solidFill>
              </a:defRPr>
            </a:lvl7pPr>
            <a:lvl8pPr>
              <a:defRPr sz="1100" b="0">
                <a:solidFill>
                  <a:srgbClr val="65A3FF"/>
                </a:solidFill>
              </a:defRPr>
            </a:lvl8pPr>
            <a:lvl9pPr>
              <a:defRPr sz="1100" b="0">
                <a:solidFill>
                  <a:srgbClr val="65A3FF"/>
                </a:solidFill>
              </a:defRPr>
            </a:lvl9pPr>
          </a:lstStyle>
          <a:p xmlns:a="http://schemas.openxmlformats.org/drawingml/2006/main">
            <a:pPr>
              <a:defRPr sz="1100" b="0">
                <a:solidFill>
                  <a:srgbClr val="65A3FF"/>
                </a:solidFill>
              </a:defRPr>
            </a:pPr>
            <a:r>
              <a:rPr sz="1100" b="0">
                <a:solidFill>
                  <a:srgbClr val="65A3FF"/>
                </a:solidFill>
              </a:rPr>
              <a:t>DEMO/2026 · Example, not certification</a:t>
            </a:r>
          </a:p>
        </p:txBody>
      </p:sp>
    </p:spTree>
    <p:extLst>
      <p:ext uri="{BB962C8B-B14F-4D97-AF65-F5344CB8AC3E}">
        <p14:creationId xmlns:p14="http://schemas.microsoft.com/office/powerpoint/2010/main" val="291045934"/>
      </p:ext>
    </p:extLst>
  </p:cSld>
</p:sld>
</file>

<file path=ppt/slides/slide23.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C714B3-04AB-440D-ACC0-E429CA6671F9}"/>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CONSTRUCTION</a:t>
            </a:r>
          </a:p>
        </p:txBody>
      </p:sp>
      <p:sp>
        <p:nvSpPr>
          <p:cNvPr id="2" name="">
            <a:extLst xmlns:a="http://schemas.openxmlformats.org/drawingml/2006/main">
              <a:ext uri="{FF2B5EF4-FFF2-40B4-BE49-F238E27FC236}">
                <a16:creationId xmlns:a16="http://schemas.microsoft.com/office/drawing/2014/main" id="{B0C67E0F-08C0-4D3B-A1D3-75C9E64D4713}"/>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Accessible and serviceable</a:t>
            </a:r>
          </a:p>
        </p:txBody>
      </p:sp>
      <p:sp>
        <p:nvSpPr>
          <p:cNvPr id="3" name="">
            <a:extLst xmlns:a="http://schemas.openxmlformats.org/drawingml/2006/main">
              <a:ext uri="{FF2B5EF4-FFF2-40B4-BE49-F238E27FC236}">
                <a16:creationId xmlns:a16="http://schemas.microsoft.com/office/drawing/2014/main" id="{41474690-64B0-4C18-B0C3-59935E9B8DDC}"/>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C5D2767C-AF87-44A1-9DFE-3F32531A81C8}"/>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23</a:t>
            </a:r>
          </a:p>
        </p:txBody>
      </p:sp>
      <p:pic>
        <p:nvPicPr>
          <p:cNvPr id="5" name="">
            <a:extLst xmlns:a="http://schemas.openxmlformats.org/drawingml/2006/main">
              <a:ext uri="{FF2B5EF4-FFF2-40B4-BE49-F238E27FC236}">
                <a16:creationId xmlns:a16="http://schemas.microsoft.com/office/drawing/2014/main" id="{95647989-8B9A-4FA7-B50D-F35C29006ED7}"/>
              </a:ext>
            </a:extLst>
          </p:cNvPr>
          <p:cNvPicPr>
            <a:picLocks xmlns:a="http://schemas.openxmlformats.org/drawingml/2006/main" noChangeAspect="1"/>
          </p:cNvPicPr>
          <p:nvPr/>
        </p:nvPicPr>
        <p:blipFill>
          <a:blip xmlns:r="http://schemas.openxmlformats.org/officeDocument/2006/relationships" xmlns:a="http://schemas.openxmlformats.org/drawingml/2006/main" r:embed="R4e404975fa3d4fd4"/>
          <a:stretch xmlns:a="http://schemas.openxmlformats.org/drawingml/2006/main"/>
        </p:blipFill>
        <p:spPr>
          <a:xfrm xmlns:a="http://schemas.openxmlformats.org/drawingml/2006/main">
            <a:off x="901700" y="1397000"/>
            <a:ext cx="4572000" cy="34290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02817E0-C735-4146-B0FA-94CA51ED4C21}"/>
              </a:ext>
            </a:extLst>
          </p:cNvPr>
          <p:cNvPicPr>
            <a:picLocks xmlns:a="http://schemas.openxmlformats.org/drawingml/2006/main" noChangeAspect="1"/>
          </p:cNvPicPr>
          <p:nvPr/>
        </p:nvPicPr>
        <p:blipFill>
          <a:blip xmlns:r="http://schemas.openxmlformats.org/officeDocument/2006/relationships" xmlns:a="http://schemas.openxmlformats.org/drawingml/2006/main" r:embed="R1e616469abd5490f"/>
          <a:stretch xmlns:a="http://schemas.openxmlformats.org/drawingml/2006/main"/>
        </p:blipFill>
        <p:spPr>
          <a:xfrm xmlns:a="http://schemas.openxmlformats.org/drawingml/2006/main">
            <a:off x="6756400" y="1397000"/>
            <a:ext cx="4572000" cy="3429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6828FB9-04AD-403F-BCDB-E91EED8FC895}"/>
              </a:ext>
            </a:extLst>
          </p:cNvPr>
          <p:cNvSpPr>
            <a:spLocks xmlns:a="http://schemas.openxmlformats.org/drawingml/2006/main" noGrp="1"/>
          </p:cNvSpPr>
          <p:nvPr/>
        </p:nvSpPr>
        <p:spPr>
          <a:xfrm xmlns:a="http://schemas.openxmlformats.org/drawingml/2006/main">
            <a:off x="457200" y="524510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1">
                <a:solidFill>
                  <a:srgbClr val="65A5FF"/>
                </a:solidFill>
                <a:latin typeface="Arial"/>
                <a:ea typeface="Arial"/>
                <a:cs typeface="Arial"/>
              </a:defRPr>
            </a:defPPr>
            <a:lvl1pPr>
              <a:buNone/>
              <a:defRPr sz="1400" b="1">
                <a:solidFill>
                  <a:srgbClr val="65A5FF"/>
                </a:solidFill>
                <a:latin typeface="Arial"/>
                <a:ea typeface="Arial"/>
                <a:cs typeface="Arial"/>
              </a:defRPr>
            </a:lvl1pPr>
            <a:lvl2pPr>
              <a:buNone/>
              <a:defRPr sz="1400" b="1">
                <a:solidFill>
                  <a:srgbClr val="65A5FF"/>
                </a:solidFill>
                <a:latin typeface="Arial"/>
                <a:ea typeface="Arial"/>
                <a:cs typeface="Arial"/>
              </a:defRPr>
            </a:lvl2pPr>
            <a:lvl3pPr>
              <a:buNone/>
              <a:defRPr sz="1400" b="1">
                <a:solidFill>
                  <a:srgbClr val="65A5FF"/>
                </a:solidFill>
                <a:latin typeface="Arial"/>
                <a:ea typeface="Arial"/>
                <a:cs typeface="Arial"/>
              </a:defRPr>
            </a:lvl3pPr>
            <a:lvl4pPr>
              <a:buNone/>
              <a:defRPr sz="1400" b="1">
                <a:solidFill>
                  <a:srgbClr val="65A5FF"/>
                </a:solidFill>
                <a:latin typeface="Arial"/>
                <a:ea typeface="Arial"/>
                <a:cs typeface="Arial"/>
              </a:defRPr>
            </a:lvl4pPr>
            <a:lvl5pPr>
              <a:buNone/>
              <a:defRPr sz="1400" b="1">
                <a:solidFill>
                  <a:srgbClr val="65A5FF"/>
                </a:solidFill>
                <a:latin typeface="Arial"/>
                <a:ea typeface="Arial"/>
                <a:cs typeface="Arial"/>
              </a:defRPr>
            </a:lvl5pPr>
            <a:lvl6pPr>
              <a:buNone/>
              <a:defRPr sz="1400" b="1">
                <a:solidFill>
                  <a:srgbClr val="65A5FF"/>
                </a:solidFill>
                <a:latin typeface="Arial"/>
                <a:ea typeface="Arial"/>
                <a:cs typeface="Arial"/>
              </a:defRPr>
            </a:lvl6pPr>
            <a:lvl7pPr>
              <a:buNone/>
              <a:defRPr sz="1400" b="1">
                <a:solidFill>
                  <a:srgbClr val="65A5FF"/>
                </a:solidFill>
                <a:latin typeface="Arial"/>
                <a:ea typeface="Arial"/>
                <a:cs typeface="Arial"/>
              </a:defRPr>
            </a:lvl7pPr>
            <a:lvl8pPr>
              <a:buNone/>
              <a:defRPr sz="1400" b="1">
                <a:solidFill>
                  <a:srgbClr val="65A5FF"/>
                </a:solidFill>
                <a:latin typeface="Arial"/>
                <a:ea typeface="Arial"/>
                <a:cs typeface="Arial"/>
              </a:defRPr>
            </a:lvl8pPr>
            <a:lvl9pPr>
              <a:buNone/>
              <a:defRPr sz="1400" b="1">
                <a:solidFill>
                  <a:srgbClr val="65A5FF"/>
                </a:solidFill>
                <a:latin typeface="Arial"/>
                <a:ea typeface="Arial"/>
                <a:cs typeface="Arial"/>
              </a:defRPr>
            </a:lvl9pPr>
          </a:lstStyle>
          <a:p xmlns:a="http://schemas.openxmlformats.org/drawingml/2006/main">
            <a:pPr>
              <a:buNone/>
              <a:defRPr sz="1400" b="1">
                <a:solidFill>
                  <a:srgbClr val="65A5FF"/>
                </a:solidFill>
                <a:latin typeface="Arial"/>
                <a:ea typeface="Arial"/>
                <a:cs typeface="Arial"/>
              </a:defRPr>
            </a:pPr>
            <a:r>
              <a:rPr sz="1400" b="1">
                <a:solidFill>
                  <a:srgbClr val="65A5FF"/>
                </a:solidFill>
                <a:latin typeface="Arial"/>
                <a:ea typeface="Arial"/>
                <a:cs typeface="Arial"/>
              </a:rPr>
              <a:t>Two USB-C access points</a:t>
            </a:r>
          </a:p>
        </p:txBody>
      </p:sp>
      <p:sp>
        <p:nvSpPr>
          <p:cNvPr id="8" name="">
            <a:extLst xmlns:a="http://schemas.openxmlformats.org/drawingml/2006/main">
              <a:ext uri="{FF2B5EF4-FFF2-40B4-BE49-F238E27FC236}">
                <a16:creationId xmlns:a16="http://schemas.microsoft.com/office/drawing/2014/main" id="{C2593D1A-867B-43B9-AF34-08E6CA9457B8}"/>
              </a:ext>
            </a:extLst>
          </p:cNvPr>
          <p:cNvSpPr>
            <a:spLocks xmlns:a="http://schemas.openxmlformats.org/drawingml/2006/main" noGrp="1"/>
          </p:cNvSpPr>
          <p:nvPr/>
        </p:nvSpPr>
        <p:spPr>
          <a:xfrm xmlns:a="http://schemas.openxmlformats.org/drawingml/2006/main">
            <a:off x="457200" y="5565140"/>
            <a:ext cx="11277600" cy="248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F6F8FC"/>
                </a:solidFill>
                <a:latin typeface="Arial"/>
                <a:ea typeface="Arial"/>
                <a:cs typeface="Arial"/>
              </a:defRPr>
            </a:defPPr>
            <a:lvl1pPr>
              <a:buNone/>
              <a:defRPr sz="1200" b="0">
                <a:solidFill>
                  <a:srgbClr val="F6F8FC"/>
                </a:solidFill>
                <a:latin typeface="Arial"/>
                <a:ea typeface="Arial"/>
                <a:cs typeface="Arial"/>
              </a:defRPr>
            </a:lvl1pPr>
            <a:lvl2pPr>
              <a:buNone/>
              <a:defRPr sz="1200" b="0">
                <a:solidFill>
                  <a:srgbClr val="F6F8FC"/>
                </a:solidFill>
                <a:latin typeface="Arial"/>
                <a:ea typeface="Arial"/>
                <a:cs typeface="Arial"/>
              </a:defRPr>
            </a:lvl2pPr>
            <a:lvl3pPr>
              <a:buNone/>
              <a:defRPr sz="1200" b="0">
                <a:solidFill>
                  <a:srgbClr val="F6F8FC"/>
                </a:solidFill>
                <a:latin typeface="Arial"/>
                <a:ea typeface="Arial"/>
                <a:cs typeface="Arial"/>
              </a:defRPr>
            </a:lvl3pPr>
            <a:lvl4pPr>
              <a:buNone/>
              <a:defRPr sz="1200" b="0">
                <a:solidFill>
                  <a:srgbClr val="F6F8FC"/>
                </a:solidFill>
                <a:latin typeface="Arial"/>
                <a:ea typeface="Arial"/>
                <a:cs typeface="Arial"/>
              </a:defRPr>
            </a:lvl4pPr>
            <a:lvl5pPr>
              <a:buNone/>
              <a:defRPr sz="1200" b="0">
                <a:solidFill>
                  <a:srgbClr val="F6F8FC"/>
                </a:solidFill>
                <a:latin typeface="Arial"/>
                <a:ea typeface="Arial"/>
                <a:cs typeface="Arial"/>
              </a:defRPr>
            </a:lvl5pPr>
            <a:lvl6pPr>
              <a:buNone/>
              <a:defRPr sz="1200" b="0">
                <a:solidFill>
                  <a:srgbClr val="F6F8FC"/>
                </a:solidFill>
                <a:latin typeface="Arial"/>
                <a:ea typeface="Arial"/>
                <a:cs typeface="Arial"/>
              </a:defRPr>
            </a:lvl6pPr>
            <a:lvl7pPr>
              <a:buNone/>
              <a:defRPr sz="1200" b="0">
                <a:solidFill>
                  <a:srgbClr val="F6F8FC"/>
                </a:solidFill>
                <a:latin typeface="Arial"/>
                <a:ea typeface="Arial"/>
                <a:cs typeface="Arial"/>
              </a:defRPr>
            </a:lvl7pPr>
            <a:lvl8pPr>
              <a:buNone/>
              <a:defRPr sz="1200" b="0">
                <a:solidFill>
                  <a:srgbClr val="F6F8FC"/>
                </a:solidFill>
                <a:latin typeface="Arial"/>
                <a:ea typeface="Arial"/>
                <a:cs typeface="Arial"/>
              </a:defRPr>
            </a:lvl8pPr>
            <a:lvl9pPr>
              <a:buNone/>
              <a:defRPr sz="1200" b="0">
                <a:solidFill>
                  <a:srgbClr val="F6F8FC"/>
                </a:solidFill>
                <a:latin typeface="Arial"/>
                <a:ea typeface="Arial"/>
                <a:cs typeface="Arial"/>
              </a:defRPr>
            </a:lvl9pPr>
          </a:lstStyle>
          <a:p xmlns:a="http://schemas.openxmlformats.org/drawingml/2006/main">
            <a:pPr>
              <a:buNone/>
              <a:defRPr sz="1200" b="0">
                <a:solidFill>
                  <a:srgbClr val="F6F8FC"/>
                </a:solidFill>
                <a:latin typeface="Arial"/>
                <a:ea typeface="Arial"/>
                <a:cs typeface="Arial"/>
              </a:defRPr>
            </a:pPr>
            <a:r>
              <a:rPr sz="1200" b="0">
                <a:solidFill>
                  <a:srgbClr val="F6F8FC"/>
                </a:solidFill>
                <a:latin typeface="Arial"/>
                <a:ea typeface="Arial"/>
                <a:cs typeface="Arial"/>
              </a:rPr>
              <a:t>Rear socket for power; side socket for programming, protected by a TPU cap.</a:t>
            </a:r>
          </a:p>
        </p:txBody>
      </p:sp>
      <p:sp>
        <p:nvSpPr>
          <p:cNvPr id="9" name="">
            <a:extLst xmlns:a="http://schemas.openxmlformats.org/drawingml/2006/main">
              <a:ext uri="{FF2B5EF4-FFF2-40B4-BE49-F238E27FC236}">
                <a16:creationId xmlns:a16="http://schemas.microsoft.com/office/drawing/2014/main" id="{230AF6F2-AFA1-4A3F-9D04-4EBE9648FA92}"/>
              </a:ext>
            </a:extLst>
          </p:cNvPr>
          <p:cNvSpPr>
            <a:spLocks xmlns:a="http://schemas.openxmlformats.org/drawingml/2006/main" noGrp="1"/>
          </p:cNvSpPr>
          <p:nvPr/>
        </p:nvSpPr>
        <p:spPr>
          <a:xfrm xmlns:a="http://schemas.openxmlformats.org/drawingml/2006/main">
            <a:off x="457200" y="599186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1">
                <a:solidFill>
                  <a:srgbClr val="65A5FF"/>
                </a:solidFill>
                <a:latin typeface="Arial"/>
                <a:ea typeface="Arial"/>
                <a:cs typeface="Arial"/>
              </a:defRPr>
            </a:defPPr>
            <a:lvl1pPr>
              <a:buNone/>
              <a:defRPr sz="1400" b="1">
                <a:solidFill>
                  <a:srgbClr val="65A5FF"/>
                </a:solidFill>
                <a:latin typeface="Arial"/>
                <a:ea typeface="Arial"/>
                <a:cs typeface="Arial"/>
              </a:defRPr>
            </a:lvl1pPr>
            <a:lvl2pPr>
              <a:buNone/>
              <a:defRPr sz="1400" b="1">
                <a:solidFill>
                  <a:srgbClr val="65A5FF"/>
                </a:solidFill>
                <a:latin typeface="Arial"/>
                <a:ea typeface="Arial"/>
                <a:cs typeface="Arial"/>
              </a:defRPr>
            </a:lvl2pPr>
            <a:lvl3pPr>
              <a:buNone/>
              <a:defRPr sz="1400" b="1">
                <a:solidFill>
                  <a:srgbClr val="65A5FF"/>
                </a:solidFill>
                <a:latin typeface="Arial"/>
                <a:ea typeface="Arial"/>
                <a:cs typeface="Arial"/>
              </a:defRPr>
            </a:lvl3pPr>
            <a:lvl4pPr>
              <a:buNone/>
              <a:defRPr sz="1400" b="1">
                <a:solidFill>
                  <a:srgbClr val="65A5FF"/>
                </a:solidFill>
                <a:latin typeface="Arial"/>
                <a:ea typeface="Arial"/>
                <a:cs typeface="Arial"/>
              </a:defRPr>
            </a:lvl4pPr>
            <a:lvl5pPr>
              <a:buNone/>
              <a:defRPr sz="1400" b="1">
                <a:solidFill>
                  <a:srgbClr val="65A5FF"/>
                </a:solidFill>
                <a:latin typeface="Arial"/>
                <a:ea typeface="Arial"/>
                <a:cs typeface="Arial"/>
              </a:defRPr>
            </a:lvl5pPr>
            <a:lvl6pPr>
              <a:buNone/>
              <a:defRPr sz="1400" b="1">
                <a:solidFill>
                  <a:srgbClr val="65A5FF"/>
                </a:solidFill>
                <a:latin typeface="Arial"/>
                <a:ea typeface="Arial"/>
                <a:cs typeface="Arial"/>
              </a:defRPr>
            </a:lvl6pPr>
            <a:lvl7pPr>
              <a:buNone/>
              <a:defRPr sz="1400" b="1">
                <a:solidFill>
                  <a:srgbClr val="65A5FF"/>
                </a:solidFill>
                <a:latin typeface="Arial"/>
                <a:ea typeface="Arial"/>
                <a:cs typeface="Arial"/>
              </a:defRPr>
            </a:lvl7pPr>
            <a:lvl8pPr>
              <a:buNone/>
              <a:defRPr sz="1400" b="1">
                <a:solidFill>
                  <a:srgbClr val="65A5FF"/>
                </a:solidFill>
                <a:latin typeface="Arial"/>
                <a:ea typeface="Arial"/>
                <a:cs typeface="Arial"/>
              </a:defRPr>
            </a:lvl8pPr>
            <a:lvl9pPr>
              <a:buNone/>
              <a:defRPr sz="1400" b="1">
                <a:solidFill>
                  <a:srgbClr val="65A5FF"/>
                </a:solidFill>
                <a:latin typeface="Arial"/>
                <a:ea typeface="Arial"/>
                <a:cs typeface="Arial"/>
              </a:defRPr>
            </a:lvl9pPr>
          </a:lstStyle>
          <a:p xmlns:a="http://schemas.openxmlformats.org/drawingml/2006/main">
            <a:pPr>
              <a:buNone/>
              <a:defRPr sz="1400" b="1">
                <a:solidFill>
                  <a:srgbClr val="65A5FF"/>
                </a:solidFill>
                <a:latin typeface="Arial"/>
                <a:ea typeface="Arial"/>
                <a:cs typeface="Arial"/>
              </a:defRPr>
            </a:pPr>
            <a:r>
              <a:rPr sz="1400" b="1">
                <a:solidFill>
                  <a:srgbClr val="65A5FF"/>
                </a:solidFill>
                <a:latin typeface="Arial"/>
                <a:ea typeface="Arial"/>
                <a:cs typeface="Arial"/>
              </a:rPr>
              <a:t>Sensor and electronics compartments</a:t>
            </a:r>
          </a:p>
        </p:txBody>
      </p:sp>
      <p:sp>
        <p:nvSpPr>
          <p:cNvPr id="10" name="">
            <a:extLst xmlns:a="http://schemas.openxmlformats.org/drawingml/2006/main">
              <a:ext uri="{FF2B5EF4-FFF2-40B4-BE49-F238E27FC236}">
                <a16:creationId xmlns:a16="http://schemas.microsoft.com/office/drawing/2014/main" id="{FFA30402-2E0F-45B3-8B9D-A79FE607BE5A}"/>
              </a:ext>
            </a:extLst>
          </p:cNvPr>
          <p:cNvSpPr>
            <a:spLocks xmlns:a="http://schemas.openxmlformats.org/drawingml/2006/main" noGrp="1"/>
          </p:cNvSpPr>
          <p:nvPr/>
        </p:nvSpPr>
        <p:spPr>
          <a:xfrm xmlns:a="http://schemas.openxmlformats.org/drawingml/2006/main">
            <a:off x="457200" y="6311900"/>
            <a:ext cx="11277600" cy="248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F6F8FC"/>
                </a:solidFill>
                <a:latin typeface="Arial"/>
                <a:ea typeface="Arial"/>
                <a:cs typeface="Arial"/>
              </a:defRPr>
            </a:defPPr>
            <a:lvl1pPr>
              <a:buNone/>
              <a:defRPr sz="1200" b="0">
                <a:solidFill>
                  <a:srgbClr val="F6F8FC"/>
                </a:solidFill>
                <a:latin typeface="Arial"/>
                <a:ea typeface="Arial"/>
                <a:cs typeface="Arial"/>
              </a:defRPr>
            </a:lvl1pPr>
            <a:lvl2pPr>
              <a:buNone/>
              <a:defRPr sz="1200" b="0">
                <a:solidFill>
                  <a:srgbClr val="F6F8FC"/>
                </a:solidFill>
                <a:latin typeface="Arial"/>
                <a:ea typeface="Arial"/>
                <a:cs typeface="Arial"/>
              </a:defRPr>
            </a:lvl2pPr>
            <a:lvl3pPr>
              <a:buNone/>
              <a:defRPr sz="1200" b="0">
                <a:solidFill>
                  <a:srgbClr val="F6F8FC"/>
                </a:solidFill>
                <a:latin typeface="Arial"/>
                <a:ea typeface="Arial"/>
                <a:cs typeface="Arial"/>
              </a:defRPr>
            </a:lvl3pPr>
            <a:lvl4pPr>
              <a:buNone/>
              <a:defRPr sz="1200" b="0">
                <a:solidFill>
                  <a:srgbClr val="F6F8FC"/>
                </a:solidFill>
                <a:latin typeface="Arial"/>
                <a:ea typeface="Arial"/>
                <a:cs typeface="Arial"/>
              </a:defRPr>
            </a:lvl4pPr>
            <a:lvl5pPr>
              <a:buNone/>
              <a:defRPr sz="1200" b="0">
                <a:solidFill>
                  <a:srgbClr val="F6F8FC"/>
                </a:solidFill>
                <a:latin typeface="Arial"/>
                <a:ea typeface="Arial"/>
                <a:cs typeface="Arial"/>
              </a:defRPr>
            </a:lvl5pPr>
            <a:lvl6pPr>
              <a:buNone/>
              <a:defRPr sz="1200" b="0">
                <a:solidFill>
                  <a:srgbClr val="F6F8FC"/>
                </a:solidFill>
                <a:latin typeface="Arial"/>
                <a:ea typeface="Arial"/>
                <a:cs typeface="Arial"/>
              </a:defRPr>
            </a:lvl6pPr>
            <a:lvl7pPr>
              <a:buNone/>
              <a:defRPr sz="1200" b="0">
                <a:solidFill>
                  <a:srgbClr val="F6F8FC"/>
                </a:solidFill>
                <a:latin typeface="Arial"/>
                <a:ea typeface="Arial"/>
                <a:cs typeface="Arial"/>
              </a:defRPr>
            </a:lvl7pPr>
            <a:lvl8pPr>
              <a:buNone/>
              <a:defRPr sz="1200" b="0">
                <a:solidFill>
                  <a:srgbClr val="F6F8FC"/>
                </a:solidFill>
                <a:latin typeface="Arial"/>
                <a:ea typeface="Arial"/>
                <a:cs typeface="Arial"/>
              </a:defRPr>
            </a:lvl8pPr>
            <a:lvl9pPr>
              <a:buNone/>
              <a:defRPr sz="1200" b="0">
                <a:solidFill>
                  <a:srgbClr val="F6F8FC"/>
                </a:solidFill>
                <a:latin typeface="Arial"/>
                <a:ea typeface="Arial"/>
                <a:cs typeface="Arial"/>
              </a:defRPr>
            </a:lvl9pPr>
          </a:lstStyle>
          <a:p xmlns:a="http://schemas.openxmlformats.org/drawingml/2006/main">
            <a:pPr>
              <a:buNone/>
              <a:defRPr sz="1200" b="0">
                <a:solidFill>
                  <a:srgbClr val="F6F8FC"/>
                </a:solidFill>
                <a:latin typeface="Arial"/>
                <a:ea typeface="Arial"/>
                <a:cs typeface="Arial"/>
              </a:defRPr>
            </a:pPr>
            <a:r>
              <a:rPr sz="1200" b="0">
                <a:solidFill>
                  <a:srgbClr val="F6F8FC"/>
                </a:solidFill>
                <a:latin typeface="Arial"/>
                <a:ea typeface="Arial"/>
                <a:cs typeface="Arial"/>
              </a:rPr>
              <a:t>Rear-mounted SEN69C, removable support and internal partition. Keep the airflow paths clear and separate.</a:t>
            </a:r>
          </a:p>
        </p:txBody>
      </p:sp>
    </p:spTree>
    <p:extLst>
      <p:ext uri="{BB962C8B-B14F-4D97-AF65-F5344CB8AC3E}">
        <p14:creationId xmlns:p14="http://schemas.microsoft.com/office/powerpoint/2010/main" val="1743747270"/>
      </p:ext>
    </p:extLst>
  </p:cSld>
</p:sld>
</file>

<file path=ppt/slides/slide24.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EEB945-958D-46A7-9D77-54CF0954B3FC}"/>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MEASUREMENTS, AVERAGES AND LIMITS</a:t>
            </a:r>
          </a:p>
        </p:txBody>
      </p:sp>
      <p:sp>
        <p:nvSpPr>
          <p:cNvPr id="2" name="">
            <a:extLst xmlns:a="http://schemas.openxmlformats.org/drawingml/2006/main">
              <a:ext uri="{FF2B5EF4-FFF2-40B4-BE49-F238E27FC236}">
                <a16:creationId xmlns:a16="http://schemas.microsoft.com/office/drawing/2014/main" id="{07BFD347-FAB3-4EA0-B874-5DC6490C7A54}"/>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Understanding the references</a:t>
            </a:r>
          </a:p>
        </p:txBody>
      </p:sp>
      <p:sp>
        <p:nvSpPr>
          <p:cNvPr id="3" name="">
            <a:extLst xmlns:a="http://schemas.openxmlformats.org/drawingml/2006/main">
              <a:ext uri="{FF2B5EF4-FFF2-40B4-BE49-F238E27FC236}">
                <a16:creationId xmlns:a16="http://schemas.microsoft.com/office/drawing/2014/main" id="{E2EFC04E-C652-4A2A-AA89-72543867E945}"/>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F64A816E-387C-43AE-A7D5-43CC0EE90039}"/>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24</a:t>
            </a:r>
          </a:p>
        </p:txBody>
      </p:sp>
      <p:graphicFrame>
        <p:nvGraphicFramePr>
          <p:cNvPr id="5" name="">
            <a:extLst xmlns:a="http://schemas.openxmlformats.org/drawingml/2006/main">
              <a:ext uri="{FF2B5EF4-FFF2-40B4-BE49-F238E27FC236}">
                <a16:creationId xmlns:a16="http://schemas.microsoft.com/office/drawing/2014/main" id="{95753978-4E48-41D4-960A-FA399C26F1B4}"/>
              </a:ext>
            </a:extLst>
          </p:cNvPr>
          <p:cNvGraphicFramePr/>
          <p:nvPr/>
        </p:nvGraphicFramePr>
        <p:xfrm>
          <a:off xmlns:a="http://schemas.openxmlformats.org/drawingml/2006/main" x="457200" y="1587500"/>
          <a:ext xmlns:a="http://schemas.openxmlformats.org/drawingml/2006/main" cx="11277600" cy="2006600"/>
        </p:xfrm>
        <a:graphic xmlns:a="http://schemas.openxmlformats.org/drawingml/2006/main">
          <a:graphicData uri="http://schemas.openxmlformats.org/drawingml/2006/table">
            <a:tbl>
              <a:tblPr/>
              <a:tblGrid>
                <a:gridCol w="1587500"/>
                <a:gridCol w="3365500"/>
                <a:gridCol w="6324600"/>
              </a:tblGrid>
              <a:tr h="401320">
                <a:tc>
                  <a:txBody>
                    <a:bodyPr lIns="114300" tIns="76200" rIns="114300" bIns="76200">
                      <a:noAutofit/>
                    </a:bodyPr>
                    <a:lstStyle/>
                    <a:p>
                      <a:r>
                        <a:rPr sz="1200" b="1">
                          <a:solidFill>
                            <a:srgbClr val="F6F8FC"/>
                          </a:solidFill>
                          <a:latin typeface="Arial"/>
                          <a:ea typeface="Arial"/>
                          <a:cs typeface="Arial"/>
                        </a:rPr>
                        <a:t>Indication</a:t>
                      </a:r>
                    </a:p>
                  </a:txBody>
                  <a:tcPr marL="91440" marR="91440" marT="45720" marB="45720">
                    <a:lnL w="4763">
                      <a:solidFill>
                        <a:srgbClr val="263B59"/>
                      </a:solidFill>
                      <a:prstDash val="solid"/>
                    </a:lnL>
                    <a:lnR w="4763">
                      <a:solidFill>
                        <a:srgbClr val="263B59"/>
                      </a:solidFill>
                      <a:prstDash val="solid"/>
                    </a:lnR>
                    <a:lnT w="4763">
                      <a:solidFill>
                        <a:srgbClr val="263B59"/>
                      </a:solidFill>
                      <a:prstDash val="solid"/>
                    </a:lnT>
                    <a:lnB w="4763">
                      <a:solidFill>
                        <a:srgbClr val="263B59"/>
                      </a:solidFill>
                      <a:prstDash val="solid"/>
                    </a:lnB>
                    <a:solidFill>
                      <a:srgbClr val="263B59"/>
                    </a:solidFill>
                  </a:tcPr>
                </a:tc>
                <a:tc>
                  <a:txBody>
                    <a:bodyPr lIns="114300" tIns="76200" rIns="114300" bIns="76200">
                      <a:noAutofit/>
                    </a:bodyPr>
                    <a:lstStyle/>
                    <a:p>
                      <a:r>
                        <a:rPr sz="1200" b="1">
                          <a:solidFill>
                            <a:srgbClr val="F6F8FC"/>
                          </a:solidFill>
                          <a:latin typeface="Arial"/>
                          <a:ea typeface="Arial"/>
                          <a:cs typeface="Arial"/>
                        </a:rPr>
                        <a:t>Reference</a:t>
                      </a:r>
                    </a:p>
                  </a:txBody>
                  <a:tcPr marL="91440" marR="91440" marT="45720" marB="45720">
                    <a:lnR w="4763">
                      <a:solidFill>
                        <a:srgbClr val="263B59"/>
                      </a:solidFill>
                      <a:prstDash val="solid"/>
                    </a:lnR>
                    <a:lnT w="4763">
                      <a:solidFill>
                        <a:srgbClr val="263B59"/>
                      </a:solidFill>
                      <a:prstDash val="solid"/>
                    </a:lnT>
                    <a:lnB w="4763">
                      <a:solidFill>
                        <a:srgbClr val="263B59"/>
                      </a:solidFill>
                      <a:prstDash val="solid"/>
                    </a:lnB>
                    <a:solidFill>
                      <a:srgbClr val="263B59"/>
                    </a:solidFill>
                  </a:tcPr>
                </a:tc>
                <a:tc>
                  <a:txBody>
                    <a:bodyPr lIns="114300" tIns="76200" rIns="114300" bIns="76200">
                      <a:noAutofit/>
                    </a:bodyPr>
                    <a:lstStyle/>
                    <a:p>
                      <a:r>
                        <a:rPr sz="1200" b="1">
                          <a:solidFill>
                            <a:srgbClr val="F6F8FC"/>
                          </a:solidFill>
                          <a:latin typeface="Arial"/>
                          <a:ea typeface="Arial"/>
                          <a:cs typeface="Arial"/>
                        </a:rPr>
                        <a:t>Correct use</a:t>
                      </a:r>
                    </a:p>
                  </a:txBody>
                  <a:tcPr marL="91440" marR="91440" marT="45720" marB="45720">
                    <a:lnR w="4763">
                      <a:solidFill>
                        <a:srgbClr val="263B59"/>
                      </a:solidFill>
                      <a:prstDash val="solid"/>
                    </a:lnR>
                    <a:lnT w="4763">
                      <a:solidFill>
                        <a:srgbClr val="263B59"/>
                      </a:solidFill>
                      <a:prstDash val="solid"/>
                    </a:lnT>
                    <a:lnB w="4763">
                      <a:solidFill>
                        <a:srgbClr val="263B59"/>
                      </a:solidFill>
                      <a:prstDash val="solid"/>
                    </a:lnB>
                    <a:solidFill>
                      <a:srgbClr val="263B59"/>
                    </a:solidFill>
                  </a:tcPr>
                </a:tc>
              </a:tr>
              <a:tr h="401320">
                <a:tc>
                  <a:txBody>
                    <a:bodyPr lIns="114300" tIns="76200" rIns="114300" bIns="76200">
                      <a:noAutofit/>
                    </a:bodyPr>
                    <a:lstStyle/>
                    <a:p>
                      <a:r>
                        <a:rPr sz="1200" b="0">
                          <a:solidFill>
                            <a:srgbClr val="F6F8FC"/>
                          </a:solidFill>
                          <a:latin typeface="Arial"/>
                          <a:ea typeface="Arial"/>
                          <a:cs typeface="Arial"/>
                        </a:rPr>
                        <a:t>PM2.5</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200" b="0">
                          <a:solidFill>
                            <a:srgbClr val="F6F8FC"/>
                          </a:solidFill>
                          <a:latin typeface="Arial"/>
                          <a:ea typeface="Arial"/>
                          <a:cs typeface="Arial"/>
                        </a:rPr>
                        <a:t>WHO 2021: 15 µg/m³ / 24 h</a:t>
                      </a:r>
                    </a:p>
                  </a:txBody>
                  <a:tcPr marL="91440" marR="91440" marT="45720" marB="45720">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200" b="0">
                          <a:solidFill>
                            <a:srgbClr val="F6F8FC"/>
                          </a:solidFill>
                          <a:latin typeface="Arial"/>
                          <a:ea typeface="Arial"/>
                          <a:cs typeface="Arial"/>
                        </a:rPr>
                        <a:t>Complete after 24 hours of valid recording; earlier averages are partial.</a:t>
                      </a:r>
                    </a:p>
                  </a:txBody>
                  <a:tcPr marL="91440" marR="91440" marT="45720" marB="45720">
                    <a:lnR w="4763">
                      <a:solidFill>
                        <a:srgbClr val="263B59"/>
                      </a:solidFill>
                      <a:prstDash val="solid"/>
                    </a:lnR>
                    <a:lnB w="4763">
                      <a:solidFill>
                        <a:srgbClr val="263B59"/>
                      </a:solidFill>
                      <a:prstDash val="solid"/>
                    </a:lnB>
                    <a:solidFill>
                      <a:srgbClr val="1A2331"/>
                    </a:solidFill>
                  </a:tcPr>
                </a:tc>
              </a:tr>
              <a:tr h="401320">
                <a:tc>
                  <a:txBody>
                    <a:bodyPr lIns="114300" tIns="76200" rIns="114300" bIns="76200">
                      <a:noAutofit/>
                    </a:bodyPr>
                    <a:lstStyle/>
                    <a:p>
                      <a:r>
                        <a:rPr sz="1200" b="0">
                          <a:solidFill>
                            <a:srgbClr val="F6F8FC"/>
                          </a:solidFill>
                          <a:latin typeface="Arial"/>
                          <a:ea typeface="Arial"/>
                          <a:cs typeface="Arial"/>
                        </a:rPr>
                        <a:t>PM10</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200" b="0">
                          <a:solidFill>
                            <a:srgbClr val="F6F8FC"/>
                          </a:solidFill>
                          <a:latin typeface="Arial"/>
                          <a:ea typeface="Arial"/>
                          <a:cs typeface="Arial"/>
                        </a:rPr>
                        <a:t>WHO 2021: 45 µg/m³ / 24 h</a:t>
                      </a:r>
                    </a:p>
                  </a:txBody>
                  <a:tcPr marL="91440" marR="91440" marT="45720" marB="45720">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200" b="0">
                          <a:solidFill>
                            <a:srgbClr val="F6F8FC"/>
                          </a:solidFill>
                          <a:latin typeface="Arial"/>
                          <a:ea typeface="Arial"/>
                          <a:cs typeface="Arial"/>
                        </a:rPr>
                        <a:t>Complete after 24 hours of valid recording; earlier averages are partial.</a:t>
                      </a:r>
                    </a:p>
                  </a:txBody>
                  <a:tcPr marL="91440" marR="91440" marT="45720" marB="45720">
                    <a:lnR w="4763">
                      <a:solidFill>
                        <a:srgbClr val="263B59"/>
                      </a:solidFill>
                      <a:prstDash val="solid"/>
                    </a:lnR>
                    <a:lnB w="4763">
                      <a:solidFill>
                        <a:srgbClr val="263B59"/>
                      </a:solidFill>
                      <a:prstDash val="solid"/>
                    </a:lnB>
                    <a:solidFill>
                      <a:srgbClr val="202C3D"/>
                    </a:solidFill>
                  </a:tcPr>
                </a:tc>
              </a:tr>
              <a:tr h="401320">
                <a:tc>
                  <a:txBody>
                    <a:bodyPr lIns="114300" tIns="76200" rIns="114300" bIns="76200">
                      <a:noAutofit/>
                    </a:bodyPr>
                    <a:lstStyle/>
                    <a:p>
                      <a:r>
                        <a:rPr sz="1200" b="0">
                          <a:solidFill>
                            <a:srgbClr val="F6F8FC"/>
                          </a:solidFill>
                          <a:latin typeface="Arial"/>
                          <a:ea typeface="Arial"/>
                          <a:cs typeface="Arial"/>
                        </a:rPr>
                        <a:t>HCHO</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200" b="0">
                          <a:solidFill>
                            <a:srgbClr val="F6F8FC"/>
                          </a:solidFill>
                          <a:latin typeface="Arial"/>
                          <a:ea typeface="Arial"/>
                          <a:cs typeface="Arial"/>
                        </a:rPr>
                        <a:t>WHO 2010: 0.1 mg/m³ / 30 min</a:t>
                      </a:r>
                    </a:p>
                  </a:txBody>
                  <a:tcPr marL="91440" marR="91440" marT="45720" marB="45720">
                    <a:lnR w="4763">
                      <a:solidFill>
                        <a:srgbClr val="263B59"/>
                      </a:solidFill>
                      <a:prstDash val="solid"/>
                    </a:lnR>
                    <a:lnB w="4763">
                      <a:solidFill>
                        <a:srgbClr val="263B59"/>
                      </a:solidFill>
                      <a:prstDash val="solid"/>
                    </a:lnB>
                    <a:solidFill>
                      <a:srgbClr val="1A2331"/>
                    </a:solidFill>
                  </a:tcPr>
                </a:tc>
                <a:tc>
                  <a:txBody>
                    <a:bodyPr lIns="114300" tIns="76200" rIns="114300" bIns="76200">
                      <a:noAutofit/>
                    </a:bodyPr>
                    <a:lstStyle/>
                    <a:p>
                      <a:r>
                        <a:rPr sz="1200" b="0">
                          <a:solidFill>
                            <a:srgbClr val="F6F8FC"/>
                          </a:solidFill>
                          <a:latin typeface="Arial"/>
                          <a:ea typeface="Arial"/>
                          <a:cs typeface="Arial"/>
                        </a:rPr>
                        <a:t>About 81 ppb at 25 °C and 1 atm; conversion depends on conditions.</a:t>
                      </a:r>
                    </a:p>
                  </a:txBody>
                  <a:tcPr marL="91440" marR="91440" marT="45720" marB="45720">
                    <a:lnR w="4763">
                      <a:solidFill>
                        <a:srgbClr val="263B59"/>
                      </a:solidFill>
                      <a:prstDash val="solid"/>
                    </a:lnR>
                    <a:lnB w="4763">
                      <a:solidFill>
                        <a:srgbClr val="263B59"/>
                      </a:solidFill>
                      <a:prstDash val="solid"/>
                    </a:lnB>
                    <a:solidFill>
                      <a:srgbClr val="1A2331"/>
                    </a:solidFill>
                  </a:tcPr>
                </a:tc>
              </a:tr>
              <a:tr h="401320">
                <a:tc>
                  <a:txBody>
                    <a:bodyPr lIns="114300" tIns="76200" rIns="114300" bIns="76200">
                      <a:noAutofit/>
                    </a:bodyPr>
                    <a:lstStyle/>
                    <a:p>
                      <a:r>
                        <a:rPr sz="1200" b="0">
                          <a:solidFill>
                            <a:srgbClr val="F6F8FC"/>
                          </a:solidFill>
                          <a:latin typeface="Arial"/>
                          <a:ea typeface="Arial"/>
                          <a:cs typeface="Arial"/>
                        </a:rPr>
                        <a:t>CO2, VOC, NOx</a:t>
                      </a:r>
                    </a:p>
                  </a:txBody>
                  <a:tcPr marL="91440" marR="91440" marT="45720" marB="45720">
                    <a:lnL w="4763">
                      <a:solidFill>
                        <a:srgbClr val="263B59"/>
                      </a:solidFill>
                      <a:prstDash val="solid"/>
                    </a:lnL>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200" b="0">
                          <a:solidFill>
                            <a:srgbClr val="F6F8FC"/>
                          </a:solidFill>
                          <a:latin typeface="Arial"/>
                          <a:ea typeface="Arial"/>
                          <a:cs typeface="Arial"/>
                        </a:rPr>
                        <a:t>Ventilation / relative indices</a:t>
                      </a:r>
                    </a:p>
                  </a:txBody>
                  <a:tcPr marL="91440" marR="91440" marT="45720" marB="45720">
                    <a:lnR w="4763">
                      <a:solidFill>
                        <a:srgbClr val="263B59"/>
                      </a:solidFill>
                      <a:prstDash val="solid"/>
                    </a:lnR>
                    <a:lnB w="4763">
                      <a:solidFill>
                        <a:srgbClr val="263B59"/>
                      </a:solidFill>
                      <a:prstDash val="solid"/>
                    </a:lnB>
                    <a:solidFill>
                      <a:srgbClr val="202C3D"/>
                    </a:solidFill>
                  </a:tcPr>
                </a:tc>
                <a:tc>
                  <a:txBody>
                    <a:bodyPr lIns="114300" tIns="76200" rIns="114300" bIns="76200">
                      <a:noAutofit/>
                    </a:bodyPr>
                    <a:lstStyle/>
                    <a:p>
                      <a:r>
                        <a:rPr sz="1200" b="0">
                          <a:solidFill>
                            <a:srgbClr val="F6F8FC"/>
                          </a:solidFill>
                          <a:latin typeface="Arial"/>
                          <a:ea typeface="Arial"/>
                          <a:cs typeface="Arial"/>
                        </a:rPr>
                        <a:t>They do not detect every pollutant or establish safe air on their own.</a:t>
                      </a:r>
                    </a:p>
                  </a:txBody>
                  <a:tcPr marL="91440" marR="91440" marT="45720" marB="45720">
                    <a:lnR w="4763">
                      <a:solidFill>
                        <a:srgbClr val="263B59"/>
                      </a:solidFill>
                      <a:prstDash val="solid"/>
                    </a:lnR>
                    <a:lnB w="4763">
                      <a:solidFill>
                        <a:srgbClr val="263B59"/>
                      </a:solidFill>
                      <a:prstDash val="solid"/>
                    </a:lnB>
                    <a:solidFill>
                      <a:srgbClr val="202C3D"/>
                    </a:solidFill>
                  </a:tcPr>
                </a:tc>
              </a:tr>
            </a:tbl>
          </a:graphicData>
        </a:graphic>
      </p:graphicFrame>
      <p:sp>
        <p:nvSpPr>
          <p:cNvPr id="6" name="">
            <a:extLst xmlns:a="http://schemas.openxmlformats.org/drawingml/2006/main">
              <a:ext uri="{FF2B5EF4-FFF2-40B4-BE49-F238E27FC236}">
                <a16:creationId xmlns:a16="http://schemas.microsoft.com/office/drawing/2014/main" id="{9AAF02E0-9B55-4F5B-BA0B-9B9AD50296DD}"/>
              </a:ext>
            </a:extLst>
          </p:cNvPr>
          <p:cNvSpPr>
            <a:spLocks xmlns:a="http://schemas.openxmlformats.org/drawingml/2006/main" noGrp="1"/>
          </p:cNvSpPr>
          <p:nvPr/>
        </p:nvSpPr>
        <p:spPr>
          <a:xfrm xmlns:a="http://schemas.openxmlformats.org/drawingml/2006/main">
            <a:off x="457200" y="57785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S6, S7, S10. WHO guidelines do not certify GUARDIAN or replace assessment of occupational exposure.</a:t>
            </a:r>
          </a:p>
        </p:txBody>
      </p:sp>
    </p:spTree>
    <p:extLst>
      <p:ext uri="{BB962C8B-B14F-4D97-AF65-F5344CB8AC3E}">
        <p14:creationId xmlns:p14="http://schemas.microsoft.com/office/powerpoint/2010/main" val="2122515461"/>
      </p:ext>
    </p:extLst>
  </p:cSld>
</p:sld>
</file>

<file path=ppt/slides/slide25.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BC9CAD-A8CD-438E-B2D4-C1C12E7B6C9B}"/>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USE AND LIMITATIONS</a:t>
            </a:r>
          </a:p>
        </p:txBody>
      </p:sp>
      <p:sp>
        <p:nvSpPr>
          <p:cNvPr id="2" name="">
            <a:extLst xmlns:a="http://schemas.openxmlformats.org/drawingml/2006/main">
              <a:ext uri="{FF2B5EF4-FFF2-40B4-BE49-F238E27FC236}">
                <a16:creationId xmlns:a16="http://schemas.microsoft.com/office/drawing/2014/main" id="{E440F47E-42FE-4348-9634-91DBE41FCF47}"/>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Interpreting measurements correctly</a:t>
            </a:r>
          </a:p>
        </p:txBody>
      </p:sp>
      <p:sp>
        <p:nvSpPr>
          <p:cNvPr id="3" name="">
            <a:extLst xmlns:a="http://schemas.openxmlformats.org/drawingml/2006/main">
              <a:ext uri="{FF2B5EF4-FFF2-40B4-BE49-F238E27FC236}">
                <a16:creationId xmlns:a16="http://schemas.microsoft.com/office/drawing/2014/main" id="{DABBF97E-514D-4608-A8C8-6213E9307A1D}"/>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F67D15C1-A911-46AC-B1A9-3AE0F8BFA908}"/>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AA350C5D-C24A-4066-94F5-8DAF642B90F5}"/>
              </a:ext>
            </a:extLst>
          </p:cNvPr>
          <p:cNvSpPr>
            <a:spLocks xmlns:a="http://schemas.openxmlformats.org/drawingml/2006/main" noGrp="1"/>
          </p:cNvSpPr>
          <p:nvPr/>
        </p:nvSpPr>
        <p:spPr>
          <a:xfrm xmlns:a="http://schemas.openxmlformats.org/drawingml/2006/main">
            <a:off x="457200" y="1651000"/>
            <a:ext cx="11277600"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00" b="1">
                <a:solidFill>
                  <a:srgbClr val="65A5FF"/>
                </a:solidFill>
                <a:latin typeface="Arial"/>
                <a:ea typeface="Arial"/>
                <a:cs typeface="Arial"/>
              </a:defRPr>
            </a:defPPr>
            <a:lvl1pPr>
              <a:buNone/>
              <a:defRPr sz="1700" b="1">
                <a:solidFill>
                  <a:srgbClr val="65A5FF"/>
                </a:solidFill>
                <a:latin typeface="Arial"/>
                <a:ea typeface="Arial"/>
                <a:cs typeface="Arial"/>
              </a:defRPr>
            </a:lvl1pPr>
            <a:lvl2pPr>
              <a:buNone/>
              <a:defRPr sz="1700" b="1">
                <a:solidFill>
                  <a:srgbClr val="65A5FF"/>
                </a:solidFill>
                <a:latin typeface="Arial"/>
                <a:ea typeface="Arial"/>
                <a:cs typeface="Arial"/>
              </a:defRPr>
            </a:lvl2pPr>
            <a:lvl3pPr>
              <a:buNone/>
              <a:defRPr sz="1700" b="1">
                <a:solidFill>
                  <a:srgbClr val="65A5FF"/>
                </a:solidFill>
                <a:latin typeface="Arial"/>
                <a:ea typeface="Arial"/>
                <a:cs typeface="Arial"/>
              </a:defRPr>
            </a:lvl3pPr>
            <a:lvl4pPr>
              <a:buNone/>
              <a:defRPr sz="1700" b="1">
                <a:solidFill>
                  <a:srgbClr val="65A5FF"/>
                </a:solidFill>
                <a:latin typeface="Arial"/>
                <a:ea typeface="Arial"/>
                <a:cs typeface="Arial"/>
              </a:defRPr>
            </a:lvl4pPr>
            <a:lvl5pPr>
              <a:buNone/>
              <a:defRPr sz="1700" b="1">
                <a:solidFill>
                  <a:srgbClr val="65A5FF"/>
                </a:solidFill>
                <a:latin typeface="Arial"/>
                <a:ea typeface="Arial"/>
                <a:cs typeface="Arial"/>
              </a:defRPr>
            </a:lvl5pPr>
            <a:lvl6pPr>
              <a:buNone/>
              <a:defRPr sz="1700" b="1">
                <a:solidFill>
                  <a:srgbClr val="65A5FF"/>
                </a:solidFill>
                <a:latin typeface="Arial"/>
                <a:ea typeface="Arial"/>
                <a:cs typeface="Arial"/>
              </a:defRPr>
            </a:lvl6pPr>
            <a:lvl7pPr>
              <a:buNone/>
              <a:defRPr sz="1700" b="1">
                <a:solidFill>
                  <a:srgbClr val="65A5FF"/>
                </a:solidFill>
                <a:latin typeface="Arial"/>
                <a:ea typeface="Arial"/>
                <a:cs typeface="Arial"/>
              </a:defRPr>
            </a:lvl7pPr>
            <a:lvl8pPr>
              <a:buNone/>
              <a:defRPr sz="1700" b="1">
                <a:solidFill>
                  <a:srgbClr val="65A5FF"/>
                </a:solidFill>
                <a:latin typeface="Arial"/>
                <a:ea typeface="Arial"/>
                <a:cs typeface="Arial"/>
              </a:defRPr>
            </a:lvl8pPr>
            <a:lvl9pPr>
              <a:buNone/>
              <a:defRPr sz="1700" b="1">
                <a:solidFill>
                  <a:srgbClr val="65A5FF"/>
                </a:solidFill>
                <a:latin typeface="Arial"/>
                <a:ea typeface="Arial"/>
                <a:cs typeface="Arial"/>
              </a:defRPr>
            </a:lvl9pPr>
          </a:lstStyle>
          <a:p xmlns:a="http://schemas.openxmlformats.org/drawingml/2006/main">
            <a:pPr>
              <a:buNone/>
              <a:defRPr sz="1700" b="1">
                <a:solidFill>
                  <a:srgbClr val="65A5FF"/>
                </a:solidFill>
                <a:latin typeface="Arial"/>
                <a:ea typeface="Arial"/>
                <a:cs typeface="Arial"/>
              </a:defRPr>
            </a:pPr>
            <a:r>
              <a:rPr sz="1700" b="1">
                <a:solidFill>
                  <a:srgbClr val="65A5FF"/>
                </a:solidFill>
                <a:latin typeface="Arial"/>
                <a:ea typeface="Arial"/>
                <a:cs typeface="Arial"/>
              </a:rPr>
              <a:t>Continuous monitoring</a:t>
            </a:r>
          </a:p>
        </p:txBody>
      </p:sp>
      <p:sp>
        <p:nvSpPr>
          <p:cNvPr id="6" name="">
            <a:extLst xmlns:a="http://schemas.openxmlformats.org/drawingml/2006/main">
              <a:ext uri="{FF2B5EF4-FFF2-40B4-BE49-F238E27FC236}">
                <a16:creationId xmlns:a16="http://schemas.microsoft.com/office/drawing/2014/main" id="{5E59D93B-A11C-4C30-A43D-9D679BF3A9F8}"/>
              </a:ext>
            </a:extLst>
          </p:cNvPr>
          <p:cNvSpPr>
            <a:spLocks xmlns:a="http://schemas.openxmlformats.org/drawingml/2006/main" noGrp="1"/>
          </p:cNvSpPr>
          <p:nvPr/>
        </p:nvSpPr>
        <p:spPr>
          <a:xfrm xmlns:a="http://schemas.openxmlformats.org/drawingml/2006/main">
            <a:off x="457200" y="2020570"/>
            <a:ext cx="11277600" cy="29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F6F8FC"/>
                </a:solidFill>
                <a:latin typeface="Arial"/>
                <a:ea typeface="Arial"/>
                <a:cs typeface="Arial"/>
              </a:defRPr>
            </a:defPPr>
            <a:lvl1pPr>
              <a:buNone/>
              <a:defRPr sz="1500" b="0">
                <a:solidFill>
                  <a:srgbClr val="F6F8FC"/>
                </a:solidFill>
                <a:latin typeface="Arial"/>
                <a:ea typeface="Arial"/>
                <a:cs typeface="Arial"/>
              </a:defRPr>
            </a:lvl1pPr>
            <a:lvl2pPr>
              <a:buNone/>
              <a:defRPr sz="1500" b="0">
                <a:solidFill>
                  <a:srgbClr val="F6F8FC"/>
                </a:solidFill>
                <a:latin typeface="Arial"/>
                <a:ea typeface="Arial"/>
                <a:cs typeface="Arial"/>
              </a:defRPr>
            </a:lvl2pPr>
            <a:lvl3pPr>
              <a:buNone/>
              <a:defRPr sz="1500" b="0">
                <a:solidFill>
                  <a:srgbClr val="F6F8FC"/>
                </a:solidFill>
                <a:latin typeface="Arial"/>
                <a:ea typeface="Arial"/>
                <a:cs typeface="Arial"/>
              </a:defRPr>
            </a:lvl3pPr>
            <a:lvl4pPr>
              <a:buNone/>
              <a:defRPr sz="1500" b="0">
                <a:solidFill>
                  <a:srgbClr val="F6F8FC"/>
                </a:solidFill>
                <a:latin typeface="Arial"/>
                <a:ea typeface="Arial"/>
                <a:cs typeface="Arial"/>
              </a:defRPr>
            </a:lvl4pPr>
            <a:lvl5pPr>
              <a:buNone/>
              <a:defRPr sz="1500" b="0">
                <a:solidFill>
                  <a:srgbClr val="F6F8FC"/>
                </a:solidFill>
                <a:latin typeface="Arial"/>
                <a:ea typeface="Arial"/>
                <a:cs typeface="Arial"/>
              </a:defRPr>
            </a:lvl5pPr>
            <a:lvl6pPr>
              <a:buNone/>
              <a:defRPr sz="1500" b="0">
                <a:solidFill>
                  <a:srgbClr val="F6F8FC"/>
                </a:solidFill>
                <a:latin typeface="Arial"/>
                <a:ea typeface="Arial"/>
                <a:cs typeface="Arial"/>
              </a:defRPr>
            </a:lvl6pPr>
            <a:lvl7pPr>
              <a:buNone/>
              <a:defRPr sz="1500" b="0">
                <a:solidFill>
                  <a:srgbClr val="F6F8FC"/>
                </a:solidFill>
                <a:latin typeface="Arial"/>
                <a:ea typeface="Arial"/>
                <a:cs typeface="Arial"/>
              </a:defRPr>
            </a:lvl7pPr>
            <a:lvl8pPr>
              <a:buNone/>
              <a:defRPr sz="1500" b="0">
                <a:solidFill>
                  <a:srgbClr val="F6F8FC"/>
                </a:solidFill>
                <a:latin typeface="Arial"/>
                <a:ea typeface="Arial"/>
                <a:cs typeface="Arial"/>
              </a:defRPr>
            </a:lvl8pPr>
            <a:lvl9pPr>
              <a:buNone/>
              <a:defRPr sz="1500" b="0">
                <a:solidFill>
                  <a:srgbClr val="F6F8FC"/>
                </a:solidFill>
                <a:latin typeface="Arial"/>
                <a:ea typeface="Arial"/>
                <a:cs typeface="Arial"/>
              </a:defRPr>
            </a:lvl9pPr>
          </a:lstStyle>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GUARDIAN combines environmental readings, history, microSD recording, web access and printer information in one interface.</a:t>
            </a:r>
          </a:p>
        </p:txBody>
      </p:sp>
      <p:sp>
        <p:nvSpPr>
          <p:cNvPr id="7" name="">
            <a:extLst xmlns:a="http://schemas.openxmlformats.org/drawingml/2006/main">
              <a:ext uri="{FF2B5EF4-FFF2-40B4-BE49-F238E27FC236}">
                <a16:creationId xmlns:a16="http://schemas.microsoft.com/office/drawing/2014/main" id="{0C79D7A5-411D-49C6-A5B3-94F60B25157A}"/>
              </a:ext>
            </a:extLst>
          </p:cNvPr>
          <p:cNvSpPr>
            <a:spLocks xmlns:a="http://schemas.openxmlformats.org/drawingml/2006/main" noGrp="1"/>
          </p:cNvSpPr>
          <p:nvPr/>
        </p:nvSpPr>
        <p:spPr>
          <a:xfrm xmlns:a="http://schemas.openxmlformats.org/drawingml/2006/main">
            <a:off x="457200" y="2744470"/>
            <a:ext cx="11277600"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00" b="1">
                <a:solidFill>
                  <a:srgbClr val="65A5FF"/>
                </a:solidFill>
                <a:latin typeface="Arial"/>
                <a:ea typeface="Arial"/>
                <a:cs typeface="Arial"/>
              </a:defRPr>
            </a:defPPr>
            <a:lvl1pPr>
              <a:buNone/>
              <a:defRPr sz="1700" b="1">
                <a:solidFill>
                  <a:srgbClr val="65A5FF"/>
                </a:solidFill>
                <a:latin typeface="Arial"/>
                <a:ea typeface="Arial"/>
                <a:cs typeface="Arial"/>
              </a:defRPr>
            </a:lvl1pPr>
            <a:lvl2pPr>
              <a:buNone/>
              <a:defRPr sz="1700" b="1">
                <a:solidFill>
                  <a:srgbClr val="65A5FF"/>
                </a:solidFill>
                <a:latin typeface="Arial"/>
                <a:ea typeface="Arial"/>
                <a:cs typeface="Arial"/>
              </a:defRPr>
            </a:lvl2pPr>
            <a:lvl3pPr>
              <a:buNone/>
              <a:defRPr sz="1700" b="1">
                <a:solidFill>
                  <a:srgbClr val="65A5FF"/>
                </a:solidFill>
                <a:latin typeface="Arial"/>
                <a:ea typeface="Arial"/>
                <a:cs typeface="Arial"/>
              </a:defRPr>
            </a:lvl3pPr>
            <a:lvl4pPr>
              <a:buNone/>
              <a:defRPr sz="1700" b="1">
                <a:solidFill>
                  <a:srgbClr val="65A5FF"/>
                </a:solidFill>
                <a:latin typeface="Arial"/>
                <a:ea typeface="Arial"/>
                <a:cs typeface="Arial"/>
              </a:defRPr>
            </a:lvl4pPr>
            <a:lvl5pPr>
              <a:buNone/>
              <a:defRPr sz="1700" b="1">
                <a:solidFill>
                  <a:srgbClr val="65A5FF"/>
                </a:solidFill>
                <a:latin typeface="Arial"/>
                <a:ea typeface="Arial"/>
                <a:cs typeface="Arial"/>
              </a:defRPr>
            </a:lvl5pPr>
            <a:lvl6pPr>
              <a:buNone/>
              <a:defRPr sz="1700" b="1">
                <a:solidFill>
                  <a:srgbClr val="65A5FF"/>
                </a:solidFill>
                <a:latin typeface="Arial"/>
                <a:ea typeface="Arial"/>
                <a:cs typeface="Arial"/>
              </a:defRPr>
            </a:lvl6pPr>
            <a:lvl7pPr>
              <a:buNone/>
              <a:defRPr sz="1700" b="1">
                <a:solidFill>
                  <a:srgbClr val="65A5FF"/>
                </a:solidFill>
                <a:latin typeface="Arial"/>
                <a:ea typeface="Arial"/>
                <a:cs typeface="Arial"/>
              </a:defRPr>
            </a:lvl7pPr>
            <a:lvl8pPr>
              <a:buNone/>
              <a:defRPr sz="1700" b="1">
                <a:solidFill>
                  <a:srgbClr val="65A5FF"/>
                </a:solidFill>
                <a:latin typeface="Arial"/>
                <a:ea typeface="Arial"/>
                <a:cs typeface="Arial"/>
              </a:defRPr>
            </a:lvl8pPr>
            <a:lvl9pPr>
              <a:buNone/>
              <a:defRPr sz="1700" b="1">
                <a:solidFill>
                  <a:srgbClr val="65A5FF"/>
                </a:solidFill>
                <a:latin typeface="Arial"/>
                <a:ea typeface="Arial"/>
                <a:cs typeface="Arial"/>
              </a:defRPr>
            </a:lvl9pPr>
          </a:lstStyle>
          <a:p xmlns:a="http://schemas.openxmlformats.org/drawingml/2006/main">
            <a:pPr>
              <a:buNone/>
              <a:defRPr sz="1700" b="1">
                <a:solidFill>
                  <a:srgbClr val="65A5FF"/>
                </a:solidFill>
                <a:latin typeface="Arial"/>
                <a:ea typeface="Arial"/>
                <a:cs typeface="Arial"/>
              </a:defRPr>
            </a:pPr>
            <a:r>
              <a:rPr sz="1700" b="1">
                <a:solidFill>
                  <a:srgbClr val="65A5FF"/>
                </a:solidFill>
                <a:latin typeface="Arial"/>
                <a:ea typeface="Arial"/>
                <a:cs typeface="Arial"/>
              </a:rPr>
              <a:t>Accuracy and operating conditions</a:t>
            </a:r>
          </a:p>
        </p:txBody>
      </p:sp>
      <p:sp>
        <p:nvSpPr>
          <p:cNvPr id="8" name="">
            <a:extLst xmlns:a="http://schemas.openxmlformats.org/drawingml/2006/main">
              <a:ext uri="{FF2B5EF4-FFF2-40B4-BE49-F238E27FC236}">
                <a16:creationId xmlns:a16="http://schemas.microsoft.com/office/drawing/2014/main" id="{60DE7324-2CCB-40A4-B6F4-C307047181C4}"/>
              </a:ext>
            </a:extLst>
          </p:cNvPr>
          <p:cNvSpPr>
            <a:spLocks xmlns:a="http://schemas.openxmlformats.org/drawingml/2006/main" noGrp="1"/>
          </p:cNvSpPr>
          <p:nvPr/>
        </p:nvSpPr>
        <p:spPr>
          <a:xfrm xmlns:a="http://schemas.openxmlformats.org/drawingml/2006/main">
            <a:off x="457200" y="3114040"/>
            <a:ext cx="11277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F6F8FC"/>
                </a:solidFill>
                <a:latin typeface="Arial"/>
                <a:ea typeface="Arial"/>
                <a:cs typeface="Arial"/>
              </a:defRPr>
            </a:defPPr>
            <a:lvl1pPr>
              <a:buNone/>
              <a:defRPr sz="1500" b="0">
                <a:solidFill>
                  <a:srgbClr val="F6F8FC"/>
                </a:solidFill>
                <a:latin typeface="Arial"/>
                <a:ea typeface="Arial"/>
                <a:cs typeface="Arial"/>
              </a:defRPr>
            </a:lvl1pPr>
            <a:lvl2pPr>
              <a:buNone/>
              <a:defRPr sz="1500" b="0">
                <a:solidFill>
                  <a:srgbClr val="F6F8FC"/>
                </a:solidFill>
                <a:latin typeface="Arial"/>
                <a:ea typeface="Arial"/>
                <a:cs typeface="Arial"/>
              </a:defRPr>
            </a:lvl2pPr>
            <a:lvl3pPr>
              <a:buNone/>
              <a:defRPr sz="1500" b="0">
                <a:solidFill>
                  <a:srgbClr val="F6F8FC"/>
                </a:solidFill>
                <a:latin typeface="Arial"/>
                <a:ea typeface="Arial"/>
                <a:cs typeface="Arial"/>
              </a:defRPr>
            </a:lvl3pPr>
            <a:lvl4pPr>
              <a:buNone/>
              <a:defRPr sz="1500" b="0">
                <a:solidFill>
                  <a:srgbClr val="F6F8FC"/>
                </a:solidFill>
                <a:latin typeface="Arial"/>
                <a:ea typeface="Arial"/>
                <a:cs typeface="Arial"/>
              </a:defRPr>
            </a:lvl4pPr>
            <a:lvl5pPr>
              <a:buNone/>
              <a:defRPr sz="1500" b="0">
                <a:solidFill>
                  <a:srgbClr val="F6F8FC"/>
                </a:solidFill>
                <a:latin typeface="Arial"/>
                <a:ea typeface="Arial"/>
                <a:cs typeface="Arial"/>
              </a:defRPr>
            </a:lvl5pPr>
            <a:lvl6pPr>
              <a:buNone/>
              <a:defRPr sz="1500" b="0">
                <a:solidFill>
                  <a:srgbClr val="F6F8FC"/>
                </a:solidFill>
                <a:latin typeface="Arial"/>
                <a:ea typeface="Arial"/>
                <a:cs typeface="Arial"/>
              </a:defRPr>
            </a:lvl6pPr>
            <a:lvl7pPr>
              <a:buNone/>
              <a:defRPr sz="1500" b="0">
                <a:solidFill>
                  <a:srgbClr val="F6F8FC"/>
                </a:solidFill>
                <a:latin typeface="Arial"/>
                <a:ea typeface="Arial"/>
                <a:cs typeface="Arial"/>
              </a:defRPr>
            </a:lvl7pPr>
            <a:lvl8pPr>
              <a:buNone/>
              <a:defRPr sz="1500" b="0">
                <a:solidFill>
                  <a:srgbClr val="F6F8FC"/>
                </a:solidFill>
                <a:latin typeface="Arial"/>
                <a:ea typeface="Arial"/>
                <a:cs typeface="Arial"/>
              </a:defRPr>
            </a:lvl8pPr>
            <a:lvl9pPr>
              <a:buNone/>
              <a:defRPr sz="1500" b="0">
                <a:solidFill>
                  <a:srgbClr val="F6F8FC"/>
                </a:solidFill>
                <a:latin typeface="Arial"/>
                <a:ea typeface="Arial"/>
                <a:cs typeface="Arial"/>
              </a:defRPr>
            </a:lvl9pPr>
          </a:lstStyle>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Readings also depend on placement, ventilation and thermal conditions. Independent metrological validation of the complete device</a:t>
            </a:r>
          </a:p>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is not available.</a:t>
            </a:r>
          </a:p>
        </p:txBody>
      </p:sp>
      <p:sp>
        <p:nvSpPr>
          <p:cNvPr id="9" name="">
            <a:extLst xmlns:a="http://schemas.openxmlformats.org/drawingml/2006/main">
              <a:ext uri="{FF2B5EF4-FFF2-40B4-BE49-F238E27FC236}">
                <a16:creationId xmlns:a16="http://schemas.microsoft.com/office/drawing/2014/main" id="{12D51977-7655-43D3-BAF7-20E855258FB3}"/>
              </a:ext>
            </a:extLst>
          </p:cNvPr>
          <p:cNvSpPr>
            <a:spLocks xmlns:a="http://schemas.openxmlformats.org/drawingml/2006/main" noGrp="1"/>
          </p:cNvSpPr>
          <p:nvPr/>
        </p:nvSpPr>
        <p:spPr>
          <a:xfrm xmlns:a="http://schemas.openxmlformats.org/drawingml/2006/main">
            <a:off x="457200" y="3837940"/>
            <a:ext cx="11277600" cy="3314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00" b="1">
                <a:solidFill>
                  <a:srgbClr val="65A5FF"/>
                </a:solidFill>
                <a:latin typeface="Arial"/>
                <a:ea typeface="Arial"/>
                <a:cs typeface="Arial"/>
              </a:defRPr>
            </a:defPPr>
            <a:lvl1pPr>
              <a:buNone/>
              <a:defRPr sz="1700" b="1">
                <a:solidFill>
                  <a:srgbClr val="65A5FF"/>
                </a:solidFill>
                <a:latin typeface="Arial"/>
                <a:ea typeface="Arial"/>
                <a:cs typeface="Arial"/>
              </a:defRPr>
            </a:lvl1pPr>
            <a:lvl2pPr>
              <a:buNone/>
              <a:defRPr sz="1700" b="1">
                <a:solidFill>
                  <a:srgbClr val="65A5FF"/>
                </a:solidFill>
                <a:latin typeface="Arial"/>
                <a:ea typeface="Arial"/>
                <a:cs typeface="Arial"/>
              </a:defRPr>
            </a:lvl2pPr>
            <a:lvl3pPr>
              <a:buNone/>
              <a:defRPr sz="1700" b="1">
                <a:solidFill>
                  <a:srgbClr val="65A5FF"/>
                </a:solidFill>
                <a:latin typeface="Arial"/>
                <a:ea typeface="Arial"/>
                <a:cs typeface="Arial"/>
              </a:defRPr>
            </a:lvl3pPr>
            <a:lvl4pPr>
              <a:buNone/>
              <a:defRPr sz="1700" b="1">
                <a:solidFill>
                  <a:srgbClr val="65A5FF"/>
                </a:solidFill>
                <a:latin typeface="Arial"/>
                <a:ea typeface="Arial"/>
                <a:cs typeface="Arial"/>
              </a:defRPr>
            </a:lvl4pPr>
            <a:lvl5pPr>
              <a:buNone/>
              <a:defRPr sz="1700" b="1">
                <a:solidFill>
                  <a:srgbClr val="65A5FF"/>
                </a:solidFill>
                <a:latin typeface="Arial"/>
                <a:ea typeface="Arial"/>
                <a:cs typeface="Arial"/>
              </a:defRPr>
            </a:lvl5pPr>
            <a:lvl6pPr>
              <a:buNone/>
              <a:defRPr sz="1700" b="1">
                <a:solidFill>
                  <a:srgbClr val="65A5FF"/>
                </a:solidFill>
                <a:latin typeface="Arial"/>
                <a:ea typeface="Arial"/>
                <a:cs typeface="Arial"/>
              </a:defRPr>
            </a:lvl6pPr>
            <a:lvl7pPr>
              <a:buNone/>
              <a:defRPr sz="1700" b="1">
                <a:solidFill>
                  <a:srgbClr val="65A5FF"/>
                </a:solidFill>
                <a:latin typeface="Arial"/>
                <a:ea typeface="Arial"/>
                <a:cs typeface="Arial"/>
              </a:defRPr>
            </a:lvl7pPr>
            <a:lvl8pPr>
              <a:buNone/>
              <a:defRPr sz="1700" b="1">
                <a:solidFill>
                  <a:srgbClr val="65A5FF"/>
                </a:solidFill>
                <a:latin typeface="Arial"/>
                <a:ea typeface="Arial"/>
                <a:cs typeface="Arial"/>
              </a:defRPr>
            </a:lvl8pPr>
            <a:lvl9pPr>
              <a:buNone/>
              <a:defRPr sz="1700" b="1">
                <a:solidFill>
                  <a:srgbClr val="65A5FF"/>
                </a:solidFill>
                <a:latin typeface="Arial"/>
                <a:ea typeface="Arial"/>
                <a:cs typeface="Arial"/>
              </a:defRPr>
            </a:lvl9pPr>
          </a:lstStyle>
          <a:p xmlns:a="http://schemas.openxmlformats.org/drawingml/2006/main">
            <a:pPr>
              <a:buNone/>
              <a:defRPr sz="1700" b="1">
                <a:solidFill>
                  <a:srgbClr val="65A5FF"/>
                </a:solidFill>
                <a:latin typeface="Arial"/>
                <a:ea typeface="Arial"/>
                <a:cs typeface="Arial"/>
              </a:defRPr>
            </a:pPr>
            <a:r>
              <a:rPr sz="1700" b="1">
                <a:solidFill>
                  <a:srgbClr val="65A5FF"/>
                </a:solidFill>
                <a:latin typeface="Arial"/>
                <a:ea typeface="Arial"/>
                <a:cs typeface="Arial"/>
              </a:rPr>
              <a:t>Limits that remain relevant</a:t>
            </a:r>
          </a:p>
        </p:txBody>
      </p:sp>
      <p:sp>
        <p:nvSpPr>
          <p:cNvPr id="10" name="">
            <a:extLst xmlns:a="http://schemas.openxmlformats.org/drawingml/2006/main">
              <a:ext uri="{FF2B5EF4-FFF2-40B4-BE49-F238E27FC236}">
                <a16:creationId xmlns:a16="http://schemas.microsoft.com/office/drawing/2014/main" id="{6E65AF9D-2985-4D7A-99C5-173C720CE68F}"/>
              </a:ext>
            </a:extLst>
          </p:cNvPr>
          <p:cNvSpPr>
            <a:spLocks xmlns:a="http://schemas.openxmlformats.org/drawingml/2006/main" noGrp="1"/>
          </p:cNvSpPr>
          <p:nvPr/>
        </p:nvSpPr>
        <p:spPr>
          <a:xfrm xmlns:a="http://schemas.openxmlformats.org/drawingml/2006/main">
            <a:off x="457200" y="4207510"/>
            <a:ext cx="112776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0">
                <a:solidFill>
                  <a:srgbClr val="F6F8FC"/>
                </a:solidFill>
                <a:latin typeface="Arial"/>
                <a:ea typeface="Arial"/>
                <a:cs typeface="Arial"/>
              </a:defRPr>
            </a:defPPr>
            <a:lvl1pPr>
              <a:buNone/>
              <a:defRPr sz="1500" b="0">
                <a:solidFill>
                  <a:srgbClr val="F6F8FC"/>
                </a:solidFill>
                <a:latin typeface="Arial"/>
                <a:ea typeface="Arial"/>
                <a:cs typeface="Arial"/>
              </a:defRPr>
            </a:lvl1pPr>
            <a:lvl2pPr>
              <a:buNone/>
              <a:defRPr sz="1500" b="0">
                <a:solidFill>
                  <a:srgbClr val="F6F8FC"/>
                </a:solidFill>
                <a:latin typeface="Arial"/>
                <a:ea typeface="Arial"/>
                <a:cs typeface="Arial"/>
              </a:defRPr>
            </a:lvl2pPr>
            <a:lvl3pPr>
              <a:buNone/>
              <a:defRPr sz="1500" b="0">
                <a:solidFill>
                  <a:srgbClr val="F6F8FC"/>
                </a:solidFill>
                <a:latin typeface="Arial"/>
                <a:ea typeface="Arial"/>
                <a:cs typeface="Arial"/>
              </a:defRPr>
            </a:lvl3pPr>
            <a:lvl4pPr>
              <a:buNone/>
              <a:defRPr sz="1500" b="0">
                <a:solidFill>
                  <a:srgbClr val="F6F8FC"/>
                </a:solidFill>
                <a:latin typeface="Arial"/>
                <a:ea typeface="Arial"/>
                <a:cs typeface="Arial"/>
              </a:defRPr>
            </a:lvl4pPr>
            <a:lvl5pPr>
              <a:buNone/>
              <a:defRPr sz="1500" b="0">
                <a:solidFill>
                  <a:srgbClr val="F6F8FC"/>
                </a:solidFill>
                <a:latin typeface="Arial"/>
                <a:ea typeface="Arial"/>
                <a:cs typeface="Arial"/>
              </a:defRPr>
            </a:lvl5pPr>
            <a:lvl6pPr>
              <a:buNone/>
              <a:defRPr sz="1500" b="0">
                <a:solidFill>
                  <a:srgbClr val="F6F8FC"/>
                </a:solidFill>
                <a:latin typeface="Arial"/>
                <a:ea typeface="Arial"/>
                <a:cs typeface="Arial"/>
              </a:defRPr>
            </a:lvl6pPr>
            <a:lvl7pPr>
              <a:buNone/>
              <a:defRPr sz="1500" b="0">
                <a:solidFill>
                  <a:srgbClr val="F6F8FC"/>
                </a:solidFill>
                <a:latin typeface="Arial"/>
                <a:ea typeface="Arial"/>
                <a:cs typeface="Arial"/>
              </a:defRPr>
            </a:lvl7pPr>
            <a:lvl8pPr>
              <a:buNone/>
              <a:defRPr sz="1500" b="0">
                <a:solidFill>
                  <a:srgbClr val="F6F8FC"/>
                </a:solidFill>
                <a:latin typeface="Arial"/>
                <a:ea typeface="Arial"/>
                <a:cs typeface="Arial"/>
              </a:defRPr>
            </a:lvl8pPr>
            <a:lvl9pPr>
              <a:buNone/>
              <a:defRPr sz="1500" b="0">
                <a:solidFill>
                  <a:srgbClr val="F6F8FC"/>
                </a:solidFill>
                <a:latin typeface="Arial"/>
                <a:ea typeface="Arial"/>
                <a:cs typeface="Arial"/>
              </a:defRPr>
            </a:lvl9pPr>
          </a:lstStyle>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Optical PM does not directly measure the entire ultrafine fraction. Gas indices do not identify every compound. Low readings do not</a:t>
            </a:r>
          </a:p>
          <a:p xmlns:a="http://schemas.openxmlformats.org/drawingml/2006/main">
            <a:pPr>
              <a:buNone/>
              <a:defRPr sz="1500" b="0">
                <a:solidFill>
                  <a:srgbClr val="F6F8FC"/>
                </a:solidFill>
                <a:latin typeface="Arial"/>
                <a:ea typeface="Arial"/>
                <a:cs typeface="Arial"/>
              </a:defRPr>
            </a:pPr>
            <a:r>
              <a:rPr sz="1500" b="0">
                <a:solidFill>
                  <a:srgbClr val="F6F8FC"/>
                </a:solidFill>
                <a:latin typeface="Arial"/>
                <a:ea typeface="Arial"/>
                <a:cs typeface="Arial"/>
              </a:rPr>
              <a:t>automatically mean safe air. [S1, S8, S9]</a:t>
            </a:r>
          </a:p>
        </p:txBody>
      </p:sp>
    </p:spTree>
    <p:extLst>
      <p:ext uri="{BB962C8B-B14F-4D97-AF65-F5344CB8AC3E}">
        <p14:creationId xmlns:p14="http://schemas.microsoft.com/office/powerpoint/2010/main" val="1239476896"/>
      </p:ext>
    </p:extLst>
  </p:cSld>
</p:sld>
</file>

<file path=ppt/slides/slide26.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D8BAE7-C115-43D3-A0BE-26C4AE2A6016}"/>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TECHNICAL DOCUMENTATION</a:t>
            </a:r>
          </a:p>
        </p:txBody>
      </p:sp>
      <p:sp>
        <p:nvSpPr>
          <p:cNvPr id="2" name="">
            <a:extLst xmlns:a="http://schemas.openxmlformats.org/drawingml/2006/main">
              <a:ext uri="{FF2B5EF4-FFF2-40B4-BE49-F238E27FC236}">
                <a16:creationId xmlns:a16="http://schemas.microsoft.com/office/drawing/2014/main" id="{F9ACA396-2814-4DB0-B334-A766A12CF375}"/>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Calibration and conformity</a:t>
            </a:r>
          </a:p>
        </p:txBody>
      </p:sp>
      <p:sp>
        <p:nvSpPr>
          <p:cNvPr id="3" name="">
            <a:extLst xmlns:a="http://schemas.openxmlformats.org/drawingml/2006/main">
              <a:ext uri="{FF2B5EF4-FFF2-40B4-BE49-F238E27FC236}">
                <a16:creationId xmlns:a16="http://schemas.microsoft.com/office/drawing/2014/main" id="{41692C39-0EE2-4C10-98AE-72C6FF9F9176}"/>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8B1D88D0-F9A6-4CC3-A38B-331E5C6B433C}"/>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46A90AF6-D05A-4058-BB40-88219C9A6606}"/>
              </a:ext>
            </a:extLst>
          </p:cNvPr>
          <p:cNvSpPr>
            <a:spLocks xmlns:a="http://schemas.openxmlformats.org/drawingml/2006/main" noGrp="1"/>
          </p:cNvSpPr>
          <p:nvPr/>
        </p:nvSpPr>
        <p:spPr>
          <a:xfrm xmlns:a="http://schemas.openxmlformats.org/drawingml/2006/main">
            <a:off x="457200" y="16510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Sensirion statement</a:t>
            </a:r>
          </a:p>
        </p:txBody>
      </p:sp>
      <p:sp>
        <p:nvSpPr>
          <p:cNvPr id="6" name="">
            <a:extLst xmlns:a="http://schemas.openxmlformats.org/drawingml/2006/main">
              <a:ext uri="{FF2B5EF4-FFF2-40B4-BE49-F238E27FC236}">
                <a16:creationId xmlns:a16="http://schemas.microsoft.com/office/drawing/2014/main" id="{91750243-C245-46B2-9130-8E89A63FF032}"/>
              </a:ext>
            </a:extLst>
          </p:cNvPr>
          <p:cNvSpPr>
            <a:spLocks xmlns:a="http://schemas.openxmlformats.org/drawingml/2006/main" noGrp="1"/>
          </p:cNvSpPr>
          <p:nvPr/>
        </p:nvSpPr>
        <p:spPr>
          <a:xfrm xmlns:a="http://schemas.openxmlformats.org/drawingml/2006/main">
            <a:off x="457200" y="2004060"/>
            <a:ext cx="11277600" cy="744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Sensirion states that each device in the listed families, including SEN69C, is individually tested after calibration. The statement covers</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SEN5x/SEN6x particulate-matter sensors; the original is attached to the manual. It is not an individual GUARDIAN calibration report or</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certification of all its channels. [S2]</a:t>
            </a:r>
          </a:p>
        </p:txBody>
      </p:sp>
      <p:sp>
        <p:nvSpPr>
          <p:cNvPr id="7" name="">
            <a:extLst xmlns:a="http://schemas.openxmlformats.org/drawingml/2006/main">
              <a:ext uri="{FF2B5EF4-FFF2-40B4-BE49-F238E27FC236}">
                <a16:creationId xmlns:a16="http://schemas.microsoft.com/office/drawing/2014/main" id="{C5C9E2BA-CB0A-405A-B811-68FB0CBF1D34}"/>
              </a:ext>
            </a:extLst>
          </p:cNvPr>
          <p:cNvSpPr>
            <a:spLocks xmlns:a="http://schemas.openxmlformats.org/drawingml/2006/main" noGrp="1"/>
          </p:cNvSpPr>
          <p:nvPr/>
        </p:nvSpPr>
        <p:spPr>
          <a:xfrm xmlns:a="http://schemas.openxmlformats.org/drawingml/2006/main">
            <a:off x="457200" y="292608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The complete product</a:t>
            </a:r>
          </a:p>
        </p:txBody>
      </p:sp>
      <p:sp>
        <p:nvSpPr>
          <p:cNvPr id="8" name="">
            <a:extLst xmlns:a="http://schemas.openxmlformats.org/drawingml/2006/main">
              <a:ext uri="{FF2B5EF4-FFF2-40B4-BE49-F238E27FC236}">
                <a16:creationId xmlns:a16="http://schemas.microsoft.com/office/drawing/2014/main" id="{8AC49441-CBDC-4BA9-B0CD-078B3ABF6AE4}"/>
              </a:ext>
            </a:extLst>
          </p:cNvPr>
          <p:cNvSpPr>
            <a:spLocks xmlns:a="http://schemas.openxmlformats.org/drawingml/2006/main" noGrp="1"/>
          </p:cNvSpPr>
          <p:nvPr/>
        </p:nvSpPr>
        <p:spPr>
          <a:xfrm xmlns:a="http://schemas.openxmlformats.org/drawingml/2006/main">
            <a:off x="457200" y="327914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Component REACH/RoHS documents contribute to the technical file; they are not a declaration of conformity for the whole device. [S16]</a:t>
            </a:r>
          </a:p>
        </p:txBody>
      </p:sp>
      <p:sp>
        <p:nvSpPr>
          <p:cNvPr id="9" name="">
            <a:extLst xmlns:a="http://schemas.openxmlformats.org/drawingml/2006/main">
              <a:ext uri="{FF2B5EF4-FFF2-40B4-BE49-F238E27FC236}">
                <a16:creationId xmlns:a16="http://schemas.microsoft.com/office/drawing/2014/main" id="{2D02CA42-48D2-4CC8-A071-D8FE740AAFFD}"/>
              </a:ext>
            </a:extLst>
          </p:cNvPr>
          <p:cNvSpPr>
            <a:spLocks xmlns:a="http://schemas.openxmlformats.org/drawingml/2006/main" noGrp="1"/>
          </p:cNvSpPr>
          <p:nvPr/>
        </p:nvSpPr>
        <p:spPr>
          <a:xfrm xmlns:a="http://schemas.openxmlformats.org/drawingml/2006/main">
            <a:off x="457200" y="397002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Before any commercial distribution</a:t>
            </a:r>
          </a:p>
        </p:txBody>
      </p:sp>
      <p:sp>
        <p:nvSpPr>
          <p:cNvPr id="10" name="">
            <a:extLst xmlns:a="http://schemas.openxmlformats.org/drawingml/2006/main">
              <a:ext uri="{FF2B5EF4-FFF2-40B4-BE49-F238E27FC236}">
                <a16:creationId xmlns:a16="http://schemas.microsoft.com/office/drawing/2014/main" id="{42B0D733-D640-4B3A-8E20-DAF527FE7361}"/>
              </a:ext>
            </a:extLst>
          </p:cNvPr>
          <p:cNvSpPr>
            <a:spLocks xmlns:a="http://schemas.openxmlformats.org/drawingml/2006/main" noGrp="1"/>
          </p:cNvSpPr>
          <p:nvPr/>
        </p:nvSpPr>
        <p:spPr>
          <a:xfrm xmlns:a="http://schemas.openxmlformats.org/drawingml/2006/main">
            <a:off x="457200" y="432308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Determine the obligations applicable to the finished product and assess safety, radio/EMC and documentation. RED, RoHS, WEEE and</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REACH are references to assess; no completed certification is claimed here. [S11–S15]</a:t>
            </a:r>
          </a:p>
        </p:txBody>
      </p:sp>
    </p:spTree>
    <p:extLst>
      <p:ext uri="{BB962C8B-B14F-4D97-AF65-F5344CB8AC3E}">
        <p14:creationId xmlns:p14="http://schemas.microsoft.com/office/powerpoint/2010/main" val="445622169"/>
      </p:ext>
    </p:extLst>
  </p:cSld>
</p:sld>
</file>

<file path=ppt/slides/slide27.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FAE48DD-37D7-42C4-9172-56AD5D0402E8}"/>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OCTOBER 2026 EDITION</a:t>
            </a:r>
          </a:p>
        </p:txBody>
      </p:sp>
      <p:sp>
        <p:nvSpPr>
          <p:cNvPr id="2" name="">
            <a:extLst xmlns:a="http://schemas.openxmlformats.org/drawingml/2006/main">
              <a:ext uri="{FF2B5EF4-FFF2-40B4-BE49-F238E27FC236}">
                <a16:creationId xmlns:a16="http://schemas.microsoft.com/office/drawing/2014/main" id="{7F30AD46-FC56-48B6-9788-D483EBFA45EF}"/>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Display lighting: validated update</a:t>
            </a:r>
          </a:p>
        </p:txBody>
      </p:sp>
      <p:sp>
        <p:nvSpPr>
          <p:cNvPr id="3" name="">
            <a:extLst xmlns:a="http://schemas.openxmlformats.org/drawingml/2006/main">
              <a:ext uri="{FF2B5EF4-FFF2-40B4-BE49-F238E27FC236}">
                <a16:creationId xmlns:a16="http://schemas.microsoft.com/office/drawing/2014/main" id="{DF72E74C-EEA0-47C3-8B5B-DA9D34D74CF3}"/>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2C7835EA-9F5C-4158-AEE8-B7A0841263A6}"/>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27</a:t>
            </a:r>
          </a:p>
        </p:txBody>
      </p:sp>
      <p:sp>
        <p:nvSpPr>
          <p:cNvPr id="5" name="">
            <a:extLst xmlns:a="http://schemas.openxmlformats.org/drawingml/2006/main">
              <a:ext uri="{FF2B5EF4-FFF2-40B4-BE49-F238E27FC236}">
                <a16:creationId xmlns:a16="http://schemas.microsoft.com/office/drawing/2014/main" id="{3AD1182E-C87A-4A05-A02D-231BEEF8C9C3}"/>
              </a:ext>
            </a:extLst>
          </p:cNvPr>
          <p:cNvSpPr>
            <a:spLocks xmlns:a="http://schemas.openxmlformats.org/drawingml/2006/main" noGrp="1"/>
          </p:cNvSpPr>
          <p:nvPr/>
        </p:nvSpPr>
        <p:spPr>
          <a:xfrm xmlns:a="http://schemas.openxmlformats.org/drawingml/2006/main">
            <a:off x="457200" y="16510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25 kHz backlight PWM</a:t>
            </a:r>
          </a:p>
        </p:txBody>
      </p:sp>
      <p:sp>
        <p:nvSpPr>
          <p:cNvPr id="6" name="">
            <a:extLst xmlns:a="http://schemas.openxmlformats.org/drawingml/2006/main">
              <a:ext uri="{FF2B5EF4-FFF2-40B4-BE49-F238E27FC236}">
                <a16:creationId xmlns:a16="http://schemas.microsoft.com/office/drawing/2014/main" id="{775DE281-E74D-467E-A3F2-6F888CD35076}"/>
              </a:ext>
            </a:extLst>
          </p:cNvPr>
          <p:cNvSpPr>
            <a:spLocks xmlns:a="http://schemas.openxmlformats.org/drawingml/2006/main" noGrp="1"/>
          </p:cNvSpPr>
          <p:nvPr/>
        </p:nvSpPr>
        <p:spPr>
          <a:xfrm xmlns:a="http://schemas.openxmlformats.org/drawingml/2006/main">
            <a:off x="457200" y="200406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The owner confirmed that the 5 kHz whine disappeared after the change to 25 kHz. Manual brightness and the automatic day/night schedule</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were tested successfully.</a:t>
            </a:r>
          </a:p>
        </p:txBody>
      </p:sp>
      <p:sp>
        <p:nvSpPr>
          <p:cNvPr id="7" name="">
            <a:extLst xmlns:a="http://schemas.openxmlformats.org/drawingml/2006/main">
              <a:ext uri="{FF2B5EF4-FFF2-40B4-BE49-F238E27FC236}">
                <a16:creationId xmlns:a16="http://schemas.microsoft.com/office/drawing/2014/main" id="{8AE822BB-B60C-4E99-97ED-91BBC66A9930}"/>
              </a:ext>
            </a:extLst>
          </p:cNvPr>
          <p:cNvSpPr>
            <a:spLocks xmlns:a="http://schemas.openxmlformats.org/drawingml/2006/main" noGrp="1"/>
          </p:cNvSpPr>
          <p:nvPr/>
        </p:nvSpPr>
        <p:spPr>
          <a:xfrm xmlns:a="http://schemas.openxmlformats.org/drawingml/2006/main">
            <a:off x="457200" y="269494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Version identification</a:t>
            </a:r>
          </a:p>
        </p:txBody>
      </p:sp>
      <p:sp>
        <p:nvSpPr>
          <p:cNvPr id="8" name="">
            <a:extLst xmlns:a="http://schemas.openxmlformats.org/drawingml/2006/main">
              <a:ext uri="{FF2B5EF4-FFF2-40B4-BE49-F238E27FC236}">
                <a16:creationId xmlns:a16="http://schemas.microsoft.com/office/drawing/2014/main" id="{19D75FDA-D88A-4BD5-AE65-19311DA2FD2A}"/>
              </a:ext>
            </a:extLst>
          </p:cNvPr>
          <p:cNvSpPr>
            <a:spLocks xmlns:a="http://schemas.openxmlformats.org/drawingml/2006/main" noGrp="1"/>
          </p:cNvSpPr>
          <p:nvPr/>
        </p:nvSpPr>
        <p:spPr>
          <a:xfrm xmlns:a="http://schemas.openxmlformats.org/drawingml/2006/main">
            <a:off x="457200" y="304800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This edition describes bilingual GUARDIAN with the 25 kHz modification. The tested sketch is labelled 1.0.0-rc3-pwm25-test1; this identifier</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may still appear on the device and in the browser.</a:t>
            </a:r>
          </a:p>
        </p:txBody>
      </p:sp>
      <p:sp>
        <p:nvSpPr>
          <p:cNvPr id="9" name="">
            <a:extLst xmlns:a="http://schemas.openxmlformats.org/drawingml/2006/main">
              <a:ext uri="{FF2B5EF4-FFF2-40B4-BE49-F238E27FC236}">
                <a16:creationId xmlns:a16="http://schemas.microsoft.com/office/drawing/2014/main" id="{86E35374-8ED7-43AD-8D2A-09716D692205}"/>
              </a:ext>
            </a:extLst>
          </p:cNvPr>
          <p:cNvSpPr>
            <a:spLocks xmlns:a="http://schemas.openxmlformats.org/drawingml/2006/main" noGrp="1"/>
          </p:cNvSpPr>
          <p:nvPr/>
        </p:nvSpPr>
        <p:spPr>
          <a:xfrm xmlns:a="http://schemas.openxmlformats.org/drawingml/2006/main">
            <a:off x="457200" y="373888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Settings and updates</a:t>
            </a:r>
          </a:p>
        </p:txBody>
      </p:sp>
      <p:sp>
        <p:nvSpPr>
          <p:cNvPr id="10" name="">
            <a:extLst xmlns:a="http://schemas.openxmlformats.org/drawingml/2006/main">
              <a:ext uri="{FF2B5EF4-FFF2-40B4-BE49-F238E27FC236}">
                <a16:creationId xmlns:a16="http://schemas.microsoft.com/office/drawing/2014/main" id="{4626CF6B-6053-46D4-AE71-B8BC7A91E6B2}"/>
              </a:ext>
            </a:extLst>
          </p:cNvPr>
          <p:cNvSpPr>
            <a:spLocks xmlns:a="http://schemas.openxmlformats.org/drawingml/2006/main" noGrp="1"/>
          </p:cNvSpPr>
          <p:nvPr/>
        </p:nvSpPr>
        <p:spPr>
          <a:xfrm xmlns:a="http://schemas.openxmlformats.org/drawingml/2006/main">
            <a:off x="457200" y="409194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Brightness remains adjustable from the display and browser. This change requires neither a factory reset nor microSD formatting.</a:t>
            </a:r>
          </a:p>
        </p:txBody>
      </p:sp>
      <p:sp>
        <p:nvSpPr>
          <p:cNvPr id="11" name="">
            <a:extLst xmlns:a="http://schemas.openxmlformats.org/drawingml/2006/main">
              <a:ext uri="{FF2B5EF4-FFF2-40B4-BE49-F238E27FC236}">
                <a16:creationId xmlns:a16="http://schemas.microsoft.com/office/drawing/2014/main" id="{8D6C6461-8AAF-49E0-8614-2470B144995A}"/>
              </a:ext>
            </a:extLst>
          </p:cNvPr>
          <p:cNvSpPr>
            <a:spLocks xmlns:a="http://schemas.openxmlformats.org/drawingml/2006/main" noGrp="1"/>
          </p:cNvSpPr>
          <p:nvPr/>
        </p:nvSpPr>
        <p:spPr>
          <a:xfrm xmlns:a="http://schemas.openxmlformats.org/drawingml/2006/main">
            <a:off x="457200" y="455168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Scope of testing</a:t>
            </a:r>
          </a:p>
        </p:txBody>
      </p:sp>
      <p:sp>
        <p:nvSpPr>
          <p:cNvPr id="12" name="">
            <a:extLst xmlns:a="http://schemas.openxmlformats.org/drawingml/2006/main">
              <a:ext uri="{FF2B5EF4-FFF2-40B4-BE49-F238E27FC236}">
                <a16:creationId xmlns:a16="http://schemas.microsoft.com/office/drawing/2014/main" id="{F4D43B4A-AA5E-49A4-AF7E-FC0CAA889835}"/>
              </a:ext>
            </a:extLst>
          </p:cNvPr>
          <p:cNvSpPr>
            <a:spLocks xmlns:a="http://schemas.openxmlformats.org/drawingml/2006/main" noGrp="1"/>
          </p:cNvSpPr>
          <p:nvPr/>
        </p:nvSpPr>
        <p:spPr>
          <a:xfrm xmlns:a="http://schemas.openxmlformats.org/drawingml/2006/main">
            <a:off x="457200" y="490474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Functional checks on the owner’s prototype support retaining this setting. They do not constitute metrological validation or certification of the</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complete product.</a:t>
            </a:r>
          </a:p>
        </p:txBody>
      </p:sp>
    </p:spTree>
    <p:extLst>
      <p:ext uri="{BB962C8B-B14F-4D97-AF65-F5344CB8AC3E}">
        <p14:creationId xmlns:p14="http://schemas.microsoft.com/office/powerpoint/2010/main" val="2030065047"/>
      </p:ext>
    </p:extLst>
  </p:cSld>
</p:sld>
</file>

<file path=ppt/slides/slide28.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D0DBF1-63C1-49C6-8DA1-3303E906B934}"/>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DISPLAY CONTROLS</a:t>
            </a:r>
          </a:p>
        </p:txBody>
      </p:sp>
      <p:sp>
        <p:nvSpPr>
          <p:cNvPr id="2" name="">
            <a:extLst xmlns:a="http://schemas.openxmlformats.org/drawingml/2006/main">
              <a:ext uri="{FF2B5EF4-FFF2-40B4-BE49-F238E27FC236}">
                <a16:creationId xmlns:a16="http://schemas.microsoft.com/office/drawing/2014/main" id="{F8DB861B-373A-46AB-BEE1-4CFCE5810767}"/>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The OTHER menu</a:t>
            </a:r>
          </a:p>
        </p:txBody>
      </p:sp>
      <p:sp>
        <p:nvSpPr>
          <p:cNvPr id="3" name="">
            <a:extLst xmlns:a="http://schemas.openxmlformats.org/drawingml/2006/main">
              <a:ext uri="{FF2B5EF4-FFF2-40B4-BE49-F238E27FC236}">
                <a16:creationId xmlns:a16="http://schemas.microsoft.com/office/drawing/2014/main" id="{66757CF5-1C6C-48C4-BC0C-145ACDB28E93}"/>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7481E295-E786-4081-9D1A-C75EFBAB336E}"/>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28</a:t>
            </a:r>
          </a:p>
        </p:txBody>
      </p:sp>
      <p:pic>
        <p:nvPicPr>
          <p:cNvPr id="5" name="">
            <a:extLst xmlns:a="http://schemas.openxmlformats.org/drawingml/2006/main">
              <a:ext uri="{FF2B5EF4-FFF2-40B4-BE49-F238E27FC236}">
                <a16:creationId xmlns:a16="http://schemas.microsoft.com/office/drawing/2014/main" id="{01C4B20B-75AA-4658-A2E3-E5D048261228}"/>
              </a:ext>
            </a:extLst>
          </p:cNvPr>
          <p:cNvPicPr>
            <a:picLocks xmlns:a="http://schemas.openxmlformats.org/drawingml/2006/main" noChangeAspect="1"/>
          </p:cNvPicPr>
          <p:nvPr/>
        </p:nvPicPr>
        <p:blipFill>
          <a:blip xmlns:r="http://schemas.openxmlformats.org/officeDocument/2006/relationships" xmlns:a="http://schemas.openxmlformats.org/drawingml/2006/main" r:embed="R89e84c5250aa4d30"/>
          <a:stretch xmlns:a="http://schemas.openxmlformats.org/drawingml/2006/main"/>
        </p:blipFill>
        <p:spPr>
          <a:xfrm xmlns:a="http://schemas.openxmlformats.org/drawingml/2006/main">
            <a:off x="2707938" y="1333500"/>
            <a:ext cx="6776124" cy="4064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79C30CB-46ED-4F35-90CF-E3E58D4AE37F}"/>
              </a:ext>
            </a:extLst>
          </p:cNvPr>
          <p:cNvSpPr>
            <a:spLocks xmlns:a="http://schemas.openxmlformats.org/drawingml/2006/main" noGrp="1"/>
          </p:cNvSpPr>
          <p:nvPr/>
        </p:nvSpPr>
        <p:spPr>
          <a:xfrm xmlns:a="http://schemas.openxmlformats.org/drawingml/2006/main">
            <a:off x="457200" y="5778500"/>
            <a:ext cx="11277600" cy="265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00" b="0">
                <a:solidFill>
                  <a:srgbClr val="F6F8FC"/>
                </a:solidFill>
                <a:latin typeface="Arial"/>
                <a:ea typeface="Arial"/>
                <a:cs typeface="Arial"/>
              </a:defRPr>
            </a:defPPr>
            <a:lvl1pPr>
              <a:buNone/>
              <a:defRPr sz="1300" b="0">
                <a:solidFill>
                  <a:srgbClr val="F6F8FC"/>
                </a:solidFill>
                <a:latin typeface="Arial"/>
                <a:ea typeface="Arial"/>
                <a:cs typeface="Arial"/>
              </a:defRPr>
            </a:lvl1pPr>
            <a:lvl2pPr>
              <a:buNone/>
              <a:defRPr sz="1300" b="0">
                <a:solidFill>
                  <a:srgbClr val="F6F8FC"/>
                </a:solidFill>
                <a:latin typeface="Arial"/>
                <a:ea typeface="Arial"/>
                <a:cs typeface="Arial"/>
              </a:defRPr>
            </a:lvl2pPr>
            <a:lvl3pPr>
              <a:buNone/>
              <a:defRPr sz="1300" b="0">
                <a:solidFill>
                  <a:srgbClr val="F6F8FC"/>
                </a:solidFill>
                <a:latin typeface="Arial"/>
                <a:ea typeface="Arial"/>
                <a:cs typeface="Arial"/>
              </a:defRPr>
            </a:lvl3pPr>
            <a:lvl4pPr>
              <a:buNone/>
              <a:defRPr sz="1300" b="0">
                <a:solidFill>
                  <a:srgbClr val="F6F8FC"/>
                </a:solidFill>
                <a:latin typeface="Arial"/>
                <a:ea typeface="Arial"/>
                <a:cs typeface="Arial"/>
              </a:defRPr>
            </a:lvl4pPr>
            <a:lvl5pPr>
              <a:buNone/>
              <a:defRPr sz="1300" b="0">
                <a:solidFill>
                  <a:srgbClr val="F6F8FC"/>
                </a:solidFill>
                <a:latin typeface="Arial"/>
                <a:ea typeface="Arial"/>
                <a:cs typeface="Arial"/>
              </a:defRPr>
            </a:lvl5pPr>
            <a:lvl6pPr>
              <a:buNone/>
              <a:defRPr sz="1300" b="0">
                <a:solidFill>
                  <a:srgbClr val="F6F8FC"/>
                </a:solidFill>
                <a:latin typeface="Arial"/>
                <a:ea typeface="Arial"/>
                <a:cs typeface="Arial"/>
              </a:defRPr>
            </a:lvl6pPr>
            <a:lvl7pPr>
              <a:buNone/>
              <a:defRPr sz="1300" b="0">
                <a:solidFill>
                  <a:srgbClr val="F6F8FC"/>
                </a:solidFill>
                <a:latin typeface="Arial"/>
                <a:ea typeface="Arial"/>
                <a:cs typeface="Arial"/>
              </a:defRPr>
            </a:lvl7pPr>
            <a:lvl8pPr>
              <a:buNone/>
              <a:defRPr sz="1300" b="0">
                <a:solidFill>
                  <a:srgbClr val="F6F8FC"/>
                </a:solidFill>
                <a:latin typeface="Arial"/>
                <a:ea typeface="Arial"/>
                <a:cs typeface="Arial"/>
              </a:defRPr>
            </a:lvl8pPr>
            <a:lvl9pPr>
              <a:buNone/>
              <a:defRPr sz="1300" b="0">
                <a:solidFill>
                  <a:srgbClr val="F6F8FC"/>
                </a:solidFill>
                <a:latin typeface="Arial"/>
                <a:ea typeface="Arial"/>
                <a:cs typeface="Arial"/>
              </a:defRPr>
            </a:lvl9pPr>
          </a:lstStyle>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Select SYSTEM (SISTEMA) to choose the language or access restart and reset.</a:t>
            </a:r>
          </a:p>
        </p:txBody>
      </p:sp>
      <p:sp>
        <p:nvSpPr>
          <p:cNvPr id="7" name="">
            <a:extLst xmlns:a="http://schemas.openxmlformats.org/drawingml/2006/main">
              <a:ext uri="{FF2B5EF4-FFF2-40B4-BE49-F238E27FC236}">
                <a16:creationId xmlns:a16="http://schemas.microsoft.com/office/drawing/2014/main" id="{19139E65-9B12-40C0-B7B8-73DA2BF4888E}"/>
              </a:ext>
            </a:extLst>
          </p:cNvPr>
          <p:cNvSpPr>
            <a:spLocks xmlns:a="http://schemas.openxmlformats.org/drawingml/2006/main" noGrp="1"/>
          </p:cNvSpPr>
          <p:nvPr/>
        </p:nvSpPr>
        <p:spPr>
          <a:xfrm xmlns:a="http://schemas.openxmlformats.org/drawingml/2006/main">
            <a:off x="457200" y="67945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Retouched from the supplied photograph: reflections removed and perspective corrected. Original labels and controls retained.</a:t>
            </a:r>
          </a:p>
        </p:txBody>
      </p:sp>
    </p:spTree>
    <p:extLst>
      <p:ext uri="{BB962C8B-B14F-4D97-AF65-F5344CB8AC3E}">
        <p14:creationId xmlns:p14="http://schemas.microsoft.com/office/powerpoint/2010/main" val="468391152"/>
      </p:ext>
    </p:extLst>
  </p:cSld>
</p:sld>
</file>

<file path=ppt/slides/slide29.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B38706-1B16-43F1-A119-DDA4D5A614EA}"/>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DISPLAY CONTROLS</a:t>
            </a:r>
          </a:p>
        </p:txBody>
      </p:sp>
      <p:sp>
        <p:nvSpPr>
          <p:cNvPr id="2" name="">
            <a:extLst xmlns:a="http://schemas.openxmlformats.org/drawingml/2006/main">
              <a:ext uri="{FF2B5EF4-FFF2-40B4-BE49-F238E27FC236}">
                <a16:creationId xmlns:a16="http://schemas.microsoft.com/office/drawing/2014/main" id="{121BFAED-CF6C-497B-98EC-DF6E77288DA7}"/>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System and interface language</a:t>
            </a:r>
          </a:p>
        </p:txBody>
      </p:sp>
      <p:sp>
        <p:nvSpPr>
          <p:cNvPr id="3" name="">
            <a:extLst xmlns:a="http://schemas.openxmlformats.org/drawingml/2006/main">
              <a:ext uri="{FF2B5EF4-FFF2-40B4-BE49-F238E27FC236}">
                <a16:creationId xmlns:a16="http://schemas.microsoft.com/office/drawing/2014/main" id="{7C6FE2BB-4333-4F04-8908-C518A3D5DFD3}"/>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63497FC9-BAE1-4F43-B74D-BAE6EDE889DF}"/>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29</a:t>
            </a:r>
          </a:p>
        </p:txBody>
      </p:sp>
      <p:pic>
        <p:nvPicPr>
          <p:cNvPr id="5" name="">
            <a:extLst xmlns:a="http://schemas.openxmlformats.org/drawingml/2006/main">
              <a:ext uri="{FF2B5EF4-FFF2-40B4-BE49-F238E27FC236}">
                <a16:creationId xmlns:a16="http://schemas.microsoft.com/office/drawing/2014/main" id="{ED763C3C-B127-483A-9143-47C97B9F3ABF}"/>
              </a:ext>
            </a:extLst>
          </p:cNvPr>
          <p:cNvPicPr>
            <a:picLocks xmlns:a="http://schemas.openxmlformats.org/drawingml/2006/main" noChangeAspect="1"/>
          </p:cNvPicPr>
          <p:nvPr/>
        </p:nvPicPr>
        <p:blipFill>
          <a:blip xmlns:r="http://schemas.openxmlformats.org/officeDocument/2006/relationships" xmlns:a="http://schemas.openxmlformats.org/drawingml/2006/main" r:embed="R94919b9732f34430"/>
          <a:stretch xmlns:a="http://schemas.openxmlformats.org/drawingml/2006/main"/>
        </p:blipFill>
        <p:spPr>
          <a:xfrm xmlns:a="http://schemas.openxmlformats.org/drawingml/2006/main">
            <a:off x="2707938" y="1333500"/>
            <a:ext cx="6776124" cy="4064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7AA8E65-4D34-4C53-A14C-06258881147A}"/>
              </a:ext>
            </a:extLst>
          </p:cNvPr>
          <p:cNvSpPr>
            <a:spLocks xmlns:a="http://schemas.openxmlformats.org/drawingml/2006/main" noGrp="1"/>
          </p:cNvSpPr>
          <p:nvPr/>
        </p:nvSpPr>
        <p:spPr>
          <a:xfrm xmlns:a="http://schemas.openxmlformats.org/drawingml/2006/main">
            <a:off x="457200" y="5778500"/>
            <a:ext cx="11277600"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00" b="0">
                <a:solidFill>
                  <a:srgbClr val="F6F8FC"/>
                </a:solidFill>
                <a:latin typeface="Arial"/>
                <a:ea typeface="Arial"/>
                <a:cs typeface="Arial"/>
              </a:defRPr>
            </a:defPPr>
            <a:lvl1pPr>
              <a:buNone/>
              <a:defRPr sz="1300" b="0">
                <a:solidFill>
                  <a:srgbClr val="F6F8FC"/>
                </a:solidFill>
                <a:latin typeface="Arial"/>
                <a:ea typeface="Arial"/>
                <a:cs typeface="Arial"/>
              </a:defRPr>
            </a:lvl1pPr>
            <a:lvl2pPr>
              <a:buNone/>
              <a:defRPr sz="1300" b="0">
                <a:solidFill>
                  <a:srgbClr val="F6F8FC"/>
                </a:solidFill>
                <a:latin typeface="Arial"/>
                <a:ea typeface="Arial"/>
                <a:cs typeface="Arial"/>
              </a:defRPr>
            </a:lvl2pPr>
            <a:lvl3pPr>
              <a:buNone/>
              <a:defRPr sz="1300" b="0">
                <a:solidFill>
                  <a:srgbClr val="F6F8FC"/>
                </a:solidFill>
                <a:latin typeface="Arial"/>
                <a:ea typeface="Arial"/>
                <a:cs typeface="Arial"/>
              </a:defRPr>
            </a:lvl3pPr>
            <a:lvl4pPr>
              <a:buNone/>
              <a:defRPr sz="1300" b="0">
                <a:solidFill>
                  <a:srgbClr val="F6F8FC"/>
                </a:solidFill>
                <a:latin typeface="Arial"/>
                <a:ea typeface="Arial"/>
                <a:cs typeface="Arial"/>
              </a:defRPr>
            </a:lvl4pPr>
            <a:lvl5pPr>
              <a:buNone/>
              <a:defRPr sz="1300" b="0">
                <a:solidFill>
                  <a:srgbClr val="F6F8FC"/>
                </a:solidFill>
                <a:latin typeface="Arial"/>
                <a:ea typeface="Arial"/>
                <a:cs typeface="Arial"/>
              </a:defRPr>
            </a:lvl5pPr>
            <a:lvl6pPr>
              <a:buNone/>
              <a:defRPr sz="1300" b="0">
                <a:solidFill>
                  <a:srgbClr val="F6F8FC"/>
                </a:solidFill>
                <a:latin typeface="Arial"/>
                <a:ea typeface="Arial"/>
                <a:cs typeface="Arial"/>
              </a:defRPr>
            </a:lvl6pPr>
            <a:lvl7pPr>
              <a:buNone/>
              <a:defRPr sz="1300" b="0">
                <a:solidFill>
                  <a:srgbClr val="F6F8FC"/>
                </a:solidFill>
                <a:latin typeface="Arial"/>
                <a:ea typeface="Arial"/>
                <a:cs typeface="Arial"/>
              </a:defRPr>
            </a:lvl7pPr>
            <a:lvl8pPr>
              <a:buNone/>
              <a:defRPr sz="1300" b="0">
                <a:solidFill>
                  <a:srgbClr val="F6F8FC"/>
                </a:solidFill>
                <a:latin typeface="Arial"/>
                <a:ea typeface="Arial"/>
                <a:cs typeface="Arial"/>
              </a:defRPr>
            </a:lvl8pPr>
            <a:lvl9pPr>
              <a:buNone/>
              <a:defRPr sz="1300" b="0">
                <a:solidFill>
                  <a:srgbClr val="F6F8FC"/>
                </a:solidFill>
                <a:latin typeface="Arial"/>
                <a:ea typeface="Arial"/>
                <a:cs typeface="Arial"/>
              </a:defRPr>
            </a:lvl9pPr>
          </a:lstStyle>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Choose Italiano or English: the language is saved without restarting. RESTART keeps settings; FACTORY RESET clears GUARDIAN settings and web</a:t>
            </a:r>
          </a:p>
          <a:p xmlns:a="http://schemas.openxmlformats.org/drawingml/2006/main">
            <a:pPr>
              <a:buNone/>
              <a:defRPr sz="1300" b="0">
                <a:solidFill>
                  <a:srgbClr val="F6F8FC"/>
                </a:solidFill>
                <a:latin typeface="Arial"/>
                <a:ea typeface="Arial"/>
                <a:cs typeface="Arial"/>
              </a:defRPr>
            </a:pPr>
            <a:r>
              <a:rPr sz="1300" b="0">
                <a:solidFill>
                  <a:srgbClr val="F6F8FC"/>
                </a:solidFill>
                <a:latin typeface="Arial"/>
                <a:ea typeface="Arial"/>
                <a:cs typeface="Arial"/>
              </a:rPr>
              <a:t>access. CSV files remain on microSD.</a:t>
            </a:r>
          </a:p>
        </p:txBody>
      </p:sp>
      <p:sp>
        <p:nvSpPr>
          <p:cNvPr id="7" name="">
            <a:extLst xmlns:a="http://schemas.openxmlformats.org/drawingml/2006/main">
              <a:ext uri="{FF2B5EF4-FFF2-40B4-BE49-F238E27FC236}">
                <a16:creationId xmlns:a16="http://schemas.microsoft.com/office/drawing/2014/main" id="{8C2EDBEA-0356-4459-A77E-9797DF8DBDF8}"/>
              </a:ext>
            </a:extLst>
          </p:cNvPr>
          <p:cNvSpPr>
            <a:spLocks xmlns:a="http://schemas.openxmlformats.org/drawingml/2006/main" noGrp="1"/>
          </p:cNvSpPr>
          <p:nvPr/>
        </p:nvSpPr>
        <p:spPr>
          <a:xfrm xmlns:a="http://schemas.openxmlformats.org/drawingml/2006/main">
            <a:off x="457200" y="67945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Retouched from the supplied photograph: reflections removed and perspective corrected. Original labels and controls retained.</a:t>
            </a:r>
          </a:p>
        </p:txBody>
      </p:sp>
    </p:spTree>
    <p:extLst>
      <p:ext uri="{BB962C8B-B14F-4D97-AF65-F5344CB8AC3E}">
        <p14:creationId xmlns:p14="http://schemas.microsoft.com/office/powerpoint/2010/main" val="1502225526"/>
      </p:ext>
    </p:extLst>
  </p:cSld>
</p:sld>
</file>

<file path=ppt/slides/slide30.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8192E7-5510-4FBD-BBBE-08D0384B0A04}"/>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INTERFACE LANGUAGE</a:t>
            </a:r>
          </a:p>
        </p:txBody>
      </p:sp>
      <p:sp>
        <p:nvSpPr>
          <p:cNvPr id="2" name="">
            <a:extLst xmlns:a="http://schemas.openxmlformats.org/drawingml/2006/main">
              <a:ext uri="{FF2B5EF4-FFF2-40B4-BE49-F238E27FC236}">
                <a16:creationId xmlns:a16="http://schemas.microsoft.com/office/drawing/2014/main" id="{7273DA14-A4E0-4C59-BFEC-66A5C8E73FEB}"/>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Italian and English on the same device</a:t>
            </a:r>
          </a:p>
        </p:txBody>
      </p:sp>
      <p:sp>
        <p:nvSpPr>
          <p:cNvPr id="3" name="">
            <a:extLst xmlns:a="http://schemas.openxmlformats.org/drawingml/2006/main">
              <a:ext uri="{FF2B5EF4-FFF2-40B4-BE49-F238E27FC236}">
                <a16:creationId xmlns:a16="http://schemas.microsoft.com/office/drawing/2014/main" id="{34A9AA1C-B0B3-474C-AA95-B5C5D4CB3E10}"/>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D73E9D32-A395-4365-BBCC-5757A6316364}"/>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37738F6A-178D-44C8-92B8-2C9C201F42F1}"/>
              </a:ext>
            </a:extLst>
          </p:cNvPr>
          <p:cNvSpPr>
            <a:spLocks xmlns:a="http://schemas.openxmlformats.org/drawingml/2006/main" noGrp="1"/>
          </p:cNvSpPr>
          <p:nvPr/>
        </p:nvSpPr>
        <p:spPr>
          <a:xfrm xmlns:a="http://schemas.openxmlformats.org/drawingml/2006/main">
            <a:off x="457200" y="16510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Selection on the display</a:t>
            </a:r>
          </a:p>
        </p:txBody>
      </p:sp>
      <p:sp>
        <p:nvSpPr>
          <p:cNvPr id="6" name="">
            <a:extLst xmlns:a="http://schemas.openxmlformats.org/drawingml/2006/main">
              <a:ext uri="{FF2B5EF4-FFF2-40B4-BE49-F238E27FC236}">
                <a16:creationId xmlns:a16="http://schemas.microsoft.com/office/drawing/2014/main" id="{4CCA9E2A-CFB1-47F6-A762-7DB1C077162B}"/>
              </a:ext>
            </a:extLst>
          </p:cNvPr>
          <p:cNvSpPr>
            <a:spLocks xmlns:a="http://schemas.openxmlformats.org/drawingml/2006/main" noGrp="1"/>
          </p:cNvSpPr>
          <p:nvPr/>
        </p:nvSpPr>
        <p:spPr>
          <a:xfrm xmlns:a="http://schemas.openxmlformats.org/drawingml/2006/main">
            <a:off x="457200" y="200406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OTHER → SYSTEM: choose Italiano or English. The choice is saved without restarting. With no saved preference, the initial language is</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Italian.</a:t>
            </a:r>
          </a:p>
        </p:txBody>
      </p:sp>
      <p:sp>
        <p:nvSpPr>
          <p:cNvPr id="7" name="">
            <a:extLst xmlns:a="http://schemas.openxmlformats.org/drawingml/2006/main">
              <a:ext uri="{FF2B5EF4-FFF2-40B4-BE49-F238E27FC236}">
                <a16:creationId xmlns:a16="http://schemas.microsoft.com/office/drawing/2014/main" id="{E6EFEBC0-0CB2-434C-8602-E57E43A47C29}"/>
              </a:ext>
            </a:extLst>
          </p:cNvPr>
          <p:cNvSpPr>
            <a:spLocks xmlns:a="http://schemas.openxmlformats.org/drawingml/2006/main" noGrp="1"/>
          </p:cNvSpPr>
          <p:nvPr/>
        </p:nvSpPr>
        <p:spPr>
          <a:xfrm xmlns:a="http://schemas.openxmlformats.org/drawingml/2006/main">
            <a:off x="457200" y="269494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PC and smartphone</a:t>
            </a:r>
          </a:p>
        </p:txBody>
      </p:sp>
      <p:sp>
        <p:nvSpPr>
          <p:cNvPr id="8" name="">
            <a:extLst xmlns:a="http://schemas.openxmlformats.org/drawingml/2006/main">
              <a:ext uri="{FF2B5EF4-FFF2-40B4-BE49-F238E27FC236}">
                <a16:creationId xmlns:a16="http://schemas.microsoft.com/office/drawing/2014/main" id="{332134A8-CF7B-4381-A9C6-5039A1B69CEC}"/>
              </a:ext>
            </a:extLst>
          </p:cNvPr>
          <p:cNvSpPr>
            <a:spLocks xmlns:a="http://schemas.openxmlformats.org/drawingml/2006/main" noGrp="1"/>
          </p:cNvSpPr>
          <p:nvPr/>
        </p:nvSpPr>
        <p:spPr>
          <a:xfrm xmlns:a="http://schemas.openxmlformats.org/drawingml/2006/main">
            <a:off x="457200" y="304800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They follow the display language by reloading within about three seconds while reachable. Save open forms before changing language.</a:t>
            </a:r>
          </a:p>
        </p:txBody>
      </p:sp>
      <p:sp>
        <p:nvSpPr>
          <p:cNvPr id="9" name="">
            <a:extLst xmlns:a="http://schemas.openxmlformats.org/drawingml/2006/main">
              <a:ext uri="{FF2B5EF4-FFF2-40B4-BE49-F238E27FC236}">
                <a16:creationId xmlns:a16="http://schemas.microsoft.com/office/drawing/2014/main" id="{C0E8F8F6-CDB4-4B00-B7EE-3611FC5327D7}"/>
              </a:ext>
            </a:extLst>
          </p:cNvPr>
          <p:cNvSpPr>
            <a:spLocks xmlns:a="http://schemas.openxmlformats.org/drawingml/2006/main" noGrp="1"/>
          </p:cNvSpPr>
          <p:nvPr/>
        </p:nvSpPr>
        <p:spPr>
          <a:xfrm xmlns:a="http://schemas.openxmlformats.org/drawingml/2006/main">
            <a:off x="457200" y="350774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After restarting</a:t>
            </a:r>
          </a:p>
        </p:txBody>
      </p:sp>
      <p:sp>
        <p:nvSpPr>
          <p:cNvPr id="10" name="">
            <a:extLst xmlns:a="http://schemas.openxmlformats.org/drawingml/2006/main">
              <a:ext uri="{FF2B5EF4-FFF2-40B4-BE49-F238E27FC236}">
                <a16:creationId xmlns:a16="http://schemas.microsoft.com/office/drawing/2014/main" id="{D258BE01-6FEC-49E8-A385-21B3DC9C9F30}"/>
              </a:ext>
            </a:extLst>
          </p:cNvPr>
          <p:cNvSpPr>
            <a:spLocks xmlns:a="http://schemas.openxmlformats.org/drawingml/2006/main" noGrp="1"/>
          </p:cNvSpPr>
          <p:nvPr/>
        </p:nvSpPr>
        <p:spPr>
          <a:xfrm xmlns:a="http://schemas.openxmlformats.org/drawingml/2006/main">
            <a:off x="457200" y="386080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The choice is retained. A GUARDIAN factory reset restores Italian. Job names, user-entered data and the CSV format remain unchanged.</a:t>
            </a:r>
          </a:p>
        </p:txBody>
      </p:sp>
    </p:spTree>
    <p:extLst>
      <p:ext uri="{BB962C8B-B14F-4D97-AF65-F5344CB8AC3E}">
        <p14:creationId xmlns:p14="http://schemas.microsoft.com/office/powerpoint/2010/main" val="1806573138"/>
      </p:ext>
    </p:extLst>
  </p:cSld>
</p:sld>
</file>

<file path=ppt/slides/slide31.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879D1C-D864-491A-BF8B-780159AEB862}"/>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IMAGE CONTEXT</a:t>
            </a:r>
          </a:p>
        </p:txBody>
      </p:sp>
      <p:sp>
        <p:nvSpPr>
          <p:cNvPr id="2" name="">
            <a:extLst xmlns:a="http://schemas.openxmlformats.org/drawingml/2006/main">
              <a:ext uri="{FF2B5EF4-FFF2-40B4-BE49-F238E27FC236}">
                <a16:creationId xmlns:a16="http://schemas.microsoft.com/office/drawing/2014/main" id="{49A2A939-62FD-4911-83FA-6AF830005E7A}"/>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Real readings and compatibility</a:t>
            </a:r>
          </a:p>
        </p:txBody>
      </p:sp>
      <p:sp>
        <p:nvSpPr>
          <p:cNvPr id="3" name="">
            <a:extLst xmlns:a="http://schemas.openxmlformats.org/drawingml/2006/main">
              <a:ext uri="{FF2B5EF4-FFF2-40B4-BE49-F238E27FC236}">
                <a16:creationId xmlns:a16="http://schemas.microsoft.com/office/drawing/2014/main" id="{50FB37FD-865C-43B8-93D0-314BB61BF92F}"/>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2F79E2EC-4795-4138-AEC8-3097C767A50D}"/>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02EE6721-9AD8-477A-A69B-E07E5802B7A1}"/>
              </a:ext>
            </a:extLst>
          </p:cNvPr>
          <p:cNvSpPr>
            <a:spLocks xmlns:a="http://schemas.openxmlformats.org/drawingml/2006/main" noGrp="1"/>
          </p:cNvSpPr>
          <p:nvPr/>
        </p:nvSpPr>
        <p:spPr>
          <a:xfrm xmlns:a="http://schemas.openxmlformats.org/drawingml/2006/main">
            <a:off x="457200" y="16510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24 hours for a complete average</a:t>
            </a:r>
          </a:p>
        </p:txBody>
      </p:sp>
      <p:sp>
        <p:nvSpPr>
          <p:cNvPr id="6" name="">
            <a:extLst xmlns:a="http://schemas.openxmlformats.org/drawingml/2006/main">
              <a:ext uri="{FF2B5EF4-FFF2-40B4-BE49-F238E27FC236}">
                <a16:creationId xmlns:a16="http://schemas.microsoft.com/office/drawing/2014/main" id="{3DEA2BE1-1DE5-4D06-9DCA-26628EE1959F}"/>
              </a:ext>
            </a:extLst>
          </p:cNvPr>
          <p:cNvSpPr>
            <a:spLocks xmlns:a="http://schemas.openxmlformats.org/drawingml/2006/main" noGrp="1"/>
          </p:cNvSpPr>
          <p:nvPr/>
        </p:nvSpPr>
        <p:spPr>
          <a:xfrm xmlns:a="http://schemas.openxmlformats.org/drawingml/2006/main">
            <a:off x="457200" y="200406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A complete PM2.5 / PM10 average requires 24 hours of valid recording. Earlier averages cover only the available period and are partial. HCHO</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uses a separate 30-minute period.</a:t>
            </a:r>
          </a:p>
        </p:txBody>
      </p:sp>
      <p:sp>
        <p:nvSpPr>
          <p:cNvPr id="7" name="">
            <a:extLst xmlns:a="http://schemas.openxmlformats.org/drawingml/2006/main">
              <a:ext uri="{FF2B5EF4-FFF2-40B4-BE49-F238E27FC236}">
                <a16:creationId xmlns:a16="http://schemas.microsoft.com/office/drawing/2014/main" id="{CFE42F43-015E-4AD7-BEEE-0781822FA3BF}"/>
              </a:ext>
            </a:extLst>
          </p:cNvPr>
          <p:cNvSpPr>
            <a:spLocks xmlns:a="http://schemas.openxmlformats.org/drawingml/2006/main" noGrp="1"/>
          </p:cNvSpPr>
          <p:nvPr/>
        </p:nvSpPr>
        <p:spPr>
          <a:xfrm xmlns:a="http://schemas.openxmlformats.org/drawingml/2006/main">
            <a:off x="457200" y="269494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Photographs and demonstrations</a:t>
            </a:r>
          </a:p>
        </p:txBody>
      </p:sp>
      <p:sp>
        <p:nvSpPr>
          <p:cNvPr id="8" name="">
            <a:extLst xmlns:a="http://schemas.openxmlformats.org/drawingml/2006/main">
              <a:ext uri="{FF2B5EF4-FFF2-40B4-BE49-F238E27FC236}">
                <a16:creationId xmlns:a16="http://schemas.microsoft.com/office/drawing/2014/main" id="{BDEDFC23-CF67-493C-8F37-527A3DDA9FB8}"/>
              </a:ext>
            </a:extLst>
          </p:cNvPr>
          <p:cNvSpPr>
            <a:spLocks xmlns:a="http://schemas.openxmlformats.org/drawingml/2006/main" noGrp="1"/>
          </p:cNvSpPr>
          <p:nvPr/>
        </p:nvSpPr>
        <p:spPr>
          <a:xfrm xmlns:a="http://schemas.openxmlformats.org/drawingml/2006/main">
            <a:off x="457200" y="304800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Display photographs show real readings collected over partial periods, not complete 24-hour averages. Network details and credentials are</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examples. Firmware reconstructions are identified separately.</a:t>
            </a:r>
          </a:p>
        </p:txBody>
      </p:sp>
      <p:sp>
        <p:nvSpPr>
          <p:cNvPr id="9" name="">
            <a:extLst xmlns:a="http://schemas.openxmlformats.org/drawingml/2006/main">
              <a:ext uri="{FF2B5EF4-FFF2-40B4-BE49-F238E27FC236}">
                <a16:creationId xmlns:a16="http://schemas.microsoft.com/office/drawing/2014/main" id="{BEE7437B-6DEF-4736-ABD2-CED70267D93B}"/>
              </a:ext>
            </a:extLst>
          </p:cNvPr>
          <p:cNvSpPr>
            <a:spLocks xmlns:a="http://schemas.openxmlformats.org/drawingml/2006/main" noGrp="1"/>
          </p:cNvSpPr>
          <p:nvPr/>
        </p:nvSpPr>
        <p:spPr>
          <a:xfrm xmlns:a="http://schemas.openxmlformats.org/drawingml/2006/main">
            <a:off x="457200" y="373888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Printer used for testing</a:t>
            </a:r>
          </a:p>
        </p:txBody>
      </p:sp>
      <p:sp>
        <p:nvSpPr>
          <p:cNvPr id="10" name="">
            <a:extLst xmlns:a="http://schemas.openxmlformats.org/drawingml/2006/main">
              <a:ext uri="{FF2B5EF4-FFF2-40B4-BE49-F238E27FC236}">
                <a16:creationId xmlns:a16="http://schemas.microsoft.com/office/drawing/2014/main" id="{6113F72B-5ACF-4622-A04A-9BAAE1E73656}"/>
              </a:ext>
            </a:extLst>
          </p:cNvPr>
          <p:cNvSpPr>
            <a:spLocks xmlns:a="http://schemas.openxmlformats.org/drawingml/2006/main" noGrp="1"/>
          </p:cNvSpPr>
          <p:nvPr/>
        </p:nvSpPr>
        <p:spPr>
          <a:xfrm xmlns:a="http://schemas.openxmlformats.org/drawingml/2006/main">
            <a:off x="457200" y="409194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A1 tested; X1 Carbon connectivity verified. GUARDIAN uses Bambu Lab protocols; other models require verification. Other brands require investigation</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and possible adaptation.</a:t>
            </a:r>
          </a:p>
        </p:txBody>
      </p:sp>
      <p:sp>
        <p:nvSpPr>
          <p:cNvPr id="11" name="">
            <a:extLst xmlns:a="http://schemas.openxmlformats.org/drawingml/2006/main">
              <a:ext uri="{FF2B5EF4-FFF2-40B4-BE49-F238E27FC236}">
                <a16:creationId xmlns:a16="http://schemas.microsoft.com/office/drawing/2014/main" id="{8FB39F75-B597-4019-BBBC-8D5CA588EB17}"/>
              </a:ext>
            </a:extLst>
          </p:cNvPr>
          <p:cNvSpPr>
            <a:spLocks xmlns:a="http://schemas.openxmlformats.org/drawingml/2006/main" noGrp="1"/>
          </p:cNvSpPr>
          <p:nvPr/>
        </p:nvSpPr>
        <p:spPr>
          <a:xfrm xmlns:a="http://schemas.openxmlformats.org/drawingml/2006/main">
            <a:off x="457200" y="478282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Bilingual edition</a:t>
            </a:r>
          </a:p>
        </p:txBody>
      </p:sp>
      <p:sp>
        <p:nvSpPr>
          <p:cNvPr id="12" name="">
            <a:extLst xmlns:a="http://schemas.openxmlformats.org/drawingml/2006/main">
              <a:ext uri="{FF2B5EF4-FFF2-40B4-BE49-F238E27FC236}">
                <a16:creationId xmlns:a16="http://schemas.microsoft.com/office/drawing/2014/main" id="{DD0D61EE-FDFF-4F42-BF7B-D05ACA98ECBA}"/>
              </a:ext>
            </a:extLst>
          </p:cNvPr>
          <p:cNvSpPr>
            <a:spLocks xmlns:a="http://schemas.openxmlformats.org/drawingml/2006/main" noGrp="1"/>
          </p:cNvSpPr>
          <p:nvPr/>
        </p:nvSpPr>
        <p:spPr>
          <a:xfrm xmlns:a="http://schemas.openxmlformats.org/drawingml/2006/main">
            <a:off x="457200" y="513588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This documentation describes the Italian and English interface. The owner reports successful initial functional testing; software testing is not</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metrological validation.</a:t>
            </a:r>
          </a:p>
        </p:txBody>
      </p:sp>
    </p:spTree>
    <p:extLst>
      <p:ext uri="{BB962C8B-B14F-4D97-AF65-F5344CB8AC3E}">
        <p14:creationId xmlns:p14="http://schemas.microsoft.com/office/powerpoint/2010/main" val="977170447"/>
      </p:ext>
    </p:extLst>
  </p:cSld>
</p:sld>
</file>

<file path=ppt/slides/slide32.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0236927-6B1E-4B51-8F19-849E72C17BA9}"/>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SCREEN ATLAS</a:t>
            </a:r>
          </a:p>
        </p:txBody>
      </p:sp>
      <p:sp>
        <p:nvSpPr>
          <p:cNvPr id="2" name="">
            <a:extLst xmlns:a="http://schemas.openxmlformats.org/drawingml/2006/main">
              <a:ext uri="{FF2B5EF4-FFF2-40B4-BE49-F238E27FC236}">
                <a16:creationId xmlns:a16="http://schemas.microsoft.com/office/drawing/2014/main" id="{574D2D97-90D6-4F3A-8CFE-9541B5994205}"/>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Other service screens</a:t>
            </a:r>
          </a:p>
        </p:txBody>
      </p:sp>
      <p:sp>
        <p:nvSpPr>
          <p:cNvPr id="3" name="">
            <a:extLst xmlns:a="http://schemas.openxmlformats.org/drawingml/2006/main">
              <a:ext uri="{FF2B5EF4-FFF2-40B4-BE49-F238E27FC236}">
                <a16:creationId xmlns:a16="http://schemas.microsoft.com/office/drawing/2014/main" id="{79669F1B-C938-45CA-B789-8630AB68DF4D}"/>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9ACC31E6-71D9-482B-A0F1-B60500F30F29}"/>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32</a:t>
            </a:r>
          </a:p>
        </p:txBody>
      </p:sp>
      <p:pic>
        <p:nvPicPr>
          <p:cNvPr id="5" name="">
            <a:extLst xmlns:a="http://schemas.openxmlformats.org/drawingml/2006/main">
              <a:ext uri="{FF2B5EF4-FFF2-40B4-BE49-F238E27FC236}">
                <a16:creationId xmlns:a16="http://schemas.microsoft.com/office/drawing/2014/main" id="{59623047-4E40-48A7-9BCE-5CF2AE4D6D83}"/>
              </a:ext>
            </a:extLst>
          </p:cNvPr>
          <p:cNvPicPr>
            <a:picLocks xmlns:a="http://schemas.openxmlformats.org/drawingml/2006/main" noChangeAspect="1"/>
          </p:cNvPicPr>
          <p:nvPr/>
        </p:nvPicPr>
        <p:blipFill>
          <a:blip xmlns:r="http://schemas.openxmlformats.org/officeDocument/2006/relationships" xmlns:a="http://schemas.openxmlformats.org/drawingml/2006/main" r:embed="Rf40f3a40d5d749b6"/>
          <a:stretch xmlns:a="http://schemas.openxmlformats.org/drawingml/2006/main"/>
        </p:blipFill>
        <p:spPr>
          <a:xfrm xmlns:a="http://schemas.openxmlformats.org/drawingml/2006/main">
            <a:off x="1673673" y="1587500"/>
            <a:ext cx="2964554" cy="177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425A54B-7C03-4CAA-B7F4-F88F38C45E3C}"/>
              </a:ext>
            </a:extLst>
          </p:cNvPr>
          <p:cNvSpPr>
            <a:spLocks xmlns:a="http://schemas.openxmlformats.org/drawingml/2006/main" noGrp="1"/>
          </p:cNvSpPr>
          <p:nvPr/>
        </p:nvSpPr>
        <p:spPr>
          <a:xfrm xmlns:a="http://schemas.openxmlformats.org/drawingml/2006/main">
            <a:off x="457200" y="3441700"/>
            <a:ext cx="114808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OTHER</a:t>
            </a:r>
          </a:p>
        </p:txBody>
      </p:sp>
      <p:sp>
        <p:nvSpPr>
          <p:cNvPr id="7" name="">
            <a:extLst xmlns:a="http://schemas.openxmlformats.org/drawingml/2006/main">
              <a:ext uri="{FF2B5EF4-FFF2-40B4-BE49-F238E27FC236}">
                <a16:creationId xmlns:a16="http://schemas.microsoft.com/office/drawing/2014/main" id="{4635C7F8-15BF-43B0-94B1-16FF11629EA3}"/>
              </a:ext>
            </a:extLst>
          </p:cNvPr>
          <p:cNvSpPr>
            <a:spLocks xmlns:a="http://schemas.openxmlformats.org/drawingml/2006/main" noGrp="1"/>
          </p:cNvSpPr>
          <p:nvPr/>
        </p:nvSpPr>
        <p:spPr>
          <a:xfrm xmlns:a="http://schemas.openxmlformats.org/drawingml/2006/main">
            <a:off x="4572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Access to additional functions.</a:t>
            </a:r>
          </a:p>
        </p:txBody>
      </p:sp>
      <p:pic>
        <p:nvPicPr>
          <p:cNvPr id="8" name="">
            <a:extLst xmlns:a="http://schemas.openxmlformats.org/drawingml/2006/main">
              <a:ext uri="{FF2B5EF4-FFF2-40B4-BE49-F238E27FC236}">
                <a16:creationId xmlns:a16="http://schemas.microsoft.com/office/drawing/2014/main" id="{4E5292D6-5AE0-4D3F-8016-69C8CB2B4AEF}"/>
              </a:ext>
            </a:extLst>
          </p:cNvPr>
          <p:cNvPicPr>
            <a:picLocks xmlns:a="http://schemas.openxmlformats.org/drawingml/2006/main" noChangeAspect="1"/>
          </p:cNvPicPr>
          <p:nvPr/>
        </p:nvPicPr>
        <p:blipFill>
          <a:blip xmlns:r="http://schemas.openxmlformats.org/officeDocument/2006/relationships" xmlns:a="http://schemas.openxmlformats.org/drawingml/2006/main" r:embed="Rcabd32427c5c47b7"/>
          <a:stretch xmlns:a="http://schemas.openxmlformats.org/drawingml/2006/main"/>
        </p:blipFill>
        <p:spPr>
          <a:xfrm xmlns:a="http://schemas.openxmlformats.org/drawingml/2006/main">
            <a:off x="7850717" y="1587500"/>
            <a:ext cx="2370667" cy="177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0D940FA-60DA-4836-B3E4-3659B681B186}"/>
              </a:ext>
            </a:extLst>
          </p:cNvPr>
          <p:cNvSpPr>
            <a:spLocks xmlns:a="http://schemas.openxmlformats.org/drawingml/2006/main" noGrp="1"/>
          </p:cNvSpPr>
          <p:nvPr/>
        </p:nvSpPr>
        <p:spPr>
          <a:xfrm xmlns:a="http://schemas.openxmlformats.org/drawingml/2006/main">
            <a:off x="6337300" y="3441700"/>
            <a:ext cx="56007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SENSOR</a:t>
            </a:r>
          </a:p>
        </p:txBody>
      </p:sp>
      <p:sp>
        <p:nvSpPr>
          <p:cNvPr id="10" name="">
            <a:extLst xmlns:a="http://schemas.openxmlformats.org/drawingml/2006/main">
              <a:ext uri="{FF2B5EF4-FFF2-40B4-BE49-F238E27FC236}">
                <a16:creationId xmlns:a16="http://schemas.microsoft.com/office/drawing/2014/main" id="{6A986318-C878-4022-870F-B6BD85A537C2}"/>
              </a:ext>
            </a:extLst>
          </p:cNvPr>
          <p:cNvSpPr>
            <a:spLocks xmlns:a="http://schemas.openxmlformats.org/drawingml/2006/main" noGrp="1"/>
          </p:cNvSpPr>
          <p:nvPr/>
        </p:nvSpPr>
        <p:spPr>
          <a:xfrm xmlns:a="http://schemas.openxmlformats.org/drawingml/2006/main">
            <a:off x="63373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Module presence and status information.</a:t>
            </a:r>
          </a:p>
        </p:txBody>
      </p:sp>
      <p:pic>
        <p:nvPicPr>
          <p:cNvPr id="11" name="">
            <a:extLst xmlns:a="http://schemas.openxmlformats.org/drawingml/2006/main">
              <a:ext uri="{FF2B5EF4-FFF2-40B4-BE49-F238E27FC236}">
                <a16:creationId xmlns:a16="http://schemas.microsoft.com/office/drawing/2014/main" id="{49F0FE35-A6D0-42D8-80E6-3E83DF797AC9}"/>
              </a:ext>
            </a:extLst>
          </p:cNvPr>
          <p:cNvPicPr>
            <a:picLocks xmlns:a="http://schemas.openxmlformats.org/drawingml/2006/main" noChangeAspect="1"/>
          </p:cNvPicPr>
          <p:nvPr/>
        </p:nvPicPr>
        <p:blipFill>
          <a:blip xmlns:r="http://schemas.openxmlformats.org/officeDocument/2006/relationships" xmlns:a="http://schemas.openxmlformats.org/drawingml/2006/main" r:embed="Rd3cf169525b54585"/>
          <a:stretch xmlns:a="http://schemas.openxmlformats.org/drawingml/2006/main"/>
        </p:blipFill>
        <p:spPr>
          <a:xfrm xmlns:a="http://schemas.openxmlformats.org/drawingml/2006/main">
            <a:off x="2057310" y="4254500"/>
            <a:ext cx="2197280" cy="1778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C47EC9E-60B8-4C95-B0C4-6BD9B28A1306}"/>
              </a:ext>
            </a:extLst>
          </p:cNvPr>
          <p:cNvSpPr>
            <a:spLocks xmlns:a="http://schemas.openxmlformats.org/drawingml/2006/main" noGrp="1"/>
          </p:cNvSpPr>
          <p:nvPr/>
        </p:nvSpPr>
        <p:spPr>
          <a:xfrm xmlns:a="http://schemas.openxmlformats.org/drawingml/2006/main">
            <a:off x="457200" y="6108700"/>
            <a:ext cx="114808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DIAGNOSTICS</a:t>
            </a:r>
          </a:p>
        </p:txBody>
      </p:sp>
      <p:sp>
        <p:nvSpPr>
          <p:cNvPr id="13" name="">
            <a:extLst xmlns:a="http://schemas.openxmlformats.org/drawingml/2006/main">
              <a:ext uri="{FF2B5EF4-FFF2-40B4-BE49-F238E27FC236}">
                <a16:creationId xmlns:a16="http://schemas.microsoft.com/office/drawing/2014/main" id="{658CEC55-D3E3-4DD5-842E-2CFC1EED667D}"/>
              </a:ext>
            </a:extLst>
          </p:cNvPr>
          <p:cNvSpPr>
            <a:spLocks xmlns:a="http://schemas.openxmlformats.org/drawingml/2006/main" noGrp="1"/>
          </p:cNvSpPr>
          <p:nvPr/>
        </p:nvSpPr>
        <p:spPr>
          <a:xfrm xmlns:a="http://schemas.openxmlformats.org/drawingml/2006/main">
            <a:off x="4572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Display, touch and SD tests.</a:t>
            </a:r>
          </a:p>
        </p:txBody>
      </p:sp>
      <p:pic>
        <p:nvPicPr>
          <p:cNvPr id="14" name="">
            <a:extLst xmlns:a="http://schemas.openxmlformats.org/drawingml/2006/main">
              <a:ext uri="{FF2B5EF4-FFF2-40B4-BE49-F238E27FC236}">
                <a16:creationId xmlns:a16="http://schemas.microsoft.com/office/drawing/2014/main" id="{011B2E70-3B6A-4337-9938-C8EAC52DE28F}"/>
              </a:ext>
            </a:extLst>
          </p:cNvPr>
          <p:cNvPicPr>
            <a:picLocks xmlns:a="http://schemas.openxmlformats.org/drawingml/2006/main" noChangeAspect="1"/>
          </p:cNvPicPr>
          <p:nvPr/>
        </p:nvPicPr>
        <p:blipFill>
          <a:blip xmlns:r="http://schemas.openxmlformats.org/officeDocument/2006/relationships" xmlns:a="http://schemas.openxmlformats.org/drawingml/2006/main" r:embed="Rdf101f73760a46ce"/>
          <a:stretch xmlns:a="http://schemas.openxmlformats.org/drawingml/2006/main"/>
        </p:blipFill>
        <p:spPr>
          <a:xfrm xmlns:a="http://schemas.openxmlformats.org/drawingml/2006/main">
            <a:off x="7964112" y="4254500"/>
            <a:ext cx="2143876" cy="1778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CF0BF05-9F7B-4767-AE04-293446680E8E}"/>
              </a:ext>
            </a:extLst>
          </p:cNvPr>
          <p:cNvSpPr>
            <a:spLocks xmlns:a="http://schemas.openxmlformats.org/drawingml/2006/main" noGrp="1"/>
          </p:cNvSpPr>
          <p:nvPr/>
        </p:nvSpPr>
        <p:spPr>
          <a:xfrm xmlns:a="http://schemas.openxmlformats.org/drawingml/2006/main">
            <a:off x="6337300" y="6108700"/>
            <a:ext cx="56007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SD CARD</a:t>
            </a:r>
          </a:p>
        </p:txBody>
      </p:sp>
      <p:sp>
        <p:nvSpPr>
          <p:cNvPr id="16" name="">
            <a:extLst xmlns:a="http://schemas.openxmlformats.org/drawingml/2006/main">
              <a:ext uri="{FF2B5EF4-FFF2-40B4-BE49-F238E27FC236}">
                <a16:creationId xmlns:a16="http://schemas.microsoft.com/office/drawing/2014/main" id="{C0DF3E5A-5B35-49DB-B866-DFC8FD52C914}"/>
              </a:ext>
            </a:extLst>
          </p:cNvPr>
          <p:cNvSpPr>
            <a:spLocks xmlns:a="http://schemas.openxmlformats.org/drawingml/2006/main" noGrp="1"/>
          </p:cNvSpPr>
          <p:nvPr/>
        </p:nvSpPr>
        <p:spPr>
          <a:xfrm xmlns:a="http://schemas.openxmlformats.org/drawingml/2006/main">
            <a:off x="63373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Recording status and local commands.</a:t>
            </a:r>
          </a:p>
        </p:txBody>
      </p:sp>
    </p:spTree>
    <p:extLst>
      <p:ext uri="{BB962C8B-B14F-4D97-AF65-F5344CB8AC3E}">
        <p14:creationId xmlns:p14="http://schemas.microsoft.com/office/powerpoint/2010/main" val="1437234439"/>
      </p:ext>
    </p:extLst>
  </p:cSld>
</p:sld>
</file>

<file path=ppt/slides/slide33.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14705B0-255E-4605-BE9D-EEC07CC29C85}"/>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SCREEN ATLAS</a:t>
            </a:r>
          </a:p>
        </p:txBody>
      </p:sp>
      <p:sp>
        <p:nvSpPr>
          <p:cNvPr id="2" name="">
            <a:extLst xmlns:a="http://schemas.openxmlformats.org/drawingml/2006/main">
              <a:ext uri="{FF2B5EF4-FFF2-40B4-BE49-F238E27FC236}">
                <a16:creationId xmlns:a16="http://schemas.microsoft.com/office/drawing/2014/main" id="{8703DF7A-C974-476E-BA4D-1EBC5BDB5448}"/>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Controls and configuration</a:t>
            </a:r>
          </a:p>
        </p:txBody>
      </p:sp>
      <p:sp>
        <p:nvSpPr>
          <p:cNvPr id="3" name="">
            <a:extLst xmlns:a="http://schemas.openxmlformats.org/drawingml/2006/main">
              <a:ext uri="{FF2B5EF4-FFF2-40B4-BE49-F238E27FC236}">
                <a16:creationId xmlns:a16="http://schemas.microsoft.com/office/drawing/2014/main" id="{A74ACAE9-DBEA-4BEC-A9C1-B9F2F79DFA87}"/>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0656C69A-6931-42E7-AACB-92C47FA959BA}"/>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33</a:t>
            </a:r>
          </a:p>
        </p:txBody>
      </p:sp>
      <p:pic>
        <p:nvPicPr>
          <p:cNvPr id="5" name="">
            <a:extLst xmlns:a="http://schemas.openxmlformats.org/drawingml/2006/main">
              <a:ext uri="{FF2B5EF4-FFF2-40B4-BE49-F238E27FC236}">
                <a16:creationId xmlns:a16="http://schemas.microsoft.com/office/drawing/2014/main" id="{BED43357-7784-45B8-A763-03E2B2945D3A}"/>
              </a:ext>
            </a:extLst>
          </p:cNvPr>
          <p:cNvPicPr>
            <a:picLocks xmlns:a="http://schemas.openxmlformats.org/drawingml/2006/main" noChangeAspect="1"/>
          </p:cNvPicPr>
          <p:nvPr/>
        </p:nvPicPr>
        <p:blipFill>
          <a:blip xmlns:r="http://schemas.openxmlformats.org/officeDocument/2006/relationships" xmlns:a="http://schemas.openxmlformats.org/drawingml/2006/main" r:embed="Ra36d275b13ad4f1a"/>
          <a:stretch xmlns:a="http://schemas.openxmlformats.org/drawingml/2006/main"/>
        </p:blipFill>
        <p:spPr>
          <a:xfrm xmlns:a="http://schemas.openxmlformats.org/drawingml/2006/main">
            <a:off x="2025513" y="1587500"/>
            <a:ext cx="2260874" cy="177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74CD07C-B855-4A22-9C5B-675B7456E03A}"/>
              </a:ext>
            </a:extLst>
          </p:cNvPr>
          <p:cNvSpPr>
            <a:spLocks xmlns:a="http://schemas.openxmlformats.org/drawingml/2006/main" noGrp="1"/>
          </p:cNvSpPr>
          <p:nvPr/>
        </p:nvSpPr>
        <p:spPr>
          <a:xfrm xmlns:a="http://schemas.openxmlformats.org/drawingml/2006/main">
            <a:off x="457200" y="3441700"/>
            <a:ext cx="114808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PARAMETER THRESHOLD</a:t>
            </a:r>
          </a:p>
        </p:txBody>
      </p:sp>
      <p:sp>
        <p:nvSpPr>
          <p:cNvPr id="7" name="">
            <a:extLst xmlns:a="http://schemas.openxmlformats.org/drawingml/2006/main">
              <a:ext uri="{FF2B5EF4-FFF2-40B4-BE49-F238E27FC236}">
                <a16:creationId xmlns:a16="http://schemas.microsoft.com/office/drawing/2014/main" id="{D0958693-C235-4AA4-B39A-E43AAF76EE0A}"/>
              </a:ext>
            </a:extLst>
          </p:cNvPr>
          <p:cNvSpPr>
            <a:spLocks xmlns:a="http://schemas.openxmlformats.org/drawingml/2006/main" noGrp="1"/>
          </p:cNvSpPr>
          <p:nvPr/>
        </p:nvSpPr>
        <p:spPr>
          <a:xfrm xmlns:a="http://schemas.openxmlformats.org/drawingml/2006/main">
            <a:off x="4572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Set a personal operating threshold.</a:t>
            </a:r>
          </a:p>
        </p:txBody>
      </p:sp>
      <p:pic>
        <p:nvPicPr>
          <p:cNvPr id="8" name="">
            <a:extLst xmlns:a="http://schemas.openxmlformats.org/drawingml/2006/main">
              <a:ext uri="{FF2B5EF4-FFF2-40B4-BE49-F238E27FC236}">
                <a16:creationId xmlns:a16="http://schemas.microsoft.com/office/drawing/2014/main" id="{A4F03825-DC94-46FD-980E-7AB401BACEDB}"/>
              </a:ext>
            </a:extLst>
          </p:cNvPr>
          <p:cNvPicPr>
            <a:picLocks xmlns:a="http://schemas.openxmlformats.org/drawingml/2006/main" noChangeAspect="1"/>
          </p:cNvPicPr>
          <p:nvPr/>
        </p:nvPicPr>
        <p:blipFill>
          <a:blip xmlns:r="http://schemas.openxmlformats.org/officeDocument/2006/relationships" xmlns:a="http://schemas.openxmlformats.org/drawingml/2006/main" r:embed="Rbeb2ca6766684aef"/>
          <a:stretch xmlns:a="http://schemas.openxmlformats.org/drawingml/2006/main"/>
        </p:blipFill>
        <p:spPr>
          <a:xfrm xmlns:a="http://schemas.openxmlformats.org/drawingml/2006/main">
            <a:off x="7915448" y="1587500"/>
            <a:ext cx="2241203" cy="177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E0FF7BD-E93A-47DD-9F51-93440987C254}"/>
              </a:ext>
            </a:extLst>
          </p:cNvPr>
          <p:cNvSpPr>
            <a:spLocks xmlns:a="http://schemas.openxmlformats.org/drawingml/2006/main" noGrp="1"/>
          </p:cNvSpPr>
          <p:nvPr/>
        </p:nvSpPr>
        <p:spPr>
          <a:xfrm xmlns:a="http://schemas.openxmlformats.org/drawingml/2006/main">
            <a:off x="6337300" y="3441700"/>
            <a:ext cx="56007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TIME AND TIME ZONE</a:t>
            </a:r>
          </a:p>
        </p:txBody>
      </p:sp>
      <p:sp>
        <p:nvSpPr>
          <p:cNvPr id="10" name="">
            <a:extLst xmlns:a="http://schemas.openxmlformats.org/drawingml/2006/main">
              <a:ext uri="{FF2B5EF4-FFF2-40B4-BE49-F238E27FC236}">
                <a16:creationId xmlns:a16="http://schemas.microsoft.com/office/drawing/2014/main" id="{13D5BDD8-5512-4294-A987-D026E740BAE1}"/>
              </a:ext>
            </a:extLst>
          </p:cNvPr>
          <p:cNvSpPr>
            <a:spLocks xmlns:a="http://schemas.openxmlformats.org/drawingml/2006/main" noGrp="1"/>
          </p:cNvSpPr>
          <p:nvPr/>
        </p:nvSpPr>
        <p:spPr>
          <a:xfrm xmlns:a="http://schemas.openxmlformats.org/drawingml/2006/main">
            <a:off x="63373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Geographical clock profile.</a:t>
            </a:r>
          </a:p>
        </p:txBody>
      </p:sp>
      <p:pic>
        <p:nvPicPr>
          <p:cNvPr id="11" name="">
            <a:extLst xmlns:a="http://schemas.openxmlformats.org/drawingml/2006/main">
              <a:ext uri="{FF2B5EF4-FFF2-40B4-BE49-F238E27FC236}">
                <a16:creationId xmlns:a16="http://schemas.microsoft.com/office/drawing/2014/main" id="{C59D3EB4-D6BF-4D27-A676-E2C736205E15}"/>
              </a:ext>
            </a:extLst>
          </p:cNvPr>
          <p:cNvPicPr>
            <a:picLocks xmlns:a="http://schemas.openxmlformats.org/drawingml/2006/main" noChangeAspect="1"/>
          </p:cNvPicPr>
          <p:nvPr/>
        </p:nvPicPr>
        <p:blipFill>
          <a:blip xmlns:r="http://schemas.openxmlformats.org/officeDocument/2006/relationships" xmlns:a="http://schemas.openxmlformats.org/drawingml/2006/main" r:embed="R628ee4c62d10434d"/>
          <a:stretch xmlns:a="http://schemas.openxmlformats.org/drawingml/2006/main"/>
        </p:blipFill>
        <p:spPr>
          <a:xfrm xmlns:a="http://schemas.openxmlformats.org/drawingml/2006/main">
            <a:off x="1995716" y="4254500"/>
            <a:ext cx="2320468" cy="1778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CFC6E52-DFAD-497B-B45E-C1FA70BEDDEF}"/>
              </a:ext>
            </a:extLst>
          </p:cNvPr>
          <p:cNvSpPr>
            <a:spLocks xmlns:a="http://schemas.openxmlformats.org/drawingml/2006/main" noGrp="1"/>
          </p:cNvSpPr>
          <p:nvPr/>
        </p:nvSpPr>
        <p:spPr>
          <a:xfrm xmlns:a="http://schemas.openxmlformats.org/drawingml/2006/main">
            <a:off x="457200" y="6108700"/>
            <a:ext cx="114808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CO2 RESET</a:t>
            </a:r>
          </a:p>
        </p:txBody>
      </p:sp>
      <p:sp>
        <p:nvSpPr>
          <p:cNvPr id="13" name="">
            <a:extLst xmlns:a="http://schemas.openxmlformats.org/drawingml/2006/main">
              <a:ext uri="{FF2B5EF4-FFF2-40B4-BE49-F238E27FC236}">
                <a16:creationId xmlns:a16="http://schemas.microsoft.com/office/drawing/2014/main" id="{B5284724-3A1E-4377-98DD-FD22B03DCD3C}"/>
              </a:ext>
            </a:extLst>
          </p:cNvPr>
          <p:cNvSpPr>
            <a:spLocks xmlns:a="http://schemas.openxmlformats.org/drawingml/2006/main" noGrp="1"/>
          </p:cNvSpPr>
          <p:nvPr/>
        </p:nvSpPr>
        <p:spPr>
          <a:xfrm xmlns:a="http://schemas.openxmlformats.org/drawingml/2006/main">
            <a:off x="4572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Separate confirmation for the CO2 channel.</a:t>
            </a:r>
          </a:p>
        </p:txBody>
      </p:sp>
      <p:pic>
        <p:nvPicPr>
          <p:cNvPr id="14" name="">
            <a:extLst xmlns:a="http://schemas.openxmlformats.org/drawingml/2006/main">
              <a:ext uri="{FF2B5EF4-FFF2-40B4-BE49-F238E27FC236}">
                <a16:creationId xmlns:a16="http://schemas.microsoft.com/office/drawing/2014/main" id="{44D4E6B2-2B68-4313-84C4-11CDEE3C54E3}"/>
              </a:ext>
            </a:extLst>
          </p:cNvPr>
          <p:cNvPicPr>
            <a:picLocks xmlns:a="http://schemas.openxmlformats.org/drawingml/2006/main" noChangeAspect="1"/>
          </p:cNvPicPr>
          <p:nvPr/>
        </p:nvPicPr>
        <p:blipFill>
          <a:blip xmlns:r="http://schemas.openxmlformats.org/officeDocument/2006/relationships" xmlns:a="http://schemas.openxmlformats.org/drawingml/2006/main" r:embed="R30157ffe80764651"/>
          <a:stretch xmlns:a="http://schemas.openxmlformats.org/drawingml/2006/main"/>
        </p:blipFill>
        <p:spPr>
          <a:xfrm xmlns:a="http://schemas.openxmlformats.org/drawingml/2006/main">
            <a:off x="7553773" y="4254500"/>
            <a:ext cx="2964554" cy="1778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69055B0-5AD3-4E5A-BEB7-3DFD9D23F9B6}"/>
              </a:ext>
            </a:extLst>
          </p:cNvPr>
          <p:cNvSpPr>
            <a:spLocks xmlns:a="http://schemas.openxmlformats.org/drawingml/2006/main" noGrp="1"/>
          </p:cNvSpPr>
          <p:nvPr/>
        </p:nvSpPr>
        <p:spPr>
          <a:xfrm xmlns:a="http://schemas.openxmlformats.org/drawingml/2006/main">
            <a:off x="6337300" y="6108700"/>
            <a:ext cx="5600700" cy="2324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1">
                <a:solidFill>
                  <a:srgbClr val="65A5FF"/>
                </a:solidFill>
                <a:latin typeface="Arial"/>
                <a:ea typeface="Arial"/>
                <a:cs typeface="Arial"/>
              </a:defRPr>
            </a:defPPr>
            <a:lvl1pPr>
              <a:buNone/>
              <a:defRPr sz="1100" b="1">
                <a:solidFill>
                  <a:srgbClr val="65A5FF"/>
                </a:solidFill>
                <a:latin typeface="Arial"/>
                <a:ea typeface="Arial"/>
                <a:cs typeface="Arial"/>
              </a:defRPr>
            </a:lvl1pPr>
            <a:lvl2pPr>
              <a:buNone/>
              <a:defRPr sz="1100" b="1">
                <a:solidFill>
                  <a:srgbClr val="65A5FF"/>
                </a:solidFill>
                <a:latin typeface="Arial"/>
                <a:ea typeface="Arial"/>
                <a:cs typeface="Arial"/>
              </a:defRPr>
            </a:lvl2pPr>
            <a:lvl3pPr>
              <a:buNone/>
              <a:defRPr sz="1100" b="1">
                <a:solidFill>
                  <a:srgbClr val="65A5FF"/>
                </a:solidFill>
                <a:latin typeface="Arial"/>
                <a:ea typeface="Arial"/>
                <a:cs typeface="Arial"/>
              </a:defRPr>
            </a:lvl3pPr>
            <a:lvl4pPr>
              <a:buNone/>
              <a:defRPr sz="1100" b="1">
                <a:solidFill>
                  <a:srgbClr val="65A5FF"/>
                </a:solidFill>
                <a:latin typeface="Arial"/>
                <a:ea typeface="Arial"/>
                <a:cs typeface="Arial"/>
              </a:defRPr>
            </a:lvl4pPr>
            <a:lvl5pPr>
              <a:buNone/>
              <a:defRPr sz="1100" b="1">
                <a:solidFill>
                  <a:srgbClr val="65A5FF"/>
                </a:solidFill>
                <a:latin typeface="Arial"/>
                <a:ea typeface="Arial"/>
                <a:cs typeface="Arial"/>
              </a:defRPr>
            </a:lvl5pPr>
            <a:lvl6pPr>
              <a:buNone/>
              <a:defRPr sz="1100" b="1">
                <a:solidFill>
                  <a:srgbClr val="65A5FF"/>
                </a:solidFill>
                <a:latin typeface="Arial"/>
                <a:ea typeface="Arial"/>
                <a:cs typeface="Arial"/>
              </a:defRPr>
            </a:lvl6pPr>
            <a:lvl7pPr>
              <a:buNone/>
              <a:defRPr sz="1100" b="1">
                <a:solidFill>
                  <a:srgbClr val="65A5FF"/>
                </a:solidFill>
                <a:latin typeface="Arial"/>
                <a:ea typeface="Arial"/>
                <a:cs typeface="Arial"/>
              </a:defRPr>
            </a:lvl7pPr>
            <a:lvl8pPr>
              <a:buNone/>
              <a:defRPr sz="1100" b="1">
                <a:solidFill>
                  <a:srgbClr val="65A5FF"/>
                </a:solidFill>
                <a:latin typeface="Arial"/>
                <a:ea typeface="Arial"/>
                <a:cs typeface="Arial"/>
              </a:defRPr>
            </a:lvl8pPr>
            <a:lvl9pPr>
              <a:buNone/>
              <a:defRPr sz="1100" b="1">
                <a:solidFill>
                  <a:srgbClr val="65A5FF"/>
                </a:solidFill>
                <a:latin typeface="Arial"/>
                <a:ea typeface="Arial"/>
                <a:cs typeface="Arial"/>
              </a:defRPr>
            </a:lvl9pPr>
          </a:lstStyle>
          <a:p xmlns:a="http://schemas.openxmlformats.org/drawingml/2006/main">
            <a:pPr>
              <a:buNone/>
              <a:defRPr sz="1100" b="1">
                <a:solidFill>
                  <a:srgbClr val="65A5FF"/>
                </a:solidFill>
                <a:latin typeface="Arial"/>
                <a:ea typeface="Arial"/>
                <a:cs typeface="Arial"/>
              </a:defRPr>
            </a:pPr>
            <a:r>
              <a:rPr sz="1100" b="1">
                <a:solidFill>
                  <a:srgbClr val="65A5FF"/>
                </a:solidFill>
                <a:latin typeface="Arial"/>
                <a:ea typeface="Arial"/>
                <a:cs typeface="Arial"/>
              </a:rPr>
              <a:t>SYSTEM</a:t>
            </a:r>
          </a:p>
        </p:txBody>
      </p:sp>
      <p:sp>
        <p:nvSpPr>
          <p:cNvPr id="16" name="">
            <a:extLst xmlns:a="http://schemas.openxmlformats.org/drawingml/2006/main">
              <a:ext uri="{FF2B5EF4-FFF2-40B4-BE49-F238E27FC236}">
                <a16:creationId xmlns:a16="http://schemas.microsoft.com/office/drawing/2014/main" id="{B270F59D-D7C6-427A-BDFD-423C5DE06098}"/>
              </a:ext>
            </a:extLst>
          </p:cNvPr>
          <p:cNvSpPr>
            <a:spLocks xmlns:a="http://schemas.openxmlformats.org/drawingml/2006/main" noGrp="1"/>
          </p:cNvSpPr>
          <p:nvPr/>
        </p:nvSpPr>
        <p:spPr>
          <a:xfrm xmlns:a="http://schemas.openxmlformats.org/drawingml/2006/main">
            <a:off x="63373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Restart or reset GUARDIAN.</a:t>
            </a:r>
          </a:p>
        </p:txBody>
      </p:sp>
    </p:spTree>
    <p:extLst>
      <p:ext uri="{BB962C8B-B14F-4D97-AF65-F5344CB8AC3E}">
        <p14:creationId xmlns:p14="http://schemas.microsoft.com/office/powerpoint/2010/main" val="1654459673"/>
      </p:ext>
    </p:extLst>
  </p:cSld>
</p:sld>
</file>

<file path=ppt/slides/slide34.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6968A0-52B2-4C07-AF9D-4CC175054226}"/>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SCREEN ATLAS</a:t>
            </a:r>
          </a:p>
        </p:txBody>
      </p:sp>
      <p:sp>
        <p:nvSpPr>
          <p:cNvPr id="2" name="">
            <a:extLst xmlns:a="http://schemas.openxmlformats.org/drawingml/2006/main">
              <a:ext uri="{FF2B5EF4-FFF2-40B4-BE49-F238E27FC236}">
                <a16:creationId xmlns:a16="http://schemas.microsoft.com/office/drawing/2014/main" id="{AE35F8A8-49C1-4D8A-B7F5-B92F53FB20D7}"/>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Recognising environmental states</a:t>
            </a:r>
          </a:p>
        </p:txBody>
      </p:sp>
      <p:sp>
        <p:nvSpPr>
          <p:cNvPr id="3" name="">
            <a:extLst xmlns:a="http://schemas.openxmlformats.org/drawingml/2006/main">
              <a:ext uri="{FF2B5EF4-FFF2-40B4-BE49-F238E27FC236}">
                <a16:creationId xmlns:a16="http://schemas.microsoft.com/office/drawing/2014/main" id="{D70DB834-88A9-4F16-89A3-10825E16DDDD}"/>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1B3DE2D4-0E49-404C-84F9-7218F542BE0A}"/>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34</a:t>
            </a:r>
          </a:p>
        </p:txBody>
      </p:sp>
      <p:pic>
        <p:nvPicPr>
          <p:cNvPr id="5" name="">
            <a:extLst xmlns:a="http://schemas.openxmlformats.org/drawingml/2006/main">
              <a:ext uri="{FF2B5EF4-FFF2-40B4-BE49-F238E27FC236}">
                <a16:creationId xmlns:a16="http://schemas.microsoft.com/office/drawing/2014/main" id="{7B2111A8-5F7E-43D1-AD58-F5D77D975924}"/>
              </a:ext>
            </a:extLst>
          </p:cNvPr>
          <p:cNvPicPr>
            <a:picLocks xmlns:a="http://schemas.openxmlformats.org/drawingml/2006/main" noChangeAspect="1"/>
          </p:cNvPicPr>
          <p:nvPr/>
        </p:nvPicPr>
        <p:blipFill>
          <a:blip xmlns:r="http://schemas.openxmlformats.org/officeDocument/2006/relationships" xmlns:a="http://schemas.openxmlformats.org/drawingml/2006/main" r:embed="Raabbe82291d24876"/>
          <a:stretch xmlns:a="http://schemas.openxmlformats.org/drawingml/2006/main"/>
        </p:blipFill>
        <p:spPr>
          <a:xfrm xmlns:a="http://schemas.openxmlformats.org/drawingml/2006/main">
            <a:off x="1972525" y="1587500"/>
            <a:ext cx="2366850" cy="177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131AF9D-1FC2-4E05-877F-0963811130B8}"/>
              </a:ext>
            </a:extLst>
          </p:cNvPr>
          <p:cNvSpPr>
            <a:spLocks xmlns:a="http://schemas.openxmlformats.org/drawingml/2006/main" noGrp="1"/>
          </p:cNvSpPr>
          <p:nvPr/>
        </p:nvSpPr>
        <p:spPr>
          <a:xfrm xmlns:a="http://schemas.openxmlformats.org/drawingml/2006/main">
            <a:off x="457200" y="3454400"/>
            <a:ext cx="114808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HOME: CO2 alert</a:t>
            </a:r>
          </a:p>
        </p:txBody>
      </p:sp>
      <p:sp>
        <p:nvSpPr>
          <p:cNvPr id="7" name="">
            <a:extLst xmlns:a="http://schemas.openxmlformats.org/drawingml/2006/main">
              <a:ext uri="{FF2B5EF4-FFF2-40B4-BE49-F238E27FC236}">
                <a16:creationId xmlns:a16="http://schemas.microsoft.com/office/drawing/2014/main" id="{F146EE94-EC1B-4C2A-B372-D11DEDA76388}"/>
              </a:ext>
            </a:extLst>
          </p:cNvPr>
          <p:cNvSpPr>
            <a:spLocks xmlns:a="http://schemas.openxmlformats.org/drawingml/2006/main" noGrp="1"/>
          </p:cNvSpPr>
          <p:nvPr/>
        </p:nvSpPr>
        <p:spPr>
          <a:xfrm xmlns:a="http://schemas.openxmlformats.org/drawingml/2006/main">
            <a:off x="4572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Colour indicates the state against the configured threshold.</a:t>
            </a:r>
          </a:p>
        </p:txBody>
      </p:sp>
      <p:pic>
        <p:nvPicPr>
          <p:cNvPr id="8" name="">
            <a:extLst xmlns:a="http://schemas.openxmlformats.org/drawingml/2006/main">
              <a:ext uri="{FF2B5EF4-FFF2-40B4-BE49-F238E27FC236}">
                <a16:creationId xmlns:a16="http://schemas.microsoft.com/office/drawing/2014/main" id="{98C76424-9AB8-4B27-B816-818DF31F3329}"/>
              </a:ext>
            </a:extLst>
          </p:cNvPr>
          <p:cNvPicPr>
            <a:picLocks xmlns:a="http://schemas.openxmlformats.org/drawingml/2006/main" noChangeAspect="1"/>
          </p:cNvPicPr>
          <p:nvPr/>
        </p:nvPicPr>
        <p:blipFill>
          <a:blip xmlns:r="http://schemas.openxmlformats.org/officeDocument/2006/relationships" xmlns:a="http://schemas.openxmlformats.org/drawingml/2006/main" r:embed="R0102ca274b2747cb"/>
          <a:stretch xmlns:a="http://schemas.openxmlformats.org/drawingml/2006/main"/>
        </p:blipFill>
        <p:spPr>
          <a:xfrm xmlns:a="http://schemas.openxmlformats.org/drawingml/2006/main">
            <a:off x="7850717" y="1587500"/>
            <a:ext cx="2370667" cy="177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1FD69E3-AD0E-4C77-B43F-3BF51B0BFE6C}"/>
              </a:ext>
            </a:extLst>
          </p:cNvPr>
          <p:cNvSpPr>
            <a:spLocks xmlns:a="http://schemas.openxmlformats.org/drawingml/2006/main" noGrp="1"/>
          </p:cNvSpPr>
          <p:nvPr/>
        </p:nvSpPr>
        <p:spPr>
          <a:xfrm xmlns:a="http://schemas.openxmlformats.org/drawingml/2006/main">
            <a:off x="6337300" y="3454400"/>
            <a:ext cx="56007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ALERT CENTRE</a:t>
            </a:r>
          </a:p>
        </p:txBody>
      </p:sp>
      <p:sp>
        <p:nvSpPr>
          <p:cNvPr id="10" name="">
            <a:extLst xmlns:a="http://schemas.openxmlformats.org/drawingml/2006/main">
              <a:ext uri="{FF2B5EF4-FFF2-40B4-BE49-F238E27FC236}">
                <a16:creationId xmlns:a16="http://schemas.microsoft.com/office/drawing/2014/main" id="{17FEB992-9C5B-4280-BF25-5AA108E23D30}"/>
              </a:ext>
            </a:extLst>
          </p:cNvPr>
          <p:cNvSpPr>
            <a:spLocks xmlns:a="http://schemas.openxmlformats.org/drawingml/2006/main" noGrp="1"/>
          </p:cNvSpPr>
          <p:nvPr/>
        </p:nvSpPr>
        <p:spPr>
          <a:xfrm xmlns:a="http://schemas.openxmlformats.org/drawingml/2006/main">
            <a:off x="63373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Read the cause and current value; alerts are informational.</a:t>
            </a:r>
          </a:p>
        </p:txBody>
      </p:sp>
      <p:pic>
        <p:nvPicPr>
          <p:cNvPr id="11" name="">
            <a:extLst xmlns:a="http://schemas.openxmlformats.org/drawingml/2006/main">
              <a:ext uri="{FF2B5EF4-FFF2-40B4-BE49-F238E27FC236}">
                <a16:creationId xmlns:a16="http://schemas.microsoft.com/office/drawing/2014/main" id="{0547253F-C8E0-4A88-BE19-E32167EE41B3}"/>
              </a:ext>
            </a:extLst>
          </p:cNvPr>
          <p:cNvPicPr>
            <a:picLocks xmlns:a="http://schemas.openxmlformats.org/drawingml/2006/main" noChangeAspect="1"/>
          </p:cNvPicPr>
          <p:nvPr/>
        </p:nvPicPr>
        <p:blipFill>
          <a:blip xmlns:r="http://schemas.openxmlformats.org/officeDocument/2006/relationships" xmlns:a="http://schemas.openxmlformats.org/drawingml/2006/main" r:embed="R997efedf9cae4508"/>
          <a:stretch xmlns:a="http://schemas.openxmlformats.org/drawingml/2006/main"/>
        </p:blipFill>
        <p:spPr>
          <a:xfrm xmlns:a="http://schemas.openxmlformats.org/drawingml/2006/main">
            <a:off x="2105944" y="4254500"/>
            <a:ext cx="2100012" cy="1778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1E28D44-BAE5-415B-B440-1672A54C879A}"/>
              </a:ext>
            </a:extLst>
          </p:cNvPr>
          <p:cNvSpPr>
            <a:spLocks xmlns:a="http://schemas.openxmlformats.org/drawingml/2006/main" noGrp="1"/>
          </p:cNvSpPr>
          <p:nvPr/>
        </p:nvSpPr>
        <p:spPr>
          <a:xfrm xmlns:a="http://schemas.openxmlformats.org/drawingml/2006/main">
            <a:off x="457200" y="6121400"/>
            <a:ext cx="114808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ANALYSIS: print completed</a:t>
            </a:r>
          </a:p>
        </p:txBody>
      </p:sp>
      <p:sp>
        <p:nvSpPr>
          <p:cNvPr id="13" name="">
            <a:extLst xmlns:a="http://schemas.openxmlformats.org/drawingml/2006/main">
              <a:ext uri="{FF2B5EF4-FFF2-40B4-BE49-F238E27FC236}">
                <a16:creationId xmlns:a16="http://schemas.microsoft.com/office/drawing/2014/main" id="{24BC8A5B-3E0E-4286-8944-03E56B9520E9}"/>
              </a:ext>
            </a:extLst>
          </p:cNvPr>
          <p:cNvSpPr>
            <a:spLocks xmlns:a="http://schemas.openxmlformats.org/drawingml/2006/main" noGrp="1"/>
          </p:cNvSpPr>
          <p:nvPr/>
        </p:nvSpPr>
        <p:spPr>
          <a:xfrm xmlns:a="http://schemas.openxmlformats.org/drawingml/2006/main">
            <a:off x="4572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Session summary and available samples.</a:t>
            </a:r>
          </a:p>
        </p:txBody>
      </p:sp>
      <p:pic>
        <p:nvPicPr>
          <p:cNvPr id="14" name="">
            <a:extLst xmlns:a="http://schemas.openxmlformats.org/drawingml/2006/main">
              <a:ext uri="{FF2B5EF4-FFF2-40B4-BE49-F238E27FC236}">
                <a16:creationId xmlns:a16="http://schemas.microsoft.com/office/drawing/2014/main" id="{DE3C666F-7F6E-41BC-9E69-3677153664FD}"/>
              </a:ext>
            </a:extLst>
          </p:cNvPr>
          <p:cNvPicPr>
            <a:picLocks xmlns:a="http://schemas.openxmlformats.org/drawingml/2006/main" noChangeAspect="1"/>
          </p:cNvPicPr>
          <p:nvPr/>
        </p:nvPicPr>
        <p:blipFill>
          <a:blip xmlns:r="http://schemas.openxmlformats.org/officeDocument/2006/relationships" xmlns:a="http://schemas.openxmlformats.org/drawingml/2006/main" r:embed="R30592abaae3e4063"/>
          <a:stretch xmlns:a="http://schemas.openxmlformats.org/drawingml/2006/main"/>
        </p:blipFill>
        <p:spPr>
          <a:xfrm xmlns:a="http://schemas.openxmlformats.org/drawingml/2006/main">
            <a:off x="7933090" y="4254500"/>
            <a:ext cx="2205920" cy="1778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FF1C580-13D6-41C4-B3C2-25787ECB6845}"/>
              </a:ext>
            </a:extLst>
          </p:cNvPr>
          <p:cNvSpPr>
            <a:spLocks xmlns:a="http://schemas.openxmlformats.org/drawingml/2006/main" noGrp="1"/>
          </p:cNvSpPr>
          <p:nvPr/>
        </p:nvSpPr>
        <p:spPr>
          <a:xfrm xmlns:a="http://schemas.openxmlformats.org/drawingml/2006/main">
            <a:off x="6337300" y="6121400"/>
            <a:ext cx="56007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FORMAT: confirmation</a:t>
            </a:r>
          </a:p>
        </p:txBody>
      </p:sp>
      <p:sp>
        <p:nvSpPr>
          <p:cNvPr id="16" name="">
            <a:extLst xmlns:a="http://schemas.openxmlformats.org/drawingml/2006/main">
              <a:ext uri="{FF2B5EF4-FFF2-40B4-BE49-F238E27FC236}">
                <a16:creationId xmlns:a16="http://schemas.microsoft.com/office/drawing/2014/main" id="{AD30AA38-FE67-44F4-8B01-0631D094A207}"/>
              </a:ext>
            </a:extLst>
          </p:cNvPr>
          <p:cNvSpPr>
            <a:spLocks xmlns:a="http://schemas.openxmlformats.org/drawingml/2006/main" noGrp="1"/>
          </p:cNvSpPr>
          <p:nvPr/>
        </p:nvSpPr>
        <p:spPr>
          <a:xfrm xmlns:a="http://schemas.openxmlformats.org/drawingml/2006/main">
            <a:off x="63373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Erases all card files; back up first.</a:t>
            </a:r>
          </a:p>
        </p:txBody>
      </p:sp>
    </p:spTree>
    <p:extLst>
      <p:ext uri="{BB962C8B-B14F-4D97-AF65-F5344CB8AC3E}">
        <p14:creationId xmlns:p14="http://schemas.microsoft.com/office/powerpoint/2010/main" val="672516669"/>
      </p:ext>
    </p:extLst>
  </p:cSld>
</p:sld>
</file>

<file path=ppt/slides/slide35.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BAE9105-E68E-41ED-AC51-015C0B61C3E7}"/>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SCREEN ATLAS</a:t>
            </a:r>
          </a:p>
        </p:txBody>
      </p:sp>
      <p:sp>
        <p:nvSpPr>
          <p:cNvPr id="2" name="">
            <a:extLst xmlns:a="http://schemas.openxmlformats.org/drawingml/2006/main">
              <a:ext uri="{FF2B5EF4-FFF2-40B4-BE49-F238E27FC236}">
                <a16:creationId xmlns:a16="http://schemas.microsoft.com/office/drawing/2014/main" id="{502F4060-9A7D-45E9-8D47-8488A4EF3E81}"/>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Access and local checks</a:t>
            </a:r>
          </a:p>
        </p:txBody>
      </p:sp>
      <p:sp>
        <p:nvSpPr>
          <p:cNvPr id="3" name="">
            <a:extLst xmlns:a="http://schemas.openxmlformats.org/drawingml/2006/main">
              <a:ext uri="{FF2B5EF4-FFF2-40B4-BE49-F238E27FC236}">
                <a16:creationId xmlns:a16="http://schemas.microsoft.com/office/drawing/2014/main" id="{5DAA78D1-565E-4FBE-89B9-73FCB52DFB3B}"/>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268EF711-3C7F-414D-B9B3-08D5D640477F}"/>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35</a:t>
            </a:r>
          </a:p>
        </p:txBody>
      </p:sp>
      <p:pic>
        <p:nvPicPr>
          <p:cNvPr id="5" name="">
            <a:extLst xmlns:a="http://schemas.openxmlformats.org/drawingml/2006/main">
              <a:ext uri="{FF2B5EF4-FFF2-40B4-BE49-F238E27FC236}">
                <a16:creationId xmlns:a16="http://schemas.microsoft.com/office/drawing/2014/main" id="{364AE7C5-A33C-4E2F-9900-3608C3EEF07C}"/>
              </a:ext>
            </a:extLst>
          </p:cNvPr>
          <p:cNvPicPr>
            <a:picLocks xmlns:a="http://schemas.openxmlformats.org/drawingml/2006/main" noChangeAspect="1"/>
          </p:cNvPicPr>
          <p:nvPr/>
        </p:nvPicPr>
        <p:blipFill>
          <a:blip xmlns:r="http://schemas.openxmlformats.org/officeDocument/2006/relationships" xmlns:a="http://schemas.openxmlformats.org/drawingml/2006/main" r:embed="R0d5e00962c88487b"/>
          <a:stretch xmlns:a="http://schemas.openxmlformats.org/drawingml/2006/main"/>
        </p:blipFill>
        <p:spPr>
          <a:xfrm xmlns:a="http://schemas.openxmlformats.org/drawingml/2006/main">
            <a:off x="1970617" y="1587500"/>
            <a:ext cx="2370667" cy="177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6C58D1C-A246-4246-A741-A11701310607}"/>
              </a:ext>
            </a:extLst>
          </p:cNvPr>
          <p:cNvSpPr>
            <a:spLocks xmlns:a="http://schemas.openxmlformats.org/drawingml/2006/main" noGrp="1"/>
          </p:cNvSpPr>
          <p:nvPr/>
        </p:nvSpPr>
        <p:spPr>
          <a:xfrm xmlns:a="http://schemas.openxmlformats.org/drawingml/2006/main">
            <a:off x="457200" y="3454400"/>
            <a:ext cx="114808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PRINTER SETTINGS</a:t>
            </a:r>
          </a:p>
        </p:txBody>
      </p:sp>
      <p:sp>
        <p:nvSpPr>
          <p:cNvPr id="7" name="">
            <a:extLst xmlns:a="http://schemas.openxmlformats.org/drawingml/2006/main">
              <a:ext uri="{FF2B5EF4-FFF2-40B4-BE49-F238E27FC236}">
                <a16:creationId xmlns:a16="http://schemas.microsoft.com/office/drawing/2014/main" id="{33D6B5D8-0A05-4ECB-869D-CC6C2CD23033}"/>
              </a:ext>
            </a:extLst>
          </p:cNvPr>
          <p:cNvSpPr>
            <a:spLocks xmlns:a="http://schemas.openxmlformats.org/drawingml/2006/main" noGrp="1"/>
          </p:cNvSpPr>
          <p:nvPr/>
        </p:nvSpPr>
        <p:spPr>
          <a:xfrm xmlns:a="http://schemas.openxmlformats.org/drawingml/2006/main">
            <a:off x="4572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Your printer’s IP, serial number and local code. Example details shown.</a:t>
            </a:r>
          </a:p>
        </p:txBody>
      </p:sp>
      <p:pic>
        <p:nvPicPr>
          <p:cNvPr id="8" name="">
            <a:extLst xmlns:a="http://schemas.openxmlformats.org/drawingml/2006/main">
              <a:ext uri="{FF2B5EF4-FFF2-40B4-BE49-F238E27FC236}">
                <a16:creationId xmlns:a16="http://schemas.microsoft.com/office/drawing/2014/main" id="{7AE44088-28BD-4DDE-A213-FF42EDB28CFB}"/>
              </a:ext>
            </a:extLst>
          </p:cNvPr>
          <p:cNvPicPr>
            <a:picLocks xmlns:a="http://schemas.openxmlformats.org/drawingml/2006/main" noChangeAspect="1"/>
          </p:cNvPicPr>
          <p:nvPr/>
        </p:nvPicPr>
        <p:blipFill>
          <a:blip xmlns:r="http://schemas.openxmlformats.org/officeDocument/2006/relationships" xmlns:a="http://schemas.openxmlformats.org/drawingml/2006/main" r:embed="R7195588b8e8e444f"/>
          <a:stretch xmlns:a="http://schemas.openxmlformats.org/drawingml/2006/main"/>
        </p:blipFill>
        <p:spPr>
          <a:xfrm xmlns:a="http://schemas.openxmlformats.org/drawingml/2006/main">
            <a:off x="7965828" y="1587500"/>
            <a:ext cx="2140444" cy="1778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32ACE55-E13A-4CF0-BFB3-4451AF6E018A}"/>
              </a:ext>
            </a:extLst>
          </p:cNvPr>
          <p:cNvSpPr>
            <a:spLocks xmlns:a="http://schemas.openxmlformats.org/drawingml/2006/main" noGrp="1"/>
          </p:cNvSpPr>
          <p:nvPr/>
        </p:nvSpPr>
        <p:spPr>
          <a:xfrm xmlns:a="http://schemas.openxmlformats.org/drawingml/2006/main">
            <a:off x="6337300" y="3454400"/>
            <a:ext cx="56007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BROWSER ACCESS</a:t>
            </a:r>
          </a:p>
        </p:txBody>
      </p:sp>
      <p:sp>
        <p:nvSpPr>
          <p:cNvPr id="10" name="">
            <a:extLst xmlns:a="http://schemas.openxmlformats.org/drawingml/2006/main">
              <a:ext uri="{FF2B5EF4-FFF2-40B4-BE49-F238E27FC236}">
                <a16:creationId xmlns:a16="http://schemas.microsoft.com/office/drawing/2014/main" id="{235872AB-D48C-42B8-B660-3BAEDA1EB8B2}"/>
              </a:ext>
            </a:extLst>
          </p:cNvPr>
          <p:cNvSpPr>
            <a:spLocks xmlns:a="http://schemas.openxmlformats.org/drawingml/2006/main" noGrp="1"/>
          </p:cNvSpPr>
          <p:nvPr/>
        </p:nvSpPr>
        <p:spPr>
          <a:xfrm xmlns:a="http://schemas.openxmlformats.org/drawingml/2006/main">
            <a:off x="6337300" y="3721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Use your monitor’s address. The QR code shown was replaced.</a:t>
            </a:r>
          </a:p>
        </p:txBody>
      </p:sp>
      <p:pic>
        <p:nvPicPr>
          <p:cNvPr id="11" name="">
            <a:extLst xmlns:a="http://schemas.openxmlformats.org/drawingml/2006/main">
              <a:ext uri="{FF2B5EF4-FFF2-40B4-BE49-F238E27FC236}">
                <a16:creationId xmlns:a16="http://schemas.microsoft.com/office/drawing/2014/main" id="{4A6FDC2C-CF3A-4505-9F8B-D2302CCE48C6}"/>
              </a:ext>
            </a:extLst>
          </p:cNvPr>
          <p:cNvPicPr>
            <a:picLocks xmlns:a="http://schemas.openxmlformats.org/drawingml/2006/main" noChangeAspect="1"/>
          </p:cNvPicPr>
          <p:nvPr/>
        </p:nvPicPr>
        <p:blipFill>
          <a:blip xmlns:r="http://schemas.openxmlformats.org/officeDocument/2006/relationships" xmlns:a="http://schemas.openxmlformats.org/drawingml/2006/main" r:embed="R4cbf9676b58340de"/>
          <a:stretch xmlns:a="http://schemas.openxmlformats.org/drawingml/2006/main"/>
        </p:blipFill>
        <p:spPr>
          <a:xfrm xmlns:a="http://schemas.openxmlformats.org/drawingml/2006/main">
            <a:off x="2041525" y="4254500"/>
            <a:ext cx="2228850" cy="1778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5A05F84-C14E-4F2B-B89A-4E55C54CF9F1}"/>
              </a:ext>
            </a:extLst>
          </p:cNvPr>
          <p:cNvSpPr>
            <a:spLocks xmlns:a="http://schemas.openxmlformats.org/drawingml/2006/main" noGrp="1"/>
          </p:cNvSpPr>
          <p:nvPr/>
        </p:nvSpPr>
        <p:spPr>
          <a:xfrm xmlns:a="http://schemas.openxmlformats.org/drawingml/2006/main">
            <a:off x="457200" y="6121400"/>
            <a:ext cx="114808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DISPLAY TEST</a:t>
            </a:r>
          </a:p>
        </p:txBody>
      </p:sp>
      <p:sp>
        <p:nvSpPr>
          <p:cNvPr id="13" name="">
            <a:extLst xmlns:a="http://schemas.openxmlformats.org/drawingml/2006/main">
              <a:ext uri="{FF2B5EF4-FFF2-40B4-BE49-F238E27FC236}">
                <a16:creationId xmlns:a16="http://schemas.microsoft.com/office/drawing/2014/main" id="{D1189712-2924-4EFF-A4D6-1627654220E3}"/>
              </a:ext>
            </a:extLst>
          </p:cNvPr>
          <p:cNvSpPr>
            <a:spLocks xmlns:a="http://schemas.openxmlformats.org/drawingml/2006/main" noGrp="1"/>
          </p:cNvSpPr>
          <p:nvPr/>
        </p:nvSpPr>
        <p:spPr>
          <a:xfrm xmlns:a="http://schemas.openxmlformats.org/drawingml/2006/main">
            <a:off x="4572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Check uniformity and persistent defects.</a:t>
            </a:r>
          </a:p>
        </p:txBody>
      </p:sp>
      <p:pic>
        <p:nvPicPr>
          <p:cNvPr id="14" name="">
            <a:extLst xmlns:a="http://schemas.openxmlformats.org/drawingml/2006/main">
              <a:ext uri="{FF2B5EF4-FFF2-40B4-BE49-F238E27FC236}">
                <a16:creationId xmlns:a16="http://schemas.microsoft.com/office/drawing/2014/main" id="{DE8147E1-9202-4590-853E-948885DEB6BC}"/>
              </a:ext>
            </a:extLst>
          </p:cNvPr>
          <p:cNvPicPr>
            <a:picLocks xmlns:a="http://schemas.openxmlformats.org/drawingml/2006/main" noChangeAspect="1"/>
          </p:cNvPicPr>
          <p:nvPr/>
        </p:nvPicPr>
        <p:blipFill>
          <a:blip xmlns:r="http://schemas.openxmlformats.org/officeDocument/2006/relationships" xmlns:a="http://schemas.openxmlformats.org/drawingml/2006/main" r:embed="R185cd5f12a014944"/>
          <a:stretch xmlns:a="http://schemas.openxmlformats.org/drawingml/2006/main"/>
        </p:blipFill>
        <p:spPr>
          <a:xfrm xmlns:a="http://schemas.openxmlformats.org/drawingml/2006/main">
            <a:off x="7886717" y="4254500"/>
            <a:ext cx="2298665" cy="1778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4BF193D4-A573-468A-B24F-D39B3B172378}"/>
              </a:ext>
            </a:extLst>
          </p:cNvPr>
          <p:cNvSpPr>
            <a:spLocks xmlns:a="http://schemas.openxmlformats.org/drawingml/2006/main" noGrp="1"/>
          </p:cNvSpPr>
          <p:nvPr/>
        </p:nvSpPr>
        <p:spPr>
          <a:xfrm xmlns:a="http://schemas.openxmlformats.org/drawingml/2006/main">
            <a:off x="6337300" y="6121400"/>
            <a:ext cx="56007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1">
                <a:solidFill>
                  <a:srgbClr val="65A5FF"/>
                </a:solidFill>
                <a:latin typeface="Arial"/>
                <a:ea typeface="Arial"/>
                <a:cs typeface="Arial"/>
              </a:defRPr>
            </a:defPPr>
            <a:lvl1pPr>
              <a:buNone/>
              <a:defRPr sz="1000" b="1">
                <a:solidFill>
                  <a:srgbClr val="65A5FF"/>
                </a:solidFill>
                <a:latin typeface="Arial"/>
                <a:ea typeface="Arial"/>
                <a:cs typeface="Arial"/>
              </a:defRPr>
            </a:lvl1pPr>
            <a:lvl2pPr>
              <a:buNone/>
              <a:defRPr sz="1000" b="1">
                <a:solidFill>
                  <a:srgbClr val="65A5FF"/>
                </a:solidFill>
                <a:latin typeface="Arial"/>
                <a:ea typeface="Arial"/>
                <a:cs typeface="Arial"/>
              </a:defRPr>
            </a:lvl2pPr>
            <a:lvl3pPr>
              <a:buNone/>
              <a:defRPr sz="1000" b="1">
                <a:solidFill>
                  <a:srgbClr val="65A5FF"/>
                </a:solidFill>
                <a:latin typeface="Arial"/>
                <a:ea typeface="Arial"/>
                <a:cs typeface="Arial"/>
              </a:defRPr>
            </a:lvl3pPr>
            <a:lvl4pPr>
              <a:buNone/>
              <a:defRPr sz="1000" b="1">
                <a:solidFill>
                  <a:srgbClr val="65A5FF"/>
                </a:solidFill>
                <a:latin typeface="Arial"/>
                <a:ea typeface="Arial"/>
                <a:cs typeface="Arial"/>
              </a:defRPr>
            </a:lvl4pPr>
            <a:lvl5pPr>
              <a:buNone/>
              <a:defRPr sz="1000" b="1">
                <a:solidFill>
                  <a:srgbClr val="65A5FF"/>
                </a:solidFill>
                <a:latin typeface="Arial"/>
                <a:ea typeface="Arial"/>
                <a:cs typeface="Arial"/>
              </a:defRPr>
            </a:lvl5pPr>
            <a:lvl6pPr>
              <a:buNone/>
              <a:defRPr sz="1000" b="1">
                <a:solidFill>
                  <a:srgbClr val="65A5FF"/>
                </a:solidFill>
                <a:latin typeface="Arial"/>
                <a:ea typeface="Arial"/>
                <a:cs typeface="Arial"/>
              </a:defRPr>
            </a:lvl6pPr>
            <a:lvl7pPr>
              <a:buNone/>
              <a:defRPr sz="1000" b="1">
                <a:solidFill>
                  <a:srgbClr val="65A5FF"/>
                </a:solidFill>
                <a:latin typeface="Arial"/>
                <a:ea typeface="Arial"/>
                <a:cs typeface="Arial"/>
              </a:defRPr>
            </a:lvl7pPr>
            <a:lvl8pPr>
              <a:buNone/>
              <a:defRPr sz="1000" b="1">
                <a:solidFill>
                  <a:srgbClr val="65A5FF"/>
                </a:solidFill>
                <a:latin typeface="Arial"/>
                <a:ea typeface="Arial"/>
                <a:cs typeface="Arial"/>
              </a:defRPr>
            </a:lvl8pPr>
            <a:lvl9pPr>
              <a:buNone/>
              <a:defRPr sz="1000" b="1">
                <a:solidFill>
                  <a:srgbClr val="65A5FF"/>
                </a:solidFill>
                <a:latin typeface="Arial"/>
                <a:ea typeface="Arial"/>
                <a:cs typeface="Arial"/>
              </a:defRPr>
            </a:lvl9pPr>
          </a:lstStyle>
          <a:p xmlns:a="http://schemas.openxmlformats.org/drawingml/2006/main">
            <a:pPr>
              <a:buNone/>
              <a:defRPr sz="1000" b="1">
                <a:solidFill>
                  <a:srgbClr val="65A5FF"/>
                </a:solidFill>
                <a:latin typeface="Arial"/>
                <a:ea typeface="Arial"/>
                <a:cs typeface="Arial"/>
              </a:defRPr>
            </a:pPr>
            <a:r>
              <a:rPr sz="1000" b="1">
                <a:solidFill>
                  <a:srgbClr val="65A5FF"/>
                </a:solidFill>
                <a:latin typeface="Arial"/>
                <a:ea typeface="Arial"/>
                <a:cs typeface="Arial"/>
              </a:rPr>
              <a:t>TOUCH TEST</a:t>
            </a:r>
          </a:p>
        </p:txBody>
      </p:sp>
      <p:sp>
        <p:nvSpPr>
          <p:cNvPr id="16" name="">
            <a:extLst xmlns:a="http://schemas.openxmlformats.org/drawingml/2006/main">
              <a:ext uri="{FF2B5EF4-FFF2-40B4-BE49-F238E27FC236}">
                <a16:creationId xmlns:a16="http://schemas.microsoft.com/office/drawing/2014/main" id="{458CC717-D1E0-423D-B203-0C148CFF01DF}"/>
              </a:ext>
            </a:extLst>
          </p:cNvPr>
          <p:cNvSpPr>
            <a:spLocks xmlns:a="http://schemas.openxmlformats.org/drawingml/2006/main" noGrp="1"/>
          </p:cNvSpPr>
          <p:nvPr/>
        </p:nvSpPr>
        <p:spPr>
          <a:xfrm xmlns:a="http://schemas.openxmlformats.org/drawingml/2006/main">
            <a:off x="6337300" y="6388100"/>
            <a:ext cx="5397500" cy="199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0">
                <a:solidFill>
                  <a:srgbClr val="F6F8FC"/>
                </a:solidFill>
                <a:latin typeface="Arial"/>
                <a:ea typeface="Arial"/>
                <a:cs typeface="Arial"/>
              </a:defRPr>
            </a:defPPr>
            <a:lvl1pPr>
              <a:buNone/>
              <a:defRPr sz="900" b="0">
                <a:solidFill>
                  <a:srgbClr val="F6F8FC"/>
                </a:solidFill>
                <a:latin typeface="Arial"/>
                <a:ea typeface="Arial"/>
                <a:cs typeface="Arial"/>
              </a:defRPr>
            </a:lvl1pPr>
            <a:lvl2pPr>
              <a:buNone/>
              <a:defRPr sz="900" b="0">
                <a:solidFill>
                  <a:srgbClr val="F6F8FC"/>
                </a:solidFill>
                <a:latin typeface="Arial"/>
                <a:ea typeface="Arial"/>
                <a:cs typeface="Arial"/>
              </a:defRPr>
            </a:lvl2pPr>
            <a:lvl3pPr>
              <a:buNone/>
              <a:defRPr sz="900" b="0">
                <a:solidFill>
                  <a:srgbClr val="F6F8FC"/>
                </a:solidFill>
                <a:latin typeface="Arial"/>
                <a:ea typeface="Arial"/>
                <a:cs typeface="Arial"/>
              </a:defRPr>
            </a:lvl3pPr>
            <a:lvl4pPr>
              <a:buNone/>
              <a:defRPr sz="900" b="0">
                <a:solidFill>
                  <a:srgbClr val="F6F8FC"/>
                </a:solidFill>
                <a:latin typeface="Arial"/>
                <a:ea typeface="Arial"/>
                <a:cs typeface="Arial"/>
              </a:defRPr>
            </a:lvl4pPr>
            <a:lvl5pPr>
              <a:buNone/>
              <a:defRPr sz="900" b="0">
                <a:solidFill>
                  <a:srgbClr val="F6F8FC"/>
                </a:solidFill>
                <a:latin typeface="Arial"/>
                <a:ea typeface="Arial"/>
                <a:cs typeface="Arial"/>
              </a:defRPr>
            </a:lvl5pPr>
            <a:lvl6pPr>
              <a:buNone/>
              <a:defRPr sz="900" b="0">
                <a:solidFill>
                  <a:srgbClr val="F6F8FC"/>
                </a:solidFill>
                <a:latin typeface="Arial"/>
                <a:ea typeface="Arial"/>
                <a:cs typeface="Arial"/>
              </a:defRPr>
            </a:lvl6pPr>
            <a:lvl7pPr>
              <a:buNone/>
              <a:defRPr sz="900" b="0">
                <a:solidFill>
                  <a:srgbClr val="F6F8FC"/>
                </a:solidFill>
                <a:latin typeface="Arial"/>
                <a:ea typeface="Arial"/>
                <a:cs typeface="Arial"/>
              </a:defRPr>
            </a:lvl7pPr>
            <a:lvl8pPr>
              <a:buNone/>
              <a:defRPr sz="900" b="0">
                <a:solidFill>
                  <a:srgbClr val="F6F8FC"/>
                </a:solidFill>
                <a:latin typeface="Arial"/>
                <a:ea typeface="Arial"/>
                <a:cs typeface="Arial"/>
              </a:defRPr>
            </a:lvl8pPr>
            <a:lvl9pPr>
              <a:buNone/>
              <a:defRPr sz="900" b="0">
                <a:solidFill>
                  <a:srgbClr val="F6F8FC"/>
                </a:solidFill>
                <a:latin typeface="Arial"/>
                <a:ea typeface="Arial"/>
                <a:cs typeface="Arial"/>
              </a:defRPr>
            </a:lvl9pPr>
          </a:lstStyle>
          <a:p xmlns:a="http://schemas.openxmlformats.org/drawingml/2006/main">
            <a:pPr>
              <a:buNone/>
              <a:defRPr sz="900" b="0">
                <a:solidFill>
                  <a:srgbClr val="F6F8FC"/>
                </a:solidFill>
                <a:latin typeface="Arial"/>
                <a:ea typeface="Arial"/>
                <a:cs typeface="Arial"/>
              </a:defRPr>
            </a:pPr>
            <a:r>
              <a:rPr sz="900" b="0">
                <a:solidFill>
                  <a:srgbClr val="F6F8FC"/>
                </a:solidFill>
                <a:latin typeface="Arial"/>
                <a:ea typeface="Arial"/>
                <a:cs typeface="Arial"/>
              </a:rPr>
              <a:t>Check response at different screen positions.</a:t>
            </a:r>
          </a:p>
        </p:txBody>
      </p:sp>
    </p:spTree>
    <p:extLst>
      <p:ext uri="{BB962C8B-B14F-4D97-AF65-F5344CB8AC3E}">
        <p14:creationId xmlns:p14="http://schemas.microsoft.com/office/powerpoint/2010/main" val="555366358"/>
      </p:ext>
    </p:extLst>
  </p:cSld>
</p:sld>
</file>

<file path=ppt/slides/slide36.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3F19A6-D9C5-4B90-B543-B82A852767C4}"/>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GUARDIAN INTERFACE</a:t>
            </a:r>
          </a:p>
        </p:txBody>
      </p:sp>
      <p:sp>
        <p:nvSpPr>
          <p:cNvPr id="2" name="">
            <a:extLst xmlns:a="http://schemas.openxmlformats.org/drawingml/2006/main">
              <a:ext uri="{FF2B5EF4-FFF2-40B4-BE49-F238E27FC236}">
                <a16:creationId xmlns:a16="http://schemas.microsoft.com/office/drawing/2014/main" id="{DD255D38-E730-4011-A7ED-025B736A525B}"/>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Adjusting thresholds quickly</a:t>
            </a:r>
          </a:p>
        </p:txBody>
      </p:sp>
      <p:sp>
        <p:nvSpPr>
          <p:cNvPr id="3" name="">
            <a:extLst xmlns:a="http://schemas.openxmlformats.org/drawingml/2006/main">
              <a:ext uri="{FF2B5EF4-FFF2-40B4-BE49-F238E27FC236}">
                <a16:creationId xmlns:a16="http://schemas.microsoft.com/office/drawing/2014/main" id="{70E71690-F124-4505-9D7D-5D5A404FD0E1}"/>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9424158C-A960-4680-AE76-C92B6BE923B1}"/>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36</a:t>
            </a:r>
          </a:p>
        </p:txBody>
      </p:sp>
      <p:pic>
        <p:nvPicPr>
          <p:cNvPr id="5" name="">
            <a:extLst xmlns:a="http://schemas.openxmlformats.org/drawingml/2006/main">
              <a:ext uri="{FF2B5EF4-FFF2-40B4-BE49-F238E27FC236}">
                <a16:creationId xmlns:a16="http://schemas.microsoft.com/office/drawing/2014/main" id="{B4CF395A-4D52-427F-93D0-8AD4D5D0C299}"/>
              </a:ext>
            </a:extLst>
          </p:cNvPr>
          <p:cNvPicPr>
            <a:picLocks xmlns:a="http://schemas.openxmlformats.org/drawingml/2006/main" noChangeAspect="1"/>
          </p:cNvPicPr>
          <p:nvPr/>
        </p:nvPicPr>
        <p:blipFill>
          <a:blip xmlns:r="http://schemas.openxmlformats.org/officeDocument/2006/relationships" xmlns:a="http://schemas.openxmlformats.org/drawingml/2006/main" r:embed="Redee368f1f58498a"/>
          <a:stretch xmlns:a="http://schemas.openxmlformats.org/drawingml/2006/main"/>
        </p:blipFill>
        <p:spPr>
          <a:xfrm xmlns:a="http://schemas.openxmlformats.org/drawingml/2006/main">
            <a:off x="1142657" y="1435100"/>
            <a:ext cx="5652185" cy="4445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A45FB12-71F9-4F30-8EFB-109E3356A603}"/>
              </a:ext>
            </a:extLst>
          </p:cNvPr>
          <p:cNvSpPr>
            <a:spLocks xmlns:a="http://schemas.openxmlformats.org/drawingml/2006/main" noGrp="1"/>
          </p:cNvSpPr>
          <p:nvPr/>
        </p:nvSpPr>
        <p:spPr>
          <a:xfrm xmlns:a="http://schemas.openxmlformats.org/drawingml/2006/main">
            <a:off x="7950200" y="157480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Small or large steps</a:t>
            </a:r>
          </a:p>
        </p:txBody>
      </p:sp>
      <p:sp>
        <p:nvSpPr>
          <p:cNvPr id="7" name="">
            <a:extLst xmlns:a="http://schemas.openxmlformats.org/drawingml/2006/main">
              <a:ext uri="{FF2B5EF4-FFF2-40B4-BE49-F238E27FC236}">
                <a16:creationId xmlns:a16="http://schemas.microsoft.com/office/drawing/2014/main" id="{70E5EAFB-EFD3-4C66-A995-696842880CC0}"/>
              </a:ext>
            </a:extLst>
          </p:cNvPr>
          <p:cNvSpPr>
            <a:spLocks xmlns:a="http://schemas.openxmlformats.org/drawingml/2006/main" noGrp="1"/>
          </p:cNvSpPr>
          <p:nvPr/>
        </p:nvSpPr>
        <p:spPr>
          <a:xfrm xmlns:a="http://schemas.openxmlformats.org/drawingml/2006/main">
            <a:off x="7950200" y="191960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±1, ±10 and ±100 buttons: increase by 100 with</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one tap on +100.</a:t>
            </a:r>
          </a:p>
        </p:txBody>
      </p:sp>
      <p:sp>
        <p:nvSpPr>
          <p:cNvPr id="8" name="">
            <a:extLst xmlns:a="http://schemas.openxmlformats.org/drawingml/2006/main">
              <a:ext uri="{FF2B5EF4-FFF2-40B4-BE49-F238E27FC236}">
                <a16:creationId xmlns:a16="http://schemas.microsoft.com/office/drawing/2014/main" id="{D345E3D0-D254-4C0E-9763-E7A5A86FF0BB}"/>
              </a:ext>
            </a:extLst>
          </p:cNvPr>
          <p:cNvSpPr>
            <a:spLocks xmlns:a="http://schemas.openxmlformats.org/drawingml/2006/main" noGrp="1"/>
          </p:cNvSpPr>
          <p:nvPr/>
        </p:nvSpPr>
        <p:spPr>
          <a:xfrm xmlns:a="http://schemas.openxmlformats.org/drawingml/2006/main">
            <a:off x="7950200" y="2593975"/>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Press and hold</a:t>
            </a:r>
          </a:p>
        </p:txBody>
      </p:sp>
      <p:sp>
        <p:nvSpPr>
          <p:cNvPr id="9" name="">
            <a:extLst xmlns:a="http://schemas.openxmlformats.org/drawingml/2006/main">
              <a:ext uri="{FF2B5EF4-FFF2-40B4-BE49-F238E27FC236}">
                <a16:creationId xmlns:a16="http://schemas.microsoft.com/office/drawing/2014/main" id="{789F0379-3F94-44A4-9913-FF2B37846D3F}"/>
              </a:ext>
            </a:extLst>
          </p:cNvPr>
          <p:cNvSpPr>
            <a:spLocks xmlns:a="http://schemas.openxmlformats.org/drawingml/2006/main" noGrp="1"/>
          </p:cNvSpPr>
          <p:nvPr/>
        </p:nvSpPr>
        <p:spPr>
          <a:xfrm xmlns:a="http://schemas.openxmlformats.org/drawingml/2006/main">
            <a:off x="7950200" y="2938780"/>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Repeats the change; holding ±1 accelerates the</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step.</a:t>
            </a:r>
          </a:p>
        </p:txBody>
      </p:sp>
      <p:sp>
        <p:nvSpPr>
          <p:cNvPr id="10" name="">
            <a:extLst xmlns:a="http://schemas.openxmlformats.org/drawingml/2006/main">
              <a:ext uri="{FF2B5EF4-FFF2-40B4-BE49-F238E27FC236}">
                <a16:creationId xmlns:a16="http://schemas.microsoft.com/office/drawing/2014/main" id="{BA3C216D-33F1-4DB9-9DCE-8BC482279885}"/>
              </a:ext>
            </a:extLst>
          </p:cNvPr>
          <p:cNvSpPr>
            <a:spLocks xmlns:a="http://schemas.openxmlformats.org/drawingml/2006/main" noGrp="1"/>
          </p:cNvSpPr>
          <p:nvPr/>
        </p:nvSpPr>
        <p:spPr>
          <a:xfrm xmlns:a="http://schemas.openxmlformats.org/drawingml/2006/main">
            <a:off x="7950200" y="3613150"/>
            <a:ext cx="3784600" cy="3067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50" b="1">
                <a:solidFill>
                  <a:srgbClr val="65A5FF"/>
                </a:solidFill>
                <a:latin typeface="Arial"/>
                <a:ea typeface="Arial"/>
                <a:cs typeface="Arial"/>
              </a:defRPr>
            </a:defPPr>
            <a:lvl1pPr>
              <a:buNone/>
              <a:defRPr sz="1550" b="1">
                <a:solidFill>
                  <a:srgbClr val="65A5FF"/>
                </a:solidFill>
                <a:latin typeface="Arial"/>
                <a:ea typeface="Arial"/>
                <a:cs typeface="Arial"/>
              </a:defRPr>
            </a:lvl1pPr>
            <a:lvl2pPr>
              <a:buNone/>
              <a:defRPr sz="1550" b="1">
                <a:solidFill>
                  <a:srgbClr val="65A5FF"/>
                </a:solidFill>
                <a:latin typeface="Arial"/>
                <a:ea typeface="Arial"/>
                <a:cs typeface="Arial"/>
              </a:defRPr>
            </a:lvl2pPr>
            <a:lvl3pPr>
              <a:buNone/>
              <a:defRPr sz="1550" b="1">
                <a:solidFill>
                  <a:srgbClr val="65A5FF"/>
                </a:solidFill>
                <a:latin typeface="Arial"/>
                <a:ea typeface="Arial"/>
                <a:cs typeface="Arial"/>
              </a:defRPr>
            </a:lvl3pPr>
            <a:lvl4pPr>
              <a:buNone/>
              <a:defRPr sz="1550" b="1">
                <a:solidFill>
                  <a:srgbClr val="65A5FF"/>
                </a:solidFill>
                <a:latin typeface="Arial"/>
                <a:ea typeface="Arial"/>
                <a:cs typeface="Arial"/>
              </a:defRPr>
            </a:lvl4pPr>
            <a:lvl5pPr>
              <a:buNone/>
              <a:defRPr sz="1550" b="1">
                <a:solidFill>
                  <a:srgbClr val="65A5FF"/>
                </a:solidFill>
                <a:latin typeface="Arial"/>
                <a:ea typeface="Arial"/>
                <a:cs typeface="Arial"/>
              </a:defRPr>
            </a:lvl5pPr>
            <a:lvl6pPr>
              <a:buNone/>
              <a:defRPr sz="1550" b="1">
                <a:solidFill>
                  <a:srgbClr val="65A5FF"/>
                </a:solidFill>
                <a:latin typeface="Arial"/>
                <a:ea typeface="Arial"/>
                <a:cs typeface="Arial"/>
              </a:defRPr>
            </a:lvl6pPr>
            <a:lvl7pPr>
              <a:buNone/>
              <a:defRPr sz="1550" b="1">
                <a:solidFill>
                  <a:srgbClr val="65A5FF"/>
                </a:solidFill>
                <a:latin typeface="Arial"/>
                <a:ea typeface="Arial"/>
                <a:cs typeface="Arial"/>
              </a:defRPr>
            </a:lvl7pPr>
            <a:lvl8pPr>
              <a:buNone/>
              <a:defRPr sz="1550" b="1">
                <a:solidFill>
                  <a:srgbClr val="65A5FF"/>
                </a:solidFill>
                <a:latin typeface="Arial"/>
                <a:ea typeface="Arial"/>
                <a:cs typeface="Arial"/>
              </a:defRPr>
            </a:lvl8pPr>
            <a:lvl9pPr>
              <a:buNone/>
              <a:defRPr sz="1550" b="1">
                <a:solidFill>
                  <a:srgbClr val="65A5FF"/>
                </a:solidFill>
                <a:latin typeface="Arial"/>
                <a:ea typeface="Arial"/>
                <a:cs typeface="Arial"/>
              </a:defRPr>
            </a:lvl9pPr>
          </a:lstStyle>
          <a:p xmlns:a="http://schemas.openxmlformats.org/drawingml/2006/main">
            <a:pPr>
              <a:buNone/>
              <a:defRPr sz="1550" b="1">
                <a:solidFill>
                  <a:srgbClr val="65A5FF"/>
                </a:solidFill>
                <a:latin typeface="Arial"/>
                <a:ea typeface="Arial"/>
                <a:cs typeface="Arial"/>
              </a:defRPr>
            </a:pPr>
            <a:r>
              <a:rPr sz="1550" b="1">
                <a:solidFill>
                  <a:srgbClr val="65A5FF"/>
                </a:solidFill>
                <a:latin typeface="Arial"/>
                <a:ea typeface="Arial"/>
                <a:cs typeface="Arial"/>
              </a:rPr>
              <a:t>Apply and retain</a:t>
            </a:r>
          </a:p>
        </p:txBody>
      </p:sp>
      <p:sp>
        <p:nvSpPr>
          <p:cNvPr id="11" name="">
            <a:extLst xmlns:a="http://schemas.openxmlformats.org/drawingml/2006/main">
              <a:ext uri="{FF2B5EF4-FFF2-40B4-BE49-F238E27FC236}">
                <a16:creationId xmlns:a16="http://schemas.microsoft.com/office/drawing/2014/main" id="{FF80F615-29A2-41CC-8905-9F6E74190C53}"/>
              </a:ext>
            </a:extLst>
          </p:cNvPr>
          <p:cNvSpPr>
            <a:spLocks xmlns:a="http://schemas.openxmlformats.org/drawingml/2006/main" noGrp="1"/>
          </p:cNvSpPr>
          <p:nvPr/>
        </p:nvSpPr>
        <p:spPr>
          <a:xfrm xmlns:a="http://schemas.openxmlformats.org/drawingml/2006/main">
            <a:off x="7950200" y="3957955"/>
            <a:ext cx="3784600" cy="4965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350" b="0">
                <a:solidFill>
                  <a:srgbClr val="F6F8FC"/>
                </a:solidFill>
                <a:latin typeface="Arial"/>
                <a:ea typeface="Arial"/>
                <a:cs typeface="Arial"/>
              </a:defRPr>
            </a:defPPr>
            <a:lvl1pPr>
              <a:buNone/>
              <a:defRPr sz="1350" b="0">
                <a:solidFill>
                  <a:srgbClr val="F6F8FC"/>
                </a:solidFill>
                <a:latin typeface="Arial"/>
                <a:ea typeface="Arial"/>
                <a:cs typeface="Arial"/>
              </a:defRPr>
            </a:lvl1pPr>
            <a:lvl2pPr>
              <a:buNone/>
              <a:defRPr sz="1350" b="0">
                <a:solidFill>
                  <a:srgbClr val="F6F8FC"/>
                </a:solidFill>
                <a:latin typeface="Arial"/>
                <a:ea typeface="Arial"/>
                <a:cs typeface="Arial"/>
              </a:defRPr>
            </a:lvl2pPr>
            <a:lvl3pPr>
              <a:buNone/>
              <a:defRPr sz="1350" b="0">
                <a:solidFill>
                  <a:srgbClr val="F6F8FC"/>
                </a:solidFill>
                <a:latin typeface="Arial"/>
                <a:ea typeface="Arial"/>
                <a:cs typeface="Arial"/>
              </a:defRPr>
            </a:lvl3pPr>
            <a:lvl4pPr>
              <a:buNone/>
              <a:defRPr sz="1350" b="0">
                <a:solidFill>
                  <a:srgbClr val="F6F8FC"/>
                </a:solidFill>
                <a:latin typeface="Arial"/>
                <a:ea typeface="Arial"/>
                <a:cs typeface="Arial"/>
              </a:defRPr>
            </a:lvl4pPr>
            <a:lvl5pPr>
              <a:buNone/>
              <a:defRPr sz="1350" b="0">
                <a:solidFill>
                  <a:srgbClr val="F6F8FC"/>
                </a:solidFill>
                <a:latin typeface="Arial"/>
                <a:ea typeface="Arial"/>
                <a:cs typeface="Arial"/>
              </a:defRPr>
            </a:lvl5pPr>
            <a:lvl6pPr>
              <a:buNone/>
              <a:defRPr sz="1350" b="0">
                <a:solidFill>
                  <a:srgbClr val="F6F8FC"/>
                </a:solidFill>
                <a:latin typeface="Arial"/>
                <a:ea typeface="Arial"/>
                <a:cs typeface="Arial"/>
              </a:defRPr>
            </a:lvl6pPr>
            <a:lvl7pPr>
              <a:buNone/>
              <a:defRPr sz="1350" b="0">
                <a:solidFill>
                  <a:srgbClr val="F6F8FC"/>
                </a:solidFill>
                <a:latin typeface="Arial"/>
                <a:ea typeface="Arial"/>
                <a:cs typeface="Arial"/>
              </a:defRPr>
            </a:lvl7pPr>
            <a:lvl8pPr>
              <a:buNone/>
              <a:defRPr sz="1350" b="0">
                <a:solidFill>
                  <a:srgbClr val="F6F8FC"/>
                </a:solidFill>
                <a:latin typeface="Arial"/>
                <a:ea typeface="Arial"/>
                <a:cs typeface="Arial"/>
              </a:defRPr>
            </a:lvl8pPr>
            <a:lvl9pPr>
              <a:buNone/>
              <a:defRPr sz="1350" b="0">
                <a:solidFill>
                  <a:srgbClr val="F6F8FC"/>
                </a:solidFill>
                <a:latin typeface="Arial"/>
                <a:ea typeface="Arial"/>
                <a:cs typeface="Arial"/>
              </a:defRPr>
            </a:lvl9pPr>
          </a:lstStyle>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Check the command result. In the browser, enter</a:t>
            </a:r>
          </a:p>
          <a:p xmlns:a="http://schemas.openxmlformats.org/drawingml/2006/main">
            <a:pPr>
              <a:buNone/>
              <a:defRPr sz="1350" b="0">
                <a:solidFill>
                  <a:srgbClr val="F6F8FC"/>
                </a:solidFill>
                <a:latin typeface="Arial"/>
                <a:ea typeface="Arial"/>
                <a:cs typeface="Arial"/>
              </a:defRPr>
            </a:pPr>
            <a:r>
              <a:rPr sz="1350" b="0">
                <a:solidFill>
                  <a:srgbClr val="F6F8FC"/>
                </a:solidFill>
                <a:latin typeface="Arial"/>
                <a:ea typeface="Arial"/>
                <a:cs typeface="Arial"/>
              </a:rPr>
              <a:t>the value directly.</a:t>
            </a:r>
          </a:p>
        </p:txBody>
      </p:sp>
      <p:sp>
        <p:nvSpPr>
          <p:cNvPr id="12" name="">
            <a:extLst xmlns:a="http://schemas.openxmlformats.org/drawingml/2006/main">
              <a:ext uri="{FF2B5EF4-FFF2-40B4-BE49-F238E27FC236}">
                <a16:creationId xmlns:a16="http://schemas.microsoft.com/office/drawing/2014/main" id="{239BBAF5-D27A-4F3E-A38F-EF148EB0EF5B}"/>
              </a:ext>
            </a:extLst>
          </p:cNvPr>
          <p:cNvSpPr>
            <a:spLocks xmlns:a="http://schemas.openxmlformats.org/drawingml/2006/main" noGrp="1"/>
          </p:cNvSpPr>
          <p:nvPr/>
        </p:nvSpPr>
        <p:spPr>
          <a:xfrm xmlns:a="http://schemas.openxmlformats.org/drawingml/2006/main">
            <a:off x="457200" y="63754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Personal operating thresholds are not certified health limits.</a:t>
            </a:r>
          </a:p>
        </p:txBody>
      </p:sp>
    </p:spTree>
    <p:extLst>
      <p:ext uri="{BB962C8B-B14F-4D97-AF65-F5344CB8AC3E}">
        <p14:creationId xmlns:p14="http://schemas.microsoft.com/office/powerpoint/2010/main" val="357669432"/>
      </p:ext>
    </p:extLst>
  </p:cSld>
</p:sld>
</file>

<file path=ppt/slides/slide37.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CEFD59-A7C0-4D8F-BD43-4C2AB5B8890C}"/>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EVERYDAY USE</a:t>
            </a:r>
          </a:p>
        </p:txBody>
      </p:sp>
      <p:sp>
        <p:nvSpPr>
          <p:cNvPr id="2" name="">
            <a:extLst xmlns:a="http://schemas.openxmlformats.org/drawingml/2006/main">
              <a:ext uri="{FF2B5EF4-FFF2-40B4-BE49-F238E27FC236}">
                <a16:creationId xmlns:a16="http://schemas.microsoft.com/office/drawing/2014/main" id="{8E1551CD-21C6-42B6-A4D3-3C4CB12E4FEE}"/>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Display and browser</a:t>
            </a:r>
          </a:p>
        </p:txBody>
      </p:sp>
      <p:sp>
        <p:nvSpPr>
          <p:cNvPr id="3" name="">
            <a:extLst xmlns:a="http://schemas.openxmlformats.org/drawingml/2006/main">
              <a:ext uri="{FF2B5EF4-FFF2-40B4-BE49-F238E27FC236}">
                <a16:creationId xmlns:a16="http://schemas.microsoft.com/office/drawing/2014/main" id="{BA5BBC1C-0C75-4E98-8199-C1309C2BE59F}"/>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A15EDBA1-3E6A-4698-B9C3-B7B728E7DD9F}"/>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C4C6DD16-AA21-44BD-BB05-B1861D7FBD39}"/>
              </a:ext>
            </a:extLst>
          </p:cNvPr>
          <p:cNvSpPr>
            <a:spLocks xmlns:a="http://schemas.openxmlformats.org/drawingml/2006/main" noGrp="1"/>
          </p:cNvSpPr>
          <p:nvPr/>
        </p:nvSpPr>
        <p:spPr>
          <a:xfrm xmlns:a="http://schemas.openxmlformats.org/drawingml/2006/main">
            <a:off x="457200" y="16510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An organised sequence</a:t>
            </a:r>
          </a:p>
        </p:txBody>
      </p:sp>
      <p:sp>
        <p:nvSpPr>
          <p:cNvPr id="6" name="">
            <a:extLst xmlns:a="http://schemas.openxmlformats.org/drawingml/2006/main">
              <a:ext uri="{FF2B5EF4-FFF2-40B4-BE49-F238E27FC236}">
                <a16:creationId xmlns:a16="http://schemas.microsoft.com/office/drawing/2014/main" id="{CAEDC2D4-F5E8-4A50-A340-109C3198DB18}"/>
              </a:ext>
            </a:extLst>
          </p:cNvPr>
          <p:cNvSpPr>
            <a:spLocks xmlns:a="http://schemas.openxmlformats.org/drawingml/2006/main" noGrp="1"/>
          </p:cNvSpPr>
          <p:nvPr/>
        </p:nvSpPr>
        <p:spPr>
          <a:xfrm xmlns:a="http://schemas.openxmlformats.org/drawingml/2006/main">
            <a:off x="457200" y="200406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ENVIRONMENTAL TRENDS → ENVIRONMENTAL AVERAGES; PRINT ANALYSIS → 3D PRINTING on PC and smartphone pages.</a:t>
            </a:r>
          </a:p>
        </p:txBody>
      </p:sp>
      <p:sp>
        <p:nvSpPr>
          <p:cNvPr id="7" name="">
            <a:extLst xmlns:a="http://schemas.openxmlformats.org/drawingml/2006/main">
              <a:ext uri="{FF2B5EF4-FFF2-40B4-BE49-F238E27FC236}">
                <a16:creationId xmlns:a16="http://schemas.microsoft.com/office/drawing/2014/main" id="{5173F912-757A-476A-B990-CBD0A23F818C}"/>
              </a:ext>
            </a:extLst>
          </p:cNvPr>
          <p:cNvSpPr>
            <a:spLocks xmlns:a="http://schemas.openxmlformats.org/drawingml/2006/main" noGrp="1"/>
          </p:cNvSpPr>
          <p:nvPr/>
        </p:nvSpPr>
        <p:spPr>
          <a:xfrm xmlns:a="http://schemas.openxmlformats.org/drawingml/2006/main">
            <a:off x="457200" y="24638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Readable job names</a:t>
            </a:r>
          </a:p>
        </p:txBody>
      </p:sp>
      <p:sp>
        <p:nvSpPr>
          <p:cNvPr id="8" name="">
            <a:extLst xmlns:a="http://schemas.openxmlformats.org/drawingml/2006/main">
              <a:ext uri="{FF2B5EF4-FFF2-40B4-BE49-F238E27FC236}">
                <a16:creationId xmlns:a16="http://schemas.microsoft.com/office/drawing/2014/main" id="{A94AF713-315E-4321-A695-9A3DED2410C5}"/>
              </a:ext>
            </a:extLst>
          </p:cNvPr>
          <p:cNvSpPr>
            <a:spLocks xmlns:a="http://schemas.openxmlformats.org/drawingml/2006/main" noGrp="1"/>
          </p:cNvSpPr>
          <p:nvPr/>
        </p:nvSpPr>
        <p:spPr>
          <a:xfrm xmlns:a="http://schemas.openxmlformats.org/drawingml/2006/main">
            <a:off x="457200" y="281686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“tappo in tpu + tappo in tpu” appears as “tappo in tpu”. Different names remain visible. The original print file is not renamed.</a:t>
            </a:r>
          </a:p>
        </p:txBody>
      </p:sp>
      <p:sp>
        <p:nvSpPr>
          <p:cNvPr id="9" name="">
            <a:extLst xmlns:a="http://schemas.openxmlformats.org/drawingml/2006/main">
              <a:ext uri="{FF2B5EF4-FFF2-40B4-BE49-F238E27FC236}">
                <a16:creationId xmlns:a16="http://schemas.microsoft.com/office/drawing/2014/main" id="{72597A50-BE43-4B5E-B79D-4BD313C55979}"/>
              </a:ext>
            </a:extLst>
          </p:cNvPr>
          <p:cNvSpPr>
            <a:spLocks xmlns:a="http://schemas.openxmlformats.org/drawingml/2006/main" noGrp="1"/>
          </p:cNvSpPr>
          <p:nvPr/>
        </p:nvSpPr>
        <p:spPr>
          <a:xfrm xmlns:a="http://schemas.openxmlformats.org/drawingml/2006/main">
            <a:off x="457200" y="32766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MAINTENANCE</a:t>
            </a:r>
          </a:p>
        </p:txBody>
      </p:sp>
      <p:sp>
        <p:nvSpPr>
          <p:cNvPr id="10" name="">
            <a:extLst xmlns:a="http://schemas.openxmlformats.org/drawingml/2006/main">
              <a:ext uri="{FF2B5EF4-FFF2-40B4-BE49-F238E27FC236}">
                <a16:creationId xmlns:a16="http://schemas.microsoft.com/office/drawing/2014/main" id="{20A2EE36-BB9E-4A3D-8026-48D421CD6CD6}"/>
              </a:ext>
            </a:extLst>
          </p:cNvPr>
          <p:cNvSpPr>
            <a:spLocks xmlns:a="http://schemas.openxmlformats.org/drawingml/2006/main" noGrp="1"/>
          </p:cNvSpPr>
          <p:nvPr/>
        </p:nvSpPr>
        <p:spPr>
          <a:xfrm xmlns:a="http://schemas.openxmlformats.org/drawingml/2006/main">
            <a:off x="457200" y="3629660"/>
            <a:ext cx="1127760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The menu uses the full label. CO2 preparation, calibration and cleaning remain separate procedures.</a:t>
            </a:r>
          </a:p>
        </p:txBody>
      </p:sp>
      <p:sp>
        <p:nvSpPr>
          <p:cNvPr id="11" name="">
            <a:extLst xmlns:a="http://schemas.openxmlformats.org/drawingml/2006/main">
              <a:ext uri="{FF2B5EF4-FFF2-40B4-BE49-F238E27FC236}">
                <a16:creationId xmlns:a16="http://schemas.microsoft.com/office/drawing/2014/main" id="{E1BFE5B8-DE37-47E0-9345-9011BEBB603E}"/>
              </a:ext>
            </a:extLst>
          </p:cNvPr>
          <p:cNvSpPr>
            <a:spLocks xmlns:a="http://schemas.openxmlformats.org/drawingml/2006/main" noGrp="1"/>
          </p:cNvSpPr>
          <p:nvPr/>
        </p:nvSpPr>
        <p:spPr>
          <a:xfrm xmlns:a="http://schemas.openxmlformats.org/drawingml/2006/main">
            <a:off x="457200" y="4089400"/>
            <a:ext cx="11277600" cy="314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600" b="1">
                <a:solidFill>
                  <a:srgbClr val="65A5FF"/>
                </a:solidFill>
                <a:latin typeface="Arial"/>
                <a:ea typeface="Arial"/>
                <a:cs typeface="Arial"/>
              </a:defRPr>
            </a:defPPr>
            <a:lvl1pPr>
              <a:buNone/>
              <a:defRPr sz="1600" b="1">
                <a:solidFill>
                  <a:srgbClr val="65A5FF"/>
                </a:solidFill>
                <a:latin typeface="Arial"/>
                <a:ea typeface="Arial"/>
                <a:cs typeface="Arial"/>
              </a:defRPr>
            </a:lvl1pPr>
            <a:lvl2pPr>
              <a:buNone/>
              <a:defRPr sz="1600" b="1">
                <a:solidFill>
                  <a:srgbClr val="65A5FF"/>
                </a:solidFill>
                <a:latin typeface="Arial"/>
                <a:ea typeface="Arial"/>
                <a:cs typeface="Arial"/>
              </a:defRPr>
            </a:lvl2pPr>
            <a:lvl3pPr>
              <a:buNone/>
              <a:defRPr sz="1600" b="1">
                <a:solidFill>
                  <a:srgbClr val="65A5FF"/>
                </a:solidFill>
                <a:latin typeface="Arial"/>
                <a:ea typeface="Arial"/>
                <a:cs typeface="Arial"/>
              </a:defRPr>
            </a:lvl3pPr>
            <a:lvl4pPr>
              <a:buNone/>
              <a:defRPr sz="1600" b="1">
                <a:solidFill>
                  <a:srgbClr val="65A5FF"/>
                </a:solidFill>
                <a:latin typeface="Arial"/>
                <a:ea typeface="Arial"/>
                <a:cs typeface="Arial"/>
              </a:defRPr>
            </a:lvl4pPr>
            <a:lvl5pPr>
              <a:buNone/>
              <a:defRPr sz="1600" b="1">
                <a:solidFill>
                  <a:srgbClr val="65A5FF"/>
                </a:solidFill>
                <a:latin typeface="Arial"/>
                <a:ea typeface="Arial"/>
                <a:cs typeface="Arial"/>
              </a:defRPr>
            </a:lvl5pPr>
            <a:lvl6pPr>
              <a:buNone/>
              <a:defRPr sz="1600" b="1">
                <a:solidFill>
                  <a:srgbClr val="65A5FF"/>
                </a:solidFill>
                <a:latin typeface="Arial"/>
                <a:ea typeface="Arial"/>
                <a:cs typeface="Arial"/>
              </a:defRPr>
            </a:lvl6pPr>
            <a:lvl7pPr>
              <a:buNone/>
              <a:defRPr sz="1600" b="1">
                <a:solidFill>
                  <a:srgbClr val="65A5FF"/>
                </a:solidFill>
                <a:latin typeface="Arial"/>
                <a:ea typeface="Arial"/>
                <a:cs typeface="Arial"/>
              </a:defRPr>
            </a:lvl7pPr>
            <a:lvl8pPr>
              <a:buNone/>
              <a:defRPr sz="1600" b="1">
                <a:solidFill>
                  <a:srgbClr val="65A5FF"/>
                </a:solidFill>
                <a:latin typeface="Arial"/>
                <a:ea typeface="Arial"/>
                <a:cs typeface="Arial"/>
              </a:defRPr>
            </a:lvl8pPr>
            <a:lvl9pPr>
              <a:buNone/>
              <a:defRPr sz="1600" b="1">
                <a:solidFill>
                  <a:srgbClr val="65A5FF"/>
                </a:solidFill>
                <a:latin typeface="Arial"/>
                <a:ea typeface="Arial"/>
                <a:cs typeface="Arial"/>
              </a:defRPr>
            </a:lvl9pPr>
          </a:lstStyle>
          <a:p xmlns:a="http://schemas.openxmlformats.org/drawingml/2006/main">
            <a:pPr>
              <a:buNone/>
              <a:defRPr sz="1600" b="1">
                <a:solidFill>
                  <a:srgbClr val="65A5FF"/>
                </a:solidFill>
                <a:latin typeface="Arial"/>
                <a:ea typeface="Arial"/>
                <a:cs typeface="Arial"/>
              </a:defRPr>
            </a:pPr>
            <a:r>
              <a:rPr sz="1600" b="1">
                <a:solidFill>
                  <a:srgbClr val="65A5FF"/>
                </a:solidFill>
                <a:latin typeface="Arial"/>
                <a:ea typeface="Arial"/>
                <a:cs typeface="Arial"/>
              </a:rPr>
              <a:t>Data and images</a:t>
            </a:r>
          </a:p>
        </p:txBody>
      </p:sp>
      <p:sp>
        <p:nvSpPr>
          <p:cNvPr id="12" name="">
            <a:extLst xmlns:a="http://schemas.openxmlformats.org/drawingml/2006/main">
              <a:ext uri="{FF2B5EF4-FFF2-40B4-BE49-F238E27FC236}">
                <a16:creationId xmlns:a16="http://schemas.microsoft.com/office/drawing/2014/main" id="{CA47CD3A-39B1-4EDD-8BC6-B8C3C77EEB6D}"/>
              </a:ext>
            </a:extLst>
          </p:cNvPr>
          <p:cNvSpPr>
            <a:spLocks xmlns:a="http://schemas.openxmlformats.org/drawingml/2006/main" noGrp="1"/>
          </p:cNvSpPr>
          <p:nvPr/>
        </p:nvSpPr>
        <p:spPr>
          <a:xfrm xmlns:a="http://schemas.openxmlformats.org/drawingml/2006/main">
            <a:off x="457200" y="4442460"/>
            <a:ext cx="11277600" cy="513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00" b="0">
                <a:solidFill>
                  <a:srgbClr val="F6F8FC"/>
                </a:solidFill>
                <a:latin typeface="Arial"/>
                <a:ea typeface="Arial"/>
                <a:cs typeface="Arial"/>
              </a:defRPr>
            </a:defPPr>
            <a:lvl1pPr>
              <a:buNone/>
              <a:defRPr sz="1400" b="0">
                <a:solidFill>
                  <a:srgbClr val="F6F8FC"/>
                </a:solidFill>
                <a:latin typeface="Arial"/>
                <a:ea typeface="Arial"/>
                <a:cs typeface="Arial"/>
              </a:defRPr>
            </a:lvl1pPr>
            <a:lvl2pPr>
              <a:buNone/>
              <a:defRPr sz="1400" b="0">
                <a:solidFill>
                  <a:srgbClr val="F6F8FC"/>
                </a:solidFill>
                <a:latin typeface="Arial"/>
                <a:ea typeface="Arial"/>
                <a:cs typeface="Arial"/>
              </a:defRPr>
            </a:lvl2pPr>
            <a:lvl3pPr>
              <a:buNone/>
              <a:defRPr sz="1400" b="0">
                <a:solidFill>
                  <a:srgbClr val="F6F8FC"/>
                </a:solidFill>
                <a:latin typeface="Arial"/>
                <a:ea typeface="Arial"/>
                <a:cs typeface="Arial"/>
              </a:defRPr>
            </a:lvl3pPr>
            <a:lvl4pPr>
              <a:buNone/>
              <a:defRPr sz="1400" b="0">
                <a:solidFill>
                  <a:srgbClr val="F6F8FC"/>
                </a:solidFill>
                <a:latin typeface="Arial"/>
                <a:ea typeface="Arial"/>
                <a:cs typeface="Arial"/>
              </a:defRPr>
            </a:lvl4pPr>
            <a:lvl5pPr>
              <a:buNone/>
              <a:defRPr sz="1400" b="0">
                <a:solidFill>
                  <a:srgbClr val="F6F8FC"/>
                </a:solidFill>
                <a:latin typeface="Arial"/>
                <a:ea typeface="Arial"/>
                <a:cs typeface="Arial"/>
              </a:defRPr>
            </a:lvl5pPr>
            <a:lvl6pPr>
              <a:buNone/>
              <a:defRPr sz="1400" b="0">
                <a:solidFill>
                  <a:srgbClr val="F6F8FC"/>
                </a:solidFill>
                <a:latin typeface="Arial"/>
                <a:ea typeface="Arial"/>
                <a:cs typeface="Arial"/>
              </a:defRPr>
            </a:lvl6pPr>
            <a:lvl7pPr>
              <a:buNone/>
              <a:defRPr sz="1400" b="0">
                <a:solidFill>
                  <a:srgbClr val="F6F8FC"/>
                </a:solidFill>
                <a:latin typeface="Arial"/>
                <a:ea typeface="Arial"/>
                <a:cs typeface="Arial"/>
              </a:defRPr>
            </a:lvl7pPr>
            <a:lvl8pPr>
              <a:buNone/>
              <a:defRPr sz="1400" b="0">
                <a:solidFill>
                  <a:srgbClr val="F6F8FC"/>
                </a:solidFill>
                <a:latin typeface="Arial"/>
                <a:ea typeface="Arial"/>
                <a:cs typeface="Arial"/>
              </a:defRPr>
            </a:lvl8pPr>
            <a:lvl9pPr>
              <a:buNone/>
              <a:defRPr sz="1400" b="0">
                <a:solidFill>
                  <a:srgbClr val="F6F8FC"/>
                </a:solidFill>
                <a:latin typeface="Arial"/>
                <a:ea typeface="Arial"/>
                <a:cs typeface="Arial"/>
              </a:defRPr>
            </a:lvl9pPr>
          </a:lstStyle>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The model preview is available on the monitor. Screens in this guide are examples; network details, credentials and serial numbers were</a:t>
            </a:r>
          </a:p>
          <a:p xmlns:a="http://schemas.openxmlformats.org/drawingml/2006/main">
            <a:pPr>
              <a:buNone/>
              <a:defRPr sz="1400" b="0">
                <a:solidFill>
                  <a:srgbClr val="F6F8FC"/>
                </a:solidFill>
                <a:latin typeface="Arial"/>
                <a:ea typeface="Arial"/>
                <a:cs typeface="Arial"/>
              </a:defRPr>
            </a:pPr>
            <a:r>
              <a:rPr sz="1400" b="0">
                <a:solidFill>
                  <a:srgbClr val="F6F8FC"/>
                </a:solidFill>
                <a:latin typeface="Arial"/>
                <a:ea typeface="Arial"/>
                <a:cs typeface="Arial"/>
              </a:rPr>
              <a:t>replaced with demonstration values.</a:t>
            </a:r>
          </a:p>
        </p:txBody>
      </p:sp>
    </p:spTree>
    <p:extLst>
      <p:ext uri="{BB962C8B-B14F-4D97-AF65-F5344CB8AC3E}">
        <p14:creationId xmlns:p14="http://schemas.microsoft.com/office/powerpoint/2010/main" val="1663492526"/>
      </p:ext>
    </p:extLst>
  </p:cSld>
</p:sld>
</file>

<file path=ppt/slides/slide38.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864D133-6D54-4F8C-8317-59AE375CDB38}"/>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TRACEABLE SOURCES</a:t>
            </a:r>
          </a:p>
        </p:txBody>
      </p:sp>
      <p:sp>
        <p:nvSpPr>
          <p:cNvPr id="2" name="">
            <a:extLst xmlns:a="http://schemas.openxmlformats.org/drawingml/2006/main">
              <a:ext uri="{FF2B5EF4-FFF2-40B4-BE49-F238E27FC236}">
                <a16:creationId xmlns:a16="http://schemas.microsoft.com/office/drawing/2014/main" id="{D02F67BE-FE2C-4E71-A1C2-78E7D4A75DF4}"/>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Sources and reference documents</a:t>
            </a:r>
          </a:p>
        </p:txBody>
      </p:sp>
      <p:sp>
        <p:nvSpPr>
          <p:cNvPr id="3" name="">
            <a:extLst xmlns:a="http://schemas.openxmlformats.org/drawingml/2006/main">
              <a:ext uri="{FF2B5EF4-FFF2-40B4-BE49-F238E27FC236}">
                <a16:creationId xmlns:a16="http://schemas.microsoft.com/office/drawing/2014/main" id="{CA9326F0-C965-42D5-A929-BF745B2C86B4}"/>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9B347219-6485-4F59-B946-6FEAC8BD2C23}"/>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0C0C5118-1FC8-48F5-935E-9050930BDB9C}"/>
              </a:ext>
            </a:extLst>
          </p:cNvPr>
          <p:cNvSpPr>
            <a:spLocks xmlns:a="http://schemas.openxmlformats.org/drawingml/2006/main" noGrp="1"/>
          </p:cNvSpPr>
          <p:nvPr/>
        </p:nvSpPr>
        <p:spPr>
          <a:xfrm xmlns:a="http://schemas.openxmlformats.org/drawingml/2006/main">
            <a:off x="457200" y="142240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b8beb2bf71114749"/>
              </a:rPr>
              <a:t>S1 · Sensirion — SEN6x datasheet (v1.0, October 2026)</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c7c5ee23e62f4ed0"/>
              </a:rPr>
              <a:t>Open original document</a:t>
            </a:r>
          </a:p>
        </p:txBody>
      </p:sp>
      <p:sp>
        <p:nvSpPr>
          <p:cNvPr id="6" name="">
            <a:extLst xmlns:a="http://schemas.openxmlformats.org/drawingml/2006/main">
              <a:ext uri="{FF2B5EF4-FFF2-40B4-BE49-F238E27FC236}">
                <a16:creationId xmlns:a16="http://schemas.microsoft.com/office/drawing/2014/main" id="{12F3D173-A29A-4D4A-B271-1D7D2B23282B}"/>
              </a:ext>
            </a:extLst>
          </p:cNvPr>
          <p:cNvSpPr>
            <a:spLocks xmlns:a="http://schemas.openxmlformats.org/drawingml/2006/main" noGrp="1"/>
          </p:cNvSpPr>
          <p:nvPr/>
        </p:nvSpPr>
        <p:spPr>
          <a:xfrm xmlns:a="http://schemas.openxmlformats.org/drawingml/2006/main">
            <a:off x="457200" y="197612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8a26ba81eae849ad"/>
              </a:rPr>
              <a:t>S2 · Sensirion — SEN5x / SEN6x factory calibration</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ab07cd82723b465b"/>
              </a:rPr>
              <a:t>Open original document</a:t>
            </a:r>
          </a:p>
        </p:txBody>
      </p:sp>
      <p:sp>
        <p:nvSpPr>
          <p:cNvPr id="7" name="">
            <a:extLst xmlns:a="http://schemas.openxmlformats.org/drawingml/2006/main">
              <a:ext uri="{FF2B5EF4-FFF2-40B4-BE49-F238E27FC236}">
                <a16:creationId xmlns:a16="http://schemas.microsoft.com/office/drawing/2014/main" id="{BA07FEFF-5FBE-46CC-9C56-8AC08BED245B}"/>
              </a:ext>
            </a:extLst>
          </p:cNvPr>
          <p:cNvSpPr>
            <a:spLocks xmlns:a="http://schemas.openxmlformats.org/drawingml/2006/main" noGrp="1"/>
          </p:cNvSpPr>
          <p:nvPr/>
        </p:nvSpPr>
        <p:spPr>
          <a:xfrm xmlns:a="http://schemas.openxmlformats.org/drawingml/2006/main">
            <a:off x="457200" y="252984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2fb136f0018144b4"/>
              </a:rPr>
              <a:t>S3 · Sensirion — SEN6x mechanical integration</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ba1aafb9aa2b43f5"/>
              </a:rPr>
              <a:t>Open original document</a:t>
            </a:r>
          </a:p>
        </p:txBody>
      </p:sp>
      <p:sp>
        <p:nvSpPr>
          <p:cNvPr id="8" name="">
            <a:extLst xmlns:a="http://schemas.openxmlformats.org/drawingml/2006/main">
              <a:ext uri="{FF2B5EF4-FFF2-40B4-BE49-F238E27FC236}">
                <a16:creationId xmlns:a16="http://schemas.microsoft.com/office/drawing/2014/main" id="{C7096AD6-C706-457F-85DA-E0243F507B42}"/>
              </a:ext>
            </a:extLst>
          </p:cNvPr>
          <p:cNvSpPr>
            <a:spLocks xmlns:a="http://schemas.openxmlformats.org/drawingml/2006/main" noGrp="1"/>
          </p:cNvSpPr>
          <p:nvPr/>
        </p:nvSpPr>
        <p:spPr>
          <a:xfrm xmlns:a="http://schemas.openxmlformats.org/drawingml/2006/main">
            <a:off x="457200" y="308356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cc206c9d17c9423e"/>
              </a:rPr>
              <a:t>S4 · Sensirion — specification statement</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b9d1b6554e1a4e25"/>
              </a:rPr>
              <a:t>Open original document</a:t>
            </a:r>
          </a:p>
        </p:txBody>
      </p:sp>
      <p:sp>
        <p:nvSpPr>
          <p:cNvPr id="9" name="">
            <a:extLst xmlns:a="http://schemas.openxmlformats.org/drawingml/2006/main">
              <a:ext uri="{FF2B5EF4-FFF2-40B4-BE49-F238E27FC236}">
                <a16:creationId xmlns:a16="http://schemas.microsoft.com/office/drawing/2014/main" id="{58AE4A36-9775-47F3-A87C-2D0FB23A681B}"/>
              </a:ext>
            </a:extLst>
          </p:cNvPr>
          <p:cNvSpPr>
            <a:spLocks xmlns:a="http://schemas.openxmlformats.org/drawingml/2006/main" noGrp="1"/>
          </p:cNvSpPr>
          <p:nvPr/>
        </p:nvSpPr>
        <p:spPr>
          <a:xfrm xmlns:a="http://schemas.openxmlformats.org/drawingml/2006/main">
            <a:off x="457200" y="363728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974de30250a34acf"/>
              </a:rPr>
              <a:t>S5 · Sensirion — temperature compensation</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62d96b7fa2e249ef"/>
              </a:rPr>
              <a:t>Open original document</a:t>
            </a:r>
          </a:p>
        </p:txBody>
      </p:sp>
      <p:sp>
        <p:nvSpPr>
          <p:cNvPr id="10" name="">
            <a:extLst xmlns:a="http://schemas.openxmlformats.org/drawingml/2006/main">
              <a:ext uri="{FF2B5EF4-FFF2-40B4-BE49-F238E27FC236}">
                <a16:creationId xmlns:a16="http://schemas.microsoft.com/office/drawing/2014/main" id="{C473CBA4-9D30-4139-85CC-C6D110599EE0}"/>
              </a:ext>
            </a:extLst>
          </p:cNvPr>
          <p:cNvSpPr>
            <a:spLocks xmlns:a="http://schemas.openxmlformats.org/drawingml/2006/main" noGrp="1"/>
          </p:cNvSpPr>
          <p:nvPr/>
        </p:nvSpPr>
        <p:spPr>
          <a:xfrm xmlns:a="http://schemas.openxmlformats.org/drawingml/2006/main">
            <a:off x="457200" y="419100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bf116cf5149a438a"/>
              </a:rPr>
              <a:t>S6 · WHO — Global Air Quality Guidelines, 2021</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710f7215f77846b6"/>
              </a:rPr>
              <a:t>Open original document</a:t>
            </a:r>
          </a:p>
        </p:txBody>
      </p:sp>
      <p:sp>
        <p:nvSpPr>
          <p:cNvPr id="11" name="">
            <a:extLst xmlns:a="http://schemas.openxmlformats.org/drawingml/2006/main">
              <a:ext uri="{FF2B5EF4-FFF2-40B4-BE49-F238E27FC236}">
                <a16:creationId xmlns:a16="http://schemas.microsoft.com/office/drawing/2014/main" id="{C07BE33B-8A10-4BF2-9B49-A8ECBBE3B67A}"/>
              </a:ext>
            </a:extLst>
          </p:cNvPr>
          <p:cNvSpPr>
            <a:spLocks xmlns:a="http://schemas.openxmlformats.org/drawingml/2006/main" noGrp="1"/>
          </p:cNvSpPr>
          <p:nvPr/>
        </p:nvSpPr>
        <p:spPr>
          <a:xfrm xmlns:a="http://schemas.openxmlformats.org/drawingml/2006/main">
            <a:off x="457200" y="474472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5fed519249b3497e"/>
              </a:rPr>
              <a:t>S7 · WHO — Indoor Air Quality: selected pollutants, 2010</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b68142b3d0704987"/>
              </a:rPr>
              <a:t>Open original document</a:t>
            </a:r>
          </a:p>
        </p:txBody>
      </p:sp>
      <p:sp>
        <p:nvSpPr>
          <p:cNvPr id="12" name="">
            <a:extLst xmlns:a="http://schemas.openxmlformats.org/drawingml/2006/main">
              <a:ext uri="{FF2B5EF4-FFF2-40B4-BE49-F238E27FC236}">
                <a16:creationId xmlns:a16="http://schemas.microsoft.com/office/drawing/2014/main" id="{D454631B-2228-4357-8AE3-187E89E8B678}"/>
              </a:ext>
            </a:extLst>
          </p:cNvPr>
          <p:cNvSpPr>
            <a:spLocks xmlns:a="http://schemas.openxmlformats.org/drawingml/2006/main" noGrp="1"/>
          </p:cNvSpPr>
          <p:nvPr/>
        </p:nvSpPr>
        <p:spPr>
          <a:xfrm xmlns:a="http://schemas.openxmlformats.org/drawingml/2006/main">
            <a:off x="457200" y="536194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Accessed: 13 October 2026. Component documents do not certify the complete GUARDIAN device. The photographs show example readings, not metrological validation results.</a:t>
            </a:r>
          </a:p>
        </p:txBody>
      </p:sp>
    </p:spTree>
    <p:extLst>
      <p:ext uri="{BB962C8B-B14F-4D97-AF65-F5344CB8AC3E}">
        <p14:creationId xmlns:p14="http://schemas.microsoft.com/office/powerpoint/2010/main" val="137954556"/>
      </p:ext>
    </p:extLst>
  </p:cSld>
</p:sld>
</file>

<file path=ppt/slides/slide39.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C0CC38-8B0B-4877-8583-6C0D07FCBB1B}"/>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TRACEABLE SOURCES</a:t>
            </a:r>
          </a:p>
        </p:txBody>
      </p:sp>
      <p:sp>
        <p:nvSpPr>
          <p:cNvPr id="2" name="">
            <a:extLst xmlns:a="http://schemas.openxmlformats.org/drawingml/2006/main">
              <a:ext uri="{FF2B5EF4-FFF2-40B4-BE49-F238E27FC236}">
                <a16:creationId xmlns:a16="http://schemas.microsoft.com/office/drawing/2014/main" id="{CEA5040C-73A3-4A9F-ACA2-E70F8F0BC156}"/>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Sources and reference documents</a:t>
            </a:r>
          </a:p>
        </p:txBody>
      </p:sp>
      <p:sp>
        <p:nvSpPr>
          <p:cNvPr id="3" name="">
            <a:extLst xmlns:a="http://schemas.openxmlformats.org/drawingml/2006/main">
              <a:ext uri="{FF2B5EF4-FFF2-40B4-BE49-F238E27FC236}">
                <a16:creationId xmlns:a16="http://schemas.microsoft.com/office/drawing/2014/main" id="{1A89AFC8-4296-4B98-8E69-869A6F62E7B9}"/>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E06D6638-C419-4840-A3F5-E864EED26C97}"/>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E9373E54-5910-45A1-8C99-ECF76D9B1718}"/>
              </a:ext>
            </a:extLst>
          </p:cNvPr>
          <p:cNvSpPr>
            <a:spLocks xmlns:a="http://schemas.openxmlformats.org/drawingml/2006/main" noGrp="1"/>
          </p:cNvSpPr>
          <p:nvPr/>
        </p:nvSpPr>
        <p:spPr>
          <a:xfrm xmlns:a="http://schemas.openxmlformats.org/drawingml/2006/main">
            <a:off x="457200" y="142240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259e17d5dc164085"/>
              </a:rPr>
              <a:t>S8 · EPA — research on 3D-printing emissions</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09850b54a9174f54"/>
              </a:rPr>
              <a:t>Open original document</a:t>
            </a:r>
          </a:p>
        </p:txBody>
      </p:sp>
      <p:sp>
        <p:nvSpPr>
          <p:cNvPr id="6" name="">
            <a:extLst xmlns:a="http://schemas.openxmlformats.org/drawingml/2006/main">
              <a:ext uri="{FF2B5EF4-FFF2-40B4-BE49-F238E27FC236}">
                <a16:creationId xmlns:a16="http://schemas.microsoft.com/office/drawing/2014/main" id="{5177C337-9872-4779-9D39-6126CED681C4}"/>
              </a:ext>
            </a:extLst>
          </p:cNvPr>
          <p:cNvSpPr>
            <a:spLocks xmlns:a="http://schemas.openxmlformats.org/drawingml/2006/main" noGrp="1"/>
          </p:cNvSpPr>
          <p:nvPr/>
        </p:nvSpPr>
        <p:spPr>
          <a:xfrm xmlns:a="http://schemas.openxmlformats.org/drawingml/2006/main">
            <a:off x="457200" y="197612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049532d1a4e64e05"/>
              </a:rPr>
              <a:t>S9 · EPA — Air Sensor Toolbox</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9d7069fe150f4e84"/>
              </a:rPr>
              <a:t>Open original document</a:t>
            </a:r>
          </a:p>
        </p:txBody>
      </p:sp>
      <p:sp>
        <p:nvSpPr>
          <p:cNvPr id="7" name="">
            <a:extLst xmlns:a="http://schemas.openxmlformats.org/drawingml/2006/main">
              <a:ext uri="{FF2B5EF4-FFF2-40B4-BE49-F238E27FC236}">
                <a16:creationId xmlns:a16="http://schemas.microsoft.com/office/drawing/2014/main" id="{E4FCF22B-A0E8-4BD2-926A-D8E2EA2949BC}"/>
              </a:ext>
            </a:extLst>
          </p:cNvPr>
          <p:cNvSpPr>
            <a:spLocks xmlns:a="http://schemas.openxmlformats.org/drawingml/2006/main" noGrp="1"/>
          </p:cNvSpPr>
          <p:nvPr/>
        </p:nvSpPr>
        <p:spPr>
          <a:xfrm xmlns:a="http://schemas.openxmlformats.org/drawingml/2006/main">
            <a:off x="457200" y="252984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40463fc530224886"/>
              </a:rPr>
              <a:t>S10 · UBA — CO2 and ventilation</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623a434b86494e76"/>
              </a:rPr>
              <a:t>Open original document</a:t>
            </a:r>
          </a:p>
        </p:txBody>
      </p:sp>
      <p:sp>
        <p:nvSpPr>
          <p:cNvPr id="8" name="">
            <a:extLst xmlns:a="http://schemas.openxmlformats.org/drawingml/2006/main">
              <a:ext uri="{FF2B5EF4-FFF2-40B4-BE49-F238E27FC236}">
                <a16:creationId xmlns:a16="http://schemas.microsoft.com/office/drawing/2014/main" id="{95D8340D-88DD-4540-A36F-B6365F10B8D8}"/>
              </a:ext>
            </a:extLst>
          </p:cNvPr>
          <p:cNvSpPr>
            <a:spLocks xmlns:a="http://schemas.openxmlformats.org/drawingml/2006/main" noGrp="1"/>
          </p:cNvSpPr>
          <p:nvPr/>
        </p:nvSpPr>
        <p:spPr>
          <a:xfrm xmlns:a="http://schemas.openxmlformats.org/drawingml/2006/main">
            <a:off x="457200" y="308356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a7c4cc84d3964725"/>
              </a:rPr>
              <a:t>S11 · Radio Equipment Directive 2014/53/EU</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014750763ee74a32"/>
              </a:rPr>
              <a:t>Open original document</a:t>
            </a:r>
          </a:p>
        </p:txBody>
      </p:sp>
      <p:sp>
        <p:nvSpPr>
          <p:cNvPr id="9" name="">
            <a:extLst xmlns:a="http://schemas.openxmlformats.org/drawingml/2006/main">
              <a:ext uri="{FF2B5EF4-FFF2-40B4-BE49-F238E27FC236}">
                <a16:creationId xmlns:a16="http://schemas.microsoft.com/office/drawing/2014/main" id="{FE46D0E0-96CD-4462-ADF1-B96597FA7658}"/>
              </a:ext>
            </a:extLst>
          </p:cNvPr>
          <p:cNvSpPr>
            <a:spLocks xmlns:a="http://schemas.openxmlformats.org/drawingml/2006/main" noGrp="1"/>
          </p:cNvSpPr>
          <p:nvPr/>
        </p:nvSpPr>
        <p:spPr>
          <a:xfrm xmlns:a="http://schemas.openxmlformats.org/drawingml/2006/main">
            <a:off x="457200" y="363728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3e9f07a945e3489d"/>
              </a:rPr>
              <a:t>S12 · RoHS Directive 2011/65/EU</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a0ca46955b0d4835"/>
              </a:rPr>
              <a:t>Open original document</a:t>
            </a:r>
          </a:p>
        </p:txBody>
      </p:sp>
      <p:sp>
        <p:nvSpPr>
          <p:cNvPr id="10" name="">
            <a:extLst xmlns:a="http://schemas.openxmlformats.org/drawingml/2006/main">
              <a:ext uri="{FF2B5EF4-FFF2-40B4-BE49-F238E27FC236}">
                <a16:creationId xmlns:a16="http://schemas.microsoft.com/office/drawing/2014/main" id="{CDC79B2A-F063-4A29-B533-3068845C5272}"/>
              </a:ext>
            </a:extLst>
          </p:cNvPr>
          <p:cNvSpPr>
            <a:spLocks xmlns:a="http://schemas.openxmlformats.org/drawingml/2006/main" noGrp="1"/>
          </p:cNvSpPr>
          <p:nvPr/>
        </p:nvSpPr>
        <p:spPr>
          <a:xfrm xmlns:a="http://schemas.openxmlformats.org/drawingml/2006/main">
            <a:off x="457200" y="419100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0e103fb8b0224145"/>
              </a:rPr>
              <a:t>S13 · Delegated Directive (EU) 2015/863 — RoHS</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db5c2f49b04e4d3d"/>
              </a:rPr>
              <a:t>Open original document</a:t>
            </a:r>
          </a:p>
        </p:txBody>
      </p:sp>
      <p:sp>
        <p:nvSpPr>
          <p:cNvPr id="11" name="">
            <a:extLst xmlns:a="http://schemas.openxmlformats.org/drawingml/2006/main">
              <a:ext uri="{FF2B5EF4-FFF2-40B4-BE49-F238E27FC236}">
                <a16:creationId xmlns:a16="http://schemas.microsoft.com/office/drawing/2014/main" id="{C0813253-1710-46C3-B57F-0BB6810B205A}"/>
              </a:ext>
            </a:extLst>
          </p:cNvPr>
          <p:cNvSpPr>
            <a:spLocks xmlns:a="http://schemas.openxmlformats.org/drawingml/2006/main" noGrp="1"/>
          </p:cNvSpPr>
          <p:nvPr/>
        </p:nvSpPr>
        <p:spPr>
          <a:xfrm xmlns:a="http://schemas.openxmlformats.org/drawingml/2006/main">
            <a:off x="457200" y="474472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25cdb4436b8642f3"/>
              </a:rPr>
              <a:t>S14 · WEEE Directive 2012/19/EU</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e7c92cc2de194845"/>
              </a:rPr>
              <a:t>Open original document</a:t>
            </a:r>
          </a:p>
        </p:txBody>
      </p:sp>
      <p:sp>
        <p:nvSpPr>
          <p:cNvPr id="12" name="">
            <a:extLst xmlns:a="http://schemas.openxmlformats.org/drawingml/2006/main">
              <a:ext uri="{FF2B5EF4-FFF2-40B4-BE49-F238E27FC236}">
                <a16:creationId xmlns:a16="http://schemas.microsoft.com/office/drawing/2014/main" id="{317EBD80-E9BB-4EB9-8389-854BAD4E3EB7}"/>
              </a:ext>
            </a:extLst>
          </p:cNvPr>
          <p:cNvSpPr>
            <a:spLocks xmlns:a="http://schemas.openxmlformats.org/drawingml/2006/main" noGrp="1"/>
          </p:cNvSpPr>
          <p:nvPr/>
        </p:nvSpPr>
        <p:spPr>
          <a:xfrm xmlns:a="http://schemas.openxmlformats.org/drawingml/2006/main">
            <a:off x="457200" y="536194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Accessed: 13 October 2026. Component documents do not certify the complete GUARDIAN device. The photographs show example readings, not metrological validation results.</a:t>
            </a:r>
          </a:p>
        </p:txBody>
      </p:sp>
    </p:spTree>
    <p:extLst>
      <p:ext uri="{BB962C8B-B14F-4D97-AF65-F5344CB8AC3E}">
        <p14:creationId xmlns:p14="http://schemas.microsoft.com/office/powerpoint/2010/main" val="724104576"/>
      </p:ext>
    </p:extLst>
  </p:cSld>
</p:sld>
</file>

<file path=ppt/slides/slide40.xml><?xml version="1.0" encoding="utf-8"?>
<p:sld xmlns:p="http://schemas.openxmlformats.org/presentationml/2006/main">
  <p:cSld>
    <p:bg>
      <p:bgPr>
        <a:solidFill xmlns:a="http://schemas.openxmlformats.org/drawingml/2006/main">
          <a:srgbClr val="11172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68EF42-87F1-419F-AEF8-CE4934F4CD07}"/>
              </a:ext>
            </a:extLst>
          </p:cNvPr>
          <p:cNvSpPr>
            <a:spLocks xmlns:a="http://schemas.openxmlformats.org/drawingml/2006/main" noGrp="1"/>
          </p:cNvSpPr>
          <p:nvPr/>
        </p:nvSpPr>
        <p:spPr>
          <a:xfrm xmlns:a="http://schemas.openxmlformats.org/drawingml/2006/main">
            <a:off x="457200" y="336550"/>
            <a:ext cx="11480800" cy="191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50" b="1">
                <a:solidFill>
                  <a:srgbClr val="65A5FF"/>
                </a:solidFill>
                <a:latin typeface="Arial"/>
                <a:ea typeface="Arial"/>
                <a:cs typeface="Arial"/>
              </a:defRPr>
            </a:defPPr>
            <a:lvl1pPr>
              <a:buNone/>
              <a:defRPr sz="850" b="1">
                <a:solidFill>
                  <a:srgbClr val="65A5FF"/>
                </a:solidFill>
                <a:latin typeface="Arial"/>
                <a:ea typeface="Arial"/>
                <a:cs typeface="Arial"/>
              </a:defRPr>
            </a:lvl1pPr>
            <a:lvl2pPr>
              <a:buNone/>
              <a:defRPr sz="850" b="1">
                <a:solidFill>
                  <a:srgbClr val="65A5FF"/>
                </a:solidFill>
                <a:latin typeface="Arial"/>
                <a:ea typeface="Arial"/>
                <a:cs typeface="Arial"/>
              </a:defRPr>
            </a:lvl2pPr>
            <a:lvl3pPr>
              <a:buNone/>
              <a:defRPr sz="850" b="1">
                <a:solidFill>
                  <a:srgbClr val="65A5FF"/>
                </a:solidFill>
                <a:latin typeface="Arial"/>
                <a:ea typeface="Arial"/>
                <a:cs typeface="Arial"/>
              </a:defRPr>
            </a:lvl3pPr>
            <a:lvl4pPr>
              <a:buNone/>
              <a:defRPr sz="850" b="1">
                <a:solidFill>
                  <a:srgbClr val="65A5FF"/>
                </a:solidFill>
                <a:latin typeface="Arial"/>
                <a:ea typeface="Arial"/>
                <a:cs typeface="Arial"/>
              </a:defRPr>
            </a:lvl4pPr>
            <a:lvl5pPr>
              <a:buNone/>
              <a:defRPr sz="850" b="1">
                <a:solidFill>
                  <a:srgbClr val="65A5FF"/>
                </a:solidFill>
                <a:latin typeface="Arial"/>
                <a:ea typeface="Arial"/>
                <a:cs typeface="Arial"/>
              </a:defRPr>
            </a:lvl5pPr>
            <a:lvl6pPr>
              <a:buNone/>
              <a:defRPr sz="850" b="1">
                <a:solidFill>
                  <a:srgbClr val="65A5FF"/>
                </a:solidFill>
                <a:latin typeface="Arial"/>
                <a:ea typeface="Arial"/>
                <a:cs typeface="Arial"/>
              </a:defRPr>
            </a:lvl6pPr>
            <a:lvl7pPr>
              <a:buNone/>
              <a:defRPr sz="850" b="1">
                <a:solidFill>
                  <a:srgbClr val="65A5FF"/>
                </a:solidFill>
                <a:latin typeface="Arial"/>
                <a:ea typeface="Arial"/>
                <a:cs typeface="Arial"/>
              </a:defRPr>
            </a:lvl7pPr>
            <a:lvl8pPr>
              <a:buNone/>
              <a:defRPr sz="850" b="1">
                <a:solidFill>
                  <a:srgbClr val="65A5FF"/>
                </a:solidFill>
                <a:latin typeface="Arial"/>
                <a:ea typeface="Arial"/>
                <a:cs typeface="Arial"/>
              </a:defRPr>
            </a:lvl8pPr>
            <a:lvl9pPr>
              <a:buNone/>
              <a:defRPr sz="850" b="1">
                <a:solidFill>
                  <a:srgbClr val="65A5FF"/>
                </a:solidFill>
                <a:latin typeface="Arial"/>
                <a:ea typeface="Arial"/>
                <a:cs typeface="Arial"/>
              </a:defRPr>
            </a:lvl9pPr>
          </a:lstStyle>
          <a:p xmlns:a="http://schemas.openxmlformats.org/drawingml/2006/main">
            <a:pPr>
              <a:buNone/>
              <a:defRPr sz="850" b="1">
                <a:solidFill>
                  <a:srgbClr val="65A5FF"/>
                </a:solidFill>
                <a:latin typeface="Arial"/>
                <a:ea typeface="Arial"/>
                <a:cs typeface="Arial"/>
              </a:defRPr>
            </a:pPr>
            <a:r>
              <a:rPr sz="850" b="1">
                <a:solidFill>
                  <a:srgbClr val="65A5FF"/>
                </a:solidFill>
                <a:latin typeface="Arial"/>
                <a:ea typeface="Arial"/>
                <a:cs typeface="Arial"/>
              </a:rPr>
              <a:t>TRACEABLE SOURCES</a:t>
            </a:r>
          </a:p>
        </p:txBody>
      </p:sp>
      <p:sp>
        <p:nvSpPr>
          <p:cNvPr id="2" name="">
            <a:extLst xmlns:a="http://schemas.openxmlformats.org/drawingml/2006/main">
              <a:ext uri="{FF2B5EF4-FFF2-40B4-BE49-F238E27FC236}">
                <a16:creationId xmlns:a16="http://schemas.microsoft.com/office/drawing/2014/main" id="{00302977-BEB4-4031-965D-363BF1968C25}"/>
              </a:ext>
            </a:extLst>
          </p:cNvPr>
          <p:cNvSpPr>
            <a:spLocks xmlns:a="http://schemas.openxmlformats.org/drawingml/2006/main" noGrp="1"/>
          </p:cNvSpPr>
          <p:nvPr/>
        </p:nvSpPr>
        <p:spPr>
          <a:xfrm xmlns:a="http://schemas.openxmlformats.org/drawingml/2006/main">
            <a:off x="457200" y="711200"/>
            <a:ext cx="11277600" cy="5295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00" b="1">
                <a:solidFill>
                  <a:srgbClr val="F6F8FC"/>
                </a:solidFill>
                <a:latin typeface="Arial"/>
                <a:ea typeface="Arial"/>
                <a:cs typeface="Arial"/>
              </a:defRPr>
            </a:defPPr>
            <a:lvl1pPr>
              <a:buNone/>
              <a:defRPr sz="2900" b="1">
                <a:solidFill>
                  <a:srgbClr val="F6F8FC"/>
                </a:solidFill>
                <a:latin typeface="Arial"/>
                <a:ea typeface="Arial"/>
                <a:cs typeface="Arial"/>
              </a:defRPr>
            </a:lvl1pPr>
            <a:lvl2pPr>
              <a:buNone/>
              <a:defRPr sz="2900" b="1">
                <a:solidFill>
                  <a:srgbClr val="F6F8FC"/>
                </a:solidFill>
                <a:latin typeface="Arial"/>
                <a:ea typeface="Arial"/>
                <a:cs typeface="Arial"/>
              </a:defRPr>
            </a:lvl2pPr>
            <a:lvl3pPr>
              <a:buNone/>
              <a:defRPr sz="2900" b="1">
                <a:solidFill>
                  <a:srgbClr val="F6F8FC"/>
                </a:solidFill>
                <a:latin typeface="Arial"/>
                <a:ea typeface="Arial"/>
                <a:cs typeface="Arial"/>
              </a:defRPr>
            </a:lvl3pPr>
            <a:lvl4pPr>
              <a:buNone/>
              <a:defRPr sz="2900" b="1">
                <a:solidFill>
                  <a:srgbClr val="F6F8FC"/>
                </a:solidFill>
                <a:latin typeface="Arial"/>
                <a:ea typeface="Arial"/>
                <a:cs typeface="Arial"/>
              </a:defRPr>
            </a:lvl4pPr>
            <a:lvl5pPr>
              <a:buNone/>
              <a:defRPr sz="2900" b="1">
                <a:solidFill>
                  <a:srgbClr val="F6F8FC"/>
                </a:solidFill>
                <a:latin typeface="Arial"/>
                <a:ea typeface="Arial"/>
                <a:cs typeface="Arial"/>
              </a:defRPr>
            </a:lvl5pPr>
            <a:lvl6pPr>
              <a:buNone/>
              <a:defRPr sz="2900" b="1">
                <a:solidFill>
                  <a:srgbClr val="F6F8FC"/>
                </a:solidFill>
                <a:latin typeface="Arial"/>
                <a:ea typeface="Arial"/>
                <a:cs typeface="Arial"/>
              </a:defRPr>
            </a:lvl6pPr>
            <a:lvl7pPr>
              <a:buNone/>
              <a:defRPr sz="2900" b="1">
                <a:solidFill>
                  <a:srgbClr val="F6F8FC"/>
                </a:solidFill>
                <a:latin typeface="Arial"/>
                <a:ea typeface="Arial"/>
                <a:cs typeface="Arial"/>
              </a:defRPr>
            </a:lvl7pPr>
            <a:lvl8pPr>
              <a:buNone/>
              <a:defRPr sz="2900" b="1">
                <a:solidFill>
                  <a:srgbClr val="F6F8FC"/>
                </a:solidFill>
                <a:latin typeface="Arial"/>
                <a:ea typeface="Arial"/>
                <a:cs typeface="Arial"/>
              </a:defRPr>
            </a:lvl8pPr>
            <a:lvl9pPr>
              <a:buNone/>
              <a:defRPr sz="2900" b="1">
                <a:solidFill>
                  <a:srgbClr val="F6F8FC"/>
                </a:solidFill>
                <a:latin typeface="Arial"/>
                <a:ea typeface="Arial"/>
                <a:cs typeface="Arial"/>
              </a:defRPr>
            </a:lvl9pPr>
          </a:lstStyle>
          <a:p xmlns:a="http://schemas.openxmlformats.org/drawingml/2006/main">
            <a:pPr>
              <a:buNone/>
              <a:defRPr sz="2900" b="1">
                <a:solidFill>
                  <a:srgbClr val="F6F8FC"/>
                </a:solidFill>
                <a:latin typeface="Arial"/>
                <a:ea typeface="Arial"/>
                <a:cs typeface="Arial"/>
              </a:defRPr>
            </a:pPr>
            <a:r>
              <a:rPr sz="2900" b="1">
                <a:solidFill>
                  <a:srgbClr val="F6F8FC"/>
                </a:solidFill>
                <a:latin typeface="Arial"/>
                <a:ea typeface="Arial"/>
                <a:cs typeface="Arial"/>
              </a:rPr>
              <a:t>Sources and reference documents</a:t>
            </a:r>
          </a:p>
        </p:txBody>
      </p:sp>
      <p:sp>
        <p:nvSpPr>
          <p:cNvPr id="3" name="">
            <a:extLst xmlns:a="http://schemas.openxmlformats.org/drawingml/2006/main">
              <a:ext uri="{FF2B5EF4-FFF2-40B4-BE49-F238E27FC236}">
                <a16:creationId xmlns:a16="http://schemas.microsoft.com/office/drawing/2014/main" id="{56D1EE06-D83B-4592-9E7C-3ACC70CE109F}"/>
              </a:ext>
            </a:extLst>
          </p:cNvPr>
          <p:cNvSpPr>
            <a:spLocks xmlns:a="http://schemas.openxmlformats.org/drawingml/2006/main" noGrp="1"/>
          </p:cNvSpPr>
          <p:nvPr/>
        </p:nvSpPr>
        <p:spPr>
          <a:xfrm xmlns:a="http://schemas.openxmlformats.org/drawingml/2006/main">
            <a:off x="457200" y="7239000"/>
            <a:ext cx="11480800" cy="142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800" b="0">
                <a:solidFill>
                  <a:srgbClr val="B9C4D3"/>
                </a:solidFill>
                <a:latin typeface="Arial"/>
                <a:ea typeface="Arial"/>
                <a:cs typeface="Arial"/>
              </a:defRPr>
            </a:defPPr>
            <a:lvl1pPr>
              <a:buNone/>
              <a:defRPr sz="800" b="0">
                <a:solidFill>
                  <a:srgbClr val="B9C4D3"/>
                </a:solidFill>
                <a:latin typeface="Arial"/>
                <a:ea typeface="Arial"/>
                <a:cs typeface="Arial"/>
              </a:defRPr>
            </a:lvl1pPr>
            <a:lvl2pPr>
              <a:buNone/>
              <a:defRPr sz="800" b="0">
                <a:solidFill>
                  <a:srgbClr val="B9C4D3"/>
                </a:solidFill>
                <a:latin typeface="Arial"/>
                <a:ea typeface="Arial"/>
                <a:cs typeface="Arial"/>
              </a:defRPr>
            </a:lvl2pPr>
            <a:lvl3pPr>
              <a:buNone/>
              <a:defRPr sz="800" b="0">
                <a:solidFill>
                  <a:srgbClr val="B9C4D3"/>
                </a:solidFill>
                <a:latin typeface="Arial"/>
                <a:ea typeface="Arial"/>
                <a:cs typeface="Arial"/>
              </a:defRPr>
            </a:lvl3pPr>
            <a:lvl4pPr>
              <a:buNone/>
              <a:defRPr sz="800" b="0">
                <a:solidFill>
                  <a:srgbClr val="B9C4D3"/>
                </a:solidFill>
                <a:latin typeface="Arial"/>
                <a:ea typeface="Arial"/>
                <a:cs typeface="Arial"/>
              </a:defRPr>
            </a:lvl4pPr>
            <a:lvl5pPr>
              <a:buNone/>
              <a:defRPr sz="800" b="0">
                <a:solidFill>
                  <a:srgbClr val="B9C4D3"/>
                </a:solidFill>
                <a:latin typeface="Arial"/>
                <a:ea typeface="Arial"/>
                <a:cs typeface="Arial"/>
              </a:defRPr>
            </a:lvl5pPr>
            <a:lvl6pPr>
              <a:buNone/>
              <a:defRPr sz="800" b="0">
                <a:solidFill>
                  <a:srgbClr val="B9C4D3"/>
                </a:solidFill>
                <a:latin typeface="Arial"/>
                <a:ea typeface="Arial"/>
                <a:cs typeface="Arial"/>
              </a:defRPr>
            </a:lvl6pPr>
            <a:lvl7pPr>
              <a:buNone/>
              <a:defRPr sz="800" b="0">
                <a:solidFill>
                  <a:srgbClr val="B9C4D3"/>
                </a:solidFill>
                <a:latin typeface="Arial"/>
                <a:ea typeface="Arial"/>
                <a:cs typeface="Arial"/>
              </a:defRPr>
            </a:lvl7pPr>
            <a:lvl8pPr>
              <a:buNone/>
              <a:defRPr sz="800" b="0">
                <a:solidFill>
                  <a:srgbClr val="B9C4D3"/>
                </a:solidFill>
                <a:latin typeface="Arial"/>
                <a:ea typeface="Arial"/>
                <a:cs typeface="Arial"/>
              </a:defRPr>
            </a:lvl8pPr>
            <a:lvl9pPr>
              <a:buNone/>
              <a:defRPr sz="800" b="0">
                <a:solidFill>
                  <a:srgbClr val="B9C4D3"/>
                </a:solidFill>
                <a:latin typeface="Arial"/>
                <a:ea typeface="Arial"/>
                <a:cs typeface="Arial"/>
              </a:defRPr>
            </a:lvl9pPr>
          </a:lstStyle>
          <a:p xmlns:a="http://schemas.openxmlformats.org/drawingml/2006/main">
            <a:pPr>
              <a:buNone/>
              <a:defRPr sz="800" b="0">
                <a:solidFill>
                  <a:srgbClr val="B9C4D3"/>
                </a:solidFill>
                <a:latin typeface="Arial"/>
                <a:ea typeface="Arial"/>
                <a:cs typeface="Arial"/>
              </a:defRPr>
            </a:pPr>
            <a:r>
              <a:rPr sz="800" b="0">
                <a:solidFill>
                  <a:srgbClr val="B9C4D3"/>
                </a:solidFill>
                <a:latin typeface="Arial"/>
                <a:ea typeface="Arial"/>
                <a:cs typeface="Arial"/>
              </a:rPr>
              <a:t>GUARDIAN MAKERS     /     OCTOBER 2026</a:t>
            </a:r>
          </a:p>
        </p:txBody>
      </p:sp>
      <p:sp>
        <p:nvSpPr>
          <p:cNvPr id="4" name="">
            <a:extLst xmlns:a="http://schemas.openxmlformats.org/drawingml/2006/main">
              <a:ext uri="{FF2B5EF4-FFF2-40B4-BE49-F238E27FC236}">
                <a16:creationId xmlns:a16="http://schemas.microsoft.com/office/drawing/2014/main" id="{D703A34B-F6EC-43D6-987A-4C62FE8792DC}"/>
              </a:ext>
            </a:extLst>
          </p:cNvPr>
          <p:cNvSpPr>
            <a:spLocks xmlns:a="http://schemas.openxmlformats.org/drawingml/2006/main" noGrp="1"/>
          </p:cNvSpPr>
          <p:nvPr/>
        </p:nvSpPr>
        <p:spPr>
          <a:xfrm xmlns:a="http://schemas.openxmlformats.org/drawingml/2006/main">
            <a:off x="11518900" y="7226300"/>
            <a:ext cx="419100" cy="160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900" b="1">
                <a:solidFill>
                  <a:srgbClr val="B9C4D3"/>
                </a:solidFill>
                <a:latin typeface="Arial"/>
                <a:ea typeface="Arial"/>
                <a:cs typeface="Arial"/>
              </a:defRPr>
            </a:defPPr>
            <a:lvl1pPr>
              <a:buNone/>
              <a:defRPr sz="900" b="1">
                <a:solidFill>
                  <a:srgbClr val="B9C4D3"/>
                </a:solidFill>
                <a:latin typeface="Arial"/>
                <a:ea typeface="Arial"/>
                <a:cs typeface="Arial"/>
              </a:defRPr>
            </a:lvl1pPr>
            <a:lvl2pPr>
              <a:buNone/>
              <a:defRPr sz="900" b="1">
                <a:solidFill>
                  <a:srgbClr val="B9C4D3"/>
                </a:solidFill>
                <a:latin typeface="Arial"/>
                <a:ea typeface="Arial"/>
                <a:cs typeface="Arial"/>
              </a:defRPr>
            </a:lvl2pPr>
            <a:lvl3pPr>
              <a:buNone/>
              <a:defRPr sz="900" b="1">
                <a:solidFill>
                  <a:srgbClr val="B9C4D3"/>
                </a:solidFill>
                <a:latin typeface="Arial"/>
                <a:ea typeface="Arial"/>
                <a:cs typeface="Arial"/>
              </a:defRPr>
            </a:lvl3pPr>
            <a:lvl4pPr>
              <a:buNone/>
              <a:defRPr sz="900" b="1">
                <a:solidFill>
                  <a:srgbClr val="B9C4D3"/>
                </a:solidFill>
                <a:latin typeface="Arial"/>
                <a:ea typeface="Arial"/>
                <a:cs typeface="Arial"/>
              </a:defRPr>
            </a:lvl4pPr>
            <a:lvl5pPr>
              <a:buNone/>
              <a:defRPr sz="900" b="1">
                <a:solidFill>
                  <a:srgbClr val="B9C4D3"/>
                </a:solidFill>
                <a:latin typeface="Arial"/>
                <a:ea typeface="Arial"/>
                <a:cs typeface="Arial"/>
              </a:defRPr>
            </a:lvl5pPr>
            <a:lvl6pPr>
              <a:buNone/>
              <a:defRPr sz="900" b="1">
                <a:solidFill>
                  <a:srgbClr val="B9C4D3"/>
                </a:solidFill>
                <a:latin typeface="Arial"/>
                <a:ea typeface="Arial"/>
                <a:cs typeface="Arial"/>
              </a:defRPr>
            </a:lvl6pPr>
            <a:lvl7pPr>
              <a:buNone/>
              <a:defRPr sz="900" b="1">
                <a:solidFill>
                  <a:srgbClr val="B9C4D3"/>
                </a:solidFill>
                <a:latin typeface="Arial"/>
                <a:ea typeface="Arial"/>
                <a:cs typeface="Arial"/>
              </a:defRPr>
            </a:lvl7pPr>
            <a:lvl8pPr>
              <a:buNone/>
              <a:defRPr sz="900" b="1">
                <a:solidFill>
                  <a:srgbClr val="B9C4D3"/>
                </a:solidFill>
                <a:latin typeface="Arial"/>
                <a:ea typeface="Arial"/>
                <a:cs typeface="Arial"/>
              </a:defRPr>
            </a:lvl8pPr>
            <a:lvl9pPr>
              <a:buNone/>
              <a:defRPr sz="900" b="1">
                <a:solidFill>
                  <a:srgbClr val="B9C4D3"/>
                </a:solidFill>
                <a:latin typeface="Arial"/>
                <a:ea typeface="Arial"/>
                <a:cs typeface="Arial"/>
              </a:defRPr>
            </a:lvl9pPr>
          </a:lstStyle>
          <a:p xmlns:a="http://schemas.openxmlformats.org/drawingml/2006/main">
            <a:pPr>
              <a:buNone/>
              <a:defRPr sz="900" b="1">
                <a:solidFill>
                  <a:srgbClr val="B9C4D3"/>
                </a:solidFill>
                <a:latin typeface="Arial"/>
                <a:ea typeface="Arial"/>
                <a:cs typeface="Arial"/>
              </a:defRPr>
            </a:pPr>
            <a:r>
              <a:rPr sz="900" b="1">
                <a:solidFill>
                  <a:srgbClr val="B9C4D3"/>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175681C0-8842-49D2-B539-B10452541167}"/>
              </a:ext>
            </a:extLst>
          </p:cNvPr>
          <p:cNvSpPr>
            <a:spLocks xmlns:a="http://schemas.openxmlformats.org/drawingml/2006/main" noGrp="1"/>
          </p:cNvSpPr>
          <p:nvPr/>
        </p:nvSpPr>
        <p:spPr>
          <a:xfrm xmlns:a="http://schemas.openxmlformats.org/drawingml/2006/main">
            <a:off x="457200" y="142240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a7d2796edd7d44ec"/>
              </a:rPr>
              <a:t>S15 · REACH Regulation (EC) 1907/2006</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38d07af0e5ce4311"/>
              </a:rPr>
              <a:t>Open original document</a:t>
            </a:r>
          </a:p>
        </p:txBody>
      </p:sp>
      <p:sp>
        <p:nvSpPr>
          <p:cNvPr id="6" name="">
            <a:extLst xmlns:a="http://schemas.openxmlformats.org/drawingml/2006/main">
              <a:ext uri="{FF2B5EF4-FFF2-40B4-BE49-F238E27FC236}">
                <a16:creationId xmlns:a16="http://schemas.microsoft.com/office/drawing/2014/main" id="{AD523845-499B-4E5C-9961-B1A31C5F94B6}"/>
              </a:ext>
            </a:extLst>
          </p:cNvPr>
          <p:cNvSpPr>
            <a:spLocks xmlns:a="http://schemas.openxmlformats.org/drawingml/2006/main" noGrp="1"/>
          </p:cNvSpPr>
          <p:nvPr/>
        </p:nvSpPr>
        <p:spPr>
          <a:xfrm xmlns:a="http://schemas.openxmlformats.org/drawingml/2006/main">
            <a:off x="457200" y="197612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a44e883a24434a8d"/>
              </a:rPr>
              <a:t>S16 · Sensirion — REACH / RoHS statement</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f70c683498bb4ac8"/>
              </a:rPr>
              <a:t>Open original document</a:t>
            </a:r>
          </a:p>
        </p:txBody>
      </p:sp>
      <p:sp>
        <p:nvSpPr>
          <p:cNvPr id="7" name="">
            <a:extLst xmlns:a="http://schemas.openxmlformats.org/drawingml/2006/main">
              <a:ext uri="{FF2B5EF4-FFF2-40B4-BE49-F238E27FC236}">
                <a16:creationId xmlns:a16="http://schemas.microsoft.com/office/drawing/2014/main" id="{E758B4E4-FA7E-4CC2-8ED7-A6993EFDB735}"/>
              </a:ext>
            </a:extLst>
          </p:cNvPr>
          <p:cNvSpPr>
            <a:spLocks xmlns:a="http://schemas.openxmlformats.org/drawingml/2006/main" noGrp="1"/>
          </p:cNvSpPr>
          <p:nvPr/>
        </p:nvSpPr>
        <p:spPr>
          <a:xfrm xmlns:a="http://schemas.openxmlformats.org/drawingml/2006/main">
            <a:off x="457200" y="252984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e049e41d740d49f6"/>
              </a:rPr>
              <a:t>S17 · Espressif — Arduino ESP32 installation</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c67228b618354042"/>
              </a:rPr>
              <a:t>Open original document</a:t>
            </a:r>
          </a:p>
        </p:txBody>
      </p:sp>
      <p:sp>
        <p:nvSpPr>
          <p:cNvPr id="8" name="">
            <a:extLst xmlns:a="http://schemas.openxmlformats.org/drawingml/2006/main">
              <a:ext uri="{FF2B5EF4-FFF2-40B4-BE49-F238E27FC236}">
                <a16:creationId xmlns:a16="http://schemas.microsoft.com/office/drawing/2014/main" id="{8893E35B-DE73-4DAE-90AD-7E89161E1032}"/>
              </a:ext>
            </a:extLst>
          </p:cNvPr>
          <p:cNvSpPr>
            <a:spLocks xmlns:a="http://schemas.openxmlformats.org/drawingml/2006/main" noGrp="1"/>
          </p:cNvSpPr>
          <p:nvPr/>
        </p:nvSpPr>
        <p:spPr>
          <a:xfrm xmlns:a="http://schemas.openxmlformats.org/drawingml/2006/main">
            <a:off x="457200" y="308356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f95bd37cd4164c3b"/>
              </a:rPr>
              <a:t>S18 · Freenove — FNK0115 repository</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5a427a53fcac41e0"/>
              </a:rPr>
              <a:t>Open original document</a:t>
            </a:r>
          </a:p>
        </p:txBody>
      </p:sp>
      <p:sp>
        <p:nvSpPr>
          <p:cNvPr id="9" name="">
            <a:extLst xmlns:a="http://schemas.openxmlformats.org/drawingml/2006/main">
              <a:ext uri="{FF2B5EF4-FFF2-40B4-BE49-F238E27FC236}">
                <a16:creationId xmlns:a16="http://schemas.microsoft.com/office/drawing/2014/main" id="{F272DDF9-1AB1-4C55-9D82-75000CA9E0D0}"/>
              </a:ext>
            </a:extLst>
          </p:cNvPr>
          <p:cNvSpPr>
            <a:spLocks xmlns:a="http://schemas.openxmlformats.org/drawingml/2006/main" noGrp="1"/>
          </p:cNvSpPr>
          <p:nvPr/>
        </p:nvSpPr>
        <p:spPr>
          <a:xfrm xmlns:a="http://schemas.openxmlformats.org/drawingml/2006/main">
            <a:off x="457200" y="3637280"/>
            <a:ext cx="11277600" cy="41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100" b="0">
                <a:solidFill>
                  <a:srgbClr val="F6F8FC"/>
                </a:solidFill>
                <a:latin typeface="Arial"/>
                <a:ea typeface="Arial"/>
                <a:cs typeface="Arial"/>
              </a:defRPr>
            </a:defPPr>
            <a:lvl1pPr>
              <a:buNone/>
              <a:defRPr sz="1100" b="0">
                <a:solidFill>
                  <a:srgbClr val="F6F8FC"/>
                </a:solidFill>
                <a:latin typeface="Arial"/>
                <a:ea typeface="Arial"/>
                <a:cs typeface="Arial"/>
              </a:defRPr>
            </a:lvl1pPr>
            <a:lvl2pPr>
              <a:buNone/>
              <a:defRPr sz="1100" b="0">
                <a:solidFill>
                  <a:srgbClr val="F6F8FC"/>
                </a:solidFill>
                <a:latin typeface="Arial"/>
                <a:ea typeface="Arial"/>
                <a:cs typeface="Arial"/>
              </a:defRPr>
            </a:lvl2pPr>
            <a:lvl3pPr>
              <a:buNone/>
              <a:defRPr sz="1100" b="0">
                <a:solidFill>
                  <a:srgbClr val="F6F8FC"/>
                </a:solidFill>
                <a:latin typeface="Arial"/>
                <a:ea typeface="Arial"/>
                <a:cs typeface="Arial"/>
              </a:defRPr>
            </a:lvl3pPr>
            <a:lvl4pPr>
              <a:buNone/>
              <a:defRPr sz="1100" b="0">
                <a:solidFill>
                  <a:srgbClr val="F6F8FC"/>
                </a:solidFill>
                <a:latin typeface="Arial"/>
                <a:ea typeface="Arial"/>
                <a:cs typeface="Arial"/>
              </a:defRPr>
            </a:lvl4pPr>
            <a:lvl5pPr>
              <a:buNone/>
              <a:defRPr sz="1100" b="0">
                <a:solidFill>
                  <a:srgbClr val="F6F8FC"/>
                </a:solidFill>
                <a:latin typeface="Arial"/>
                <a:ea typeface="Arial"/>
                <a:cs typeface="Arial"/>
              </a:defRPr>
            </a:lvl5pPr>
            <a:lvl6pPr>
              <a:buNone/>
              <a:defRPr sz="1100" b="0">
                <a:solidFill>
                  <a:srgbClr val="F6F8FC"/>
                </a:solidFill>
                <a:latin typeface="Arial"/>
                <a:ea typeface="Arial"/>
                <a:cs typeface="Arial"/>
              </a:defRPr>
            </a:lvl6pPr>
            <a:lvl7pPr>
              <a:buNone/>
              <a:defRPr sz="1100" b="0">
                <a:solidFill>
                  <a:srgbClr val="F6F8FC"/>
                </a:solidFill>
                <a:latin typeface="Arial"/>
                <a:ea typeface="Arial"/>
                <a:cs typeface="Arial"/>
              </a:defRPr>
            </a:lvl7pPr>
            <a:lvl8pPr>
              <a:buNone/>
              <a:defRPr sz="1100" b="0">
                <a:solidFill>
                  <a:srgbClr val="F6F8FC"/>
                </a:solidFill>
                <a:latin typeface="Arial"/>
                <a:ea typeface="Arial"/>
                <a:cs typeface="Arial"/>
              </a:defRPr>
            </a:lvl8pPr>
            <a:lvl9pPr>
              <a:buNone/>
              <a:defRPr sz="1100" b="0">
                <a:solidFill>
                  <a:srgbClr val="F6F8FC"/>
                </a:solidFill>
                <a:latin typeface="Arial"/>
                <a:ea typeface="Arial"/>
                <a:cs typeface="Arial"/>
              </a:defRPr>
            </a:lvl9pPr>
          </a:lstStyle>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5f43a3e23a43432d"/>
              </a:rPr>
              <a:t>S19 · Sensirion — SEN69C product information</a:t>
            </a:r>
          </a:p>
          <a:p xmlns:a="http://schemas.openxmlformats.org/drawingml/2006/main">
            <a:pPr>
              <a:buNone/>
              <a:defRPr sz="1100" b="0">
                <a:solidFill>
                  <a:srgbClr val="F6F8FC"/>
                </a:solidFill>
                <a:latin typeface="Arial"/>
                <a:ea typeface="Arial"/>
                <a:cs typeface="Arial"/>
              </a:defRPr>
            </a:pPr>
            <a:r>
              <a:rPr sz="1100" b="0">
                <a:solidFill>
                  <a:srgbClr val="F6F8FC"/>
                </a:solidFill>
                <a:latin typeface="Arial"/>
                <a:ea typeface="Arial"/>
                <a:cs typeface="Arial"/>
                <a:hlinkClick xmlns:r="http://schemas.openxmlformats.org/officeDocument/2006/relationships" r:id="R4ba51e6f1dbe4509"/>
              </a:rPr>
              <a:t>Open original document</a:t>
            </a:r>
          </a:p>
        </p:txBody>
      </p:sp>
      <p:sp>
        <p:nvSpPr>
          <p:cNvPr id="10" name="">
            <a:extLst xmlns:a="http://schemas.openxmlformats.org/drawingml/2006/main">
              <a:ext uri="{FF2B5EF4-FFF2-40B4-BE49-F238E27FC236}">
                <a16:creationId xmlns:a16="http://schemas.microsoft.com/office/drawing/2014/main" id="{CF8B54D1-8D3A-479D-BB88-A3E0C1727696}"/>
              </a:ext>
            </a:extLst>
          </p:cNvPr>
          <p:cNvSpPr>
            <a:spLocks xmlns:a="http://schemas.openxmlformats.org/drawingml/2006/main" noGrp="1"/>
          </p:cNvSpPr>
          <p:nvPr/>
        </p:nvSpPr>
        <p:spPr>
          <a:xfrm xmlns:a="http://schemas.openxmlformats.org/drawingml/2006/main">
            <a:off x="457200" y="4254500"/>
            <a:ext cx="11277600" cy="21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000" b="0">
                <a:solidFill>
                  <a:srgbClr val="B9C4D3"/>
                </a:solidFill>
                <a:latin typeface="Arial"/>
                <a:ea typeface="Arial"/>
                <a:cs typeface="Arial"/>
              </a:defRPr>
            </a:defPPr>
            <a:lvl1pPr>
              <a:buNone/>
              <a:defRPr sz="1000" b="0">
                <a:solidFill>
                  <a:srgbClr val="B9C4D3"/>
                </a:solidFill>
                <a:latin typeface="Arial"/>
                <a:ea typeface="Arial"/>
                <a:cs typeface="Arial"/>
              </a:defRPr>
            </a:lvl1pPr>
            <a:lvl2pPr>
              <a:buNone/>
              <a:defRPr sz="1000" b="0">
                <a:solidFill>
                  <a:srgbClr val="B9C4D3"/>
                </a:solidFill>
                <a:latin typeface="Arial"/>
                <a:ea typeface="Arial"/>
                <a:cs typeface="Arial"/>
              </a:defRPr>
            </a:lvl2pPr>
            <a:lvl3pPr>
              <a:buNone/>
              <a:defRPr sz="1000" b="0">
                <a:solidFill>
                  <a:srgbClr val="B9C4D3"/>
                </a:solidFill>
                <a:latin typeface="Arial"/>
                <a:ea typeface="Arial"/>
                <a:cs typeface="Arial"/>
              </a:defRPr>
            </a:lvl3pPr>
            <a:lvl4pPr>
              <a:buNone/>
              <a:defRPr sz="1000" b="0">
                <a:solidFill>
                  <a:srgbClr val="B9C4D3"/>
                </a:solidFill>
                <a:latin typeface="Arial"/>
                <a:ea typeface="Arial"/>
                <a:cs typeface="Arial"/>
              </a:defRPr>
            </a:lvl4pPr>
            <a:lvl5pPr>
              <a:buNone/>
              <a:defRPr sz="1000" b="0">
                <a:solidFill>
                  <a:srgbClr val="B9C4D3"/>
                </a:solidFill>
                <a:latin typeface="Arial"/>
                <a:ea typeface="Arial"/>
                <a:cs typeface="Arial"/>
              </a:defRPr>
            </a:lvl5pPr>
            <a:lvl6pPr>
              <a:buNone/>
              <a:defRPr sz="1000" b="0">
                <a:solidFill>
                  <a:srgbClr val="B9C4D3"/>
                </a:solidFill>
                <a:latin typeface="Arial"/>
                <a:ea typeface="Arial"/>
                <a:cs typeface="Arial"/>
              </a:defRPr>
            </a:lvl6pPr>
            <a:lvl7pPr>
              <a:buNone/>
              <a:defRPr sz="1000" b="0">
                <a:solidFill>
                  <a:srgbClr val="B9C4D3"/>
                </a:solidFill>
                <a:latin typeface="Arial"/>
                <a:ea typeface="Arial"/>
                <a:cs typeface="Arial"/>
              </a:defRPr>
            </a:lvl7pPr>
            <a:lvl8pPr>
              <a:buNone/>
              <a:defRPr sz="1000" b="0">
                <a:solidFill>
                  <a:srgbClr val="B9C4D3"/>
                </a:solidFill>
                <a:latin typeface="Arial"/>
                <a:ea typeface="Arial"/>
                <a:cs typeface="Arial"/>
              </a:defRPr>
            </a:lvl8pPr>
            <a:lvl9pPr>
              <a:buNone/>
              <a:defRPr sz="1000" b="0">
                <a:solidFill>
                  <a:srgbClr val="B9C4D3"/>
                </a:solidFill>
                <a:latin typeface="Arial"/>
                <a:ea typeface="Arial"/>
                <a:cs typeface="Arial"/>
              </a:defRPr>
            </a:lvl9pPr>
          </a:lstStyle>
          <a:p xmlns:a="http://schemas.openxmlformats.org/drawingml/2006/main">
            <a:pPr>
              <a:buNone/>
              <a:defRPr sz="1000" b="0">
                <a:solidFill>
                  <a:srgbClr val="B9C4D3"/>
                </a:solidFill>
                <a:latin typeface="Arial"/>
                <a:ea typeface="Arial"/>
                <a:cs typeface="Arial"/>
              </a:defRPr>
            </a:pPr>
            <a:r>
              <a:rPr sz="1000" b="0">
                <a:solidFill>
                  <a:srgbClr val="B9C4D3"/>
                </a:solidFill>
                <a:latin typeface="Arial"/>
                <a:ea typeface="Arial"/>
                <a:cs typeface="Arial"/>
              </a:rPr>
              <a:t>Accessed: 13 October 2026. Component documents do not certify the complete GUARDIAN device. The photographs show example readings, not metrological validation results.</a:t>
            </a:r>
          </a:p>
        </p:txBody>
      </p:sp>
    </p:spTree>
    <p:extLst>
      <p:ext uri="{BB962C8B-B14F-4D97-AF65-F5344CB8AC3E}">
        <p14:creationId xmlns:p14="http://schemas.microsoft.com/office/powerpoint/2010/main" val="14479444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2026-10-28T08:01:08.0860000Z</dcterms:created>
  <dcterms:modified xsi:type="dcterms:W3CDTF">2026-10-28T08:01:08.0860000Z</dcterms:modified>
</coreProperties>
</file>