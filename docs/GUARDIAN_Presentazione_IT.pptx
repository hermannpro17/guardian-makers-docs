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7ad78e97664cf2" /><Relationship Type="http://schemas.openxmlformats.org/officeDocument/2006/relationships/extended-properties" Target="/docProps/app.xml" Id="Rb9fa463ec83a4307" /><Relationship Type="http://schemas.openxmlformats.org/officeDocument/2006/relationships/officeDocument" Target="/ppt/presentation.xml" Id="Ra4eb4abed8fa42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af865dc9634ac4"/>
  </p:sldMasterIdLst>
  <p:notesMasterIdLst>
    <p:notesMasterId xmlns:r="http://schemas.openxmlformats.org/officeDocument/2006/relationships" r:id="R2a525020e9014955"/>
  </p:notesMasterIdLst>
  <p:sldIdLst>
    <p:sldId xmlns:r="http://schemas.openxmlformats.org/officeDocument/2006/relationships" id="256" r:id="Rf69c7c6421e74bf4"/>
    <p:sldId xmlns:r="http://schemas.openxmlformats.org/officeDocument/2006/relationships" id="257" r:id="R5b11718ff2654524"/>
    <p:sldId xmlns:r="http://schemas.openxmlformats.org/officeDocument/2006/relationships" id="258" r:id="R851333a9b7c64c0f"/>
    <p:sldId xmlns:r="http://schemas.openxmlformats.org/officeDocument/2006/relationships" id="259" r:id="Rf9bb3bbf7f7f4249"/>
    <p:sldId xmlns:r="http://schemas.openxmlformats.org/officeDocument/2006/relationships" id="260" r:id="R0b81825608e146d9"/>
    <p:sldId xmlns:r="http://schemas.openxmlformats.org/officeDocument/2006/relationships" id="261" r:id="Rb5073ebf6dc44bb2"/>
    <p:sldId xmlns:r="http://schemas.openxmlformats.org/officeDocument/2006/relationships" id="262" r:id="Re7c7155d84fd403b"/>
    <p:sldId xmlns:r="http://schemas.openxmlformats.org/officeDocument/2006/relationships" id="263" r:id="Rb8f890c378ac4146"/>
    <p:sldId xmlns:r="http://schemas.openxmlformats.org/officeDocument/2006/relationships" id="264" r:id="R09ccdfb0dd554fad"/>
    <p:sldId xmlns:r="http://schemas.openxmlformats.org/officeDocument/2006/relationships" id="265" r:id="R178a7bf4734d4ee2"/>
    <p:sldId xmlns:r="http://schemas.openxmlformats.org/officeDocument/2006/relationships" id="266" r:id="R6c30484c0b064f21"/>
    <p:sldId xmlns:r="http://schemas.openxmlformats.org/officeDocument/2006/relationships" id="267" r:id="R58eb4fa51c59438e"/>
    <p:sldId xmlns:r="http://schemas.openxmlformats.org/officeDocument/2006/relationships" id="268" r:id="R7010b24c06504e90"/>
    <p:sldId xmlns:r="http://schemas.openxmlformats.org/officeDocument/2006/relationships" id="269" r:id="R5f9d315dd6a94935"/>
    <p:sldId xmlns:r="http://schemas.openxmlformats.org/officeDocument/2006/relationships" id="270" r:id="R940f28b0709f45c1"/>
    <p:sldId xmlns:r="http://schemas.openxmlformats.org/officeDocument/2006/relationships" id="271" r:id="R99b1013dab8d48e9"/>
    <p:sldId xmlns:r="http://schemas.openxmlformats.org/officeDocument/2006/relationships" id="272" r:id="R1f15f8411e3d46f6"/>
    <p:sldId xmlns:r="http://schemas.openxmlformats.org/officeDocument/2006/relationships" id="273" r:id="R372f76a7b20040ea"/>
    <p:sldId xmlns:r="http://schemas.openxmlformats.org/officeDocument/2006/relationships" id="274" r:id="Rbed8be1fe83e44aa"/>
    <p:sldId xmlns:r="http://schemas.openxmlformats.org/officeDocument/2006/relationships" id="275" r:id="Rd78c409701fa4b21"/>
    <p:sldId xmlns:r="http://schemas.openxmlformats.org/officeDocument/2006/relationships" id="276" r:id="Rf028ef08bb4549b1"/>
    <p:sldId xmlns:r="http://schemas.openxmlformats.org/officeDocument/2006/relationships" id="277" r:id="Ra077b77ce2534a98"/>
    <p:sldId xmlns:r="http://schemas.openxmlformats.org/officeDocument/2006/relationships" id="278" r:id="Re4b8708300414caf"/>
    <p:sldId xmlns:r="http://schemas.openxmlformats.org/officeDocument/2006/relationships" id="279" r:id="Rc83df449cc074d3b"/>
    <p:sldId xmlns:r="http://schemas.openxmlformats.org/officeDocument/2006/relationships" id="280" r:id="R2a3b60acf828414f"/>
    <p:sldId xmlns:r="http://schemas.openxmlformats.org/officeDocument/2006/relationships" id="281" r:id="Rda381afe1a3947d6"/>
    <p:sldId xmlns:r="http://schemas.openxmlformats.org/officeDocument/2006/relationships" id="282" r:id="R69af8e357e5b4277"/>
    <p:sldId xmlns:r="http://schemas.openxmlformats.org/officeDocument/2006/relationships" id="283" r:id="Ra2750013b43c4d1f"/>
    <p:sldId xmlns:r="http://schemas.openxmlformats.org/officeDocument/2006/relationships" id="284" r:id="Ra7d9f4058c2a470a"/>
    <p:sldId xmlns:r="http://schemas.openxmlformats.org/officeDocument/2006/relationships" id="285" r:id="Rb80a5a26e45c45fd"/>
    <p:sldId xmlns:r="http://schemas.openxmlformats.org/officeDocument/2006/relationships" id="286" r:id="R26e514f3c56b4921"/>
    <p:sldId xmlns:r="http://schemas.openxmlformats.org/officeDocument/2006/relationships" id="287" r:id="R6da2eb34af744bf2"/>
    <p:sldId xmlns:r="http://schemas.openxmlformats.org/officeDocument/2006/relationships" id="288" r:id="Rc1b5966f7e5f4d7c"/>
    <p:sldId xmlns:r="http://schemas.openxmlformats.org/officeDocument/2006/relationships" id="289" r:id="R4dc515edc88e411f"/>
    <p:sldId xmlns:r="http://schemas.openxmlformats.org/officeDocument/2006/relationships" id="290" r:id="R81f5671a2c4d4e25"/>
    <p:sldId xmlns:r="http://schemas.openxmlformats.org/officeDocument/2006/relationships" id="291" r:id="Rb3f2da2ddc8c4219"/>
    <p:sldId xmlns:r="http://schemas.openxmlformats.org/officeDocument/2006/relationships" id="292" r:id="R332c22a054a24152"/>
    <p:sldId xmlns:r="http://schemas.openxmlformats.org/officeDocument/2006/relationships" id="293" r:id="Rf30c36be73e34b5c"/>
    <p:sldId xmlns:r="http://schemas.openxmlformats.org/officeDocument/2006/relationships" id="294" r:id="Rfdac16121e2f49a2"/>
    <p:sldId xmlns:r="http://schemas.openxmlformats.org/officeDocument/2006/relationships" id="295" r:id="Rb90e6cf1162a4a44"/>
  </p:sldIdLst>
  <p:sldSz cx="12192000" cy="7620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051089441b4822" /><Relationship Type="http://schemas.openxmlformats.org/officeDocument/2006/relationships/slideMaster" Target="/ppt/slideMasters/slideMaster1.xml" Id="R06af865dc9634ac4" /><Relationship Type="http://schemas.openxmlformats.org/officeDocument/2006/relationships/notesMaster" Target="/ppt/notesMasters/notesMaster1.xml" Id="R2a525020e9014955" /><Relationship Type="http://schemas.openxmlformats.org/officeDocument/2006/relationships/presProps" Target="/ppt/presProps.xml" Id="Rdba3ffb334154f0d" /><Relationship Type="http://schemas.openxmlformats.org/officeDocument/2006/relationships/tableStyles" Target="/ppt/tableStyles.xml" Id="R9a10d116a0ee4c00" /><Relationship Type="http://schemas.openxmlformats.org/officeDocument/2006/relationships/slide" Target="/ppt/slides/slide1.xml" Id="Rf69c7c6421e74bf4" /><Relationship Type="http://schemas.openxmlformats.org/officeDocument/2006/relationships/slide" Target="/ppt/slides/slide2.xml" Id="R5b11718ff2654524" /><Relationship Type="http://schemas.openxmlformats.org/officeDocument/2006/relationships/slide" Target="/ppt/slides/slide3.xml" Id="R851333a9b7c64c0f" /><Relationship Type="http://schemas.openxmlformats.org/officeDocument/2006/relationships/slide" Target="/ppt/slides/slide4.xml" Id="Rf9bb3bbf7f7f4249" /><Relationship Type="http://schemas.openxmlformats.org/officeDocument/2006/relationships/slide" Target="/ppt/slides/slide5.xml" Id="R0b81825608e146d9" /><Relationship Type="http://schemas.openxmlformats.org/officeDocument/2006/relationships/slide" Target="/ppt/slides/slide6.xml" Id="Rb5073ebf6dc44bb2" /><Relationship Type="http://schemas.openxmlformats.org/officeDocument/2006/relationships/slide" Target="/ppt/slides/slide7.xml" Id="Re7c7155d84fd403b" /><Relationship Type="http://schemas.openxmlformats.org/officeDocument/2006/relationships/slide" Target="/ppt/slides/slide8.xml" Id="Rb8f890c378ac4146" /><Relationship Type="http://schemas.openxmlformats.org/officeDocument/2006/relationships/slide" Target="/ppt/slides/slide9.xml" Id="R09ccdfb0dd554fad" /><Relationship Type="http://schemas.openxmlformats.org/officeDocument/2006/relationships/slide" Target="/ppt/slides/slide10.xml" Id="R178a7bf4734d4ee2" /><Relationship Type="http://schemas.openxmlformats.org/officeDocument/2006/relationships/slide" Target="/ppt/slides/slide11.xml" Id="R6c30484c0b064f21" /><Relationship Type="http://schemas.openxmlformats.org/officeDocument/2006/relationships/slide" Target="/ppt/slides/slide12.xml" Id="R58eb4fa51c59438e" /><Relationship Type="http://schemas.openxmlformats.org/officeDocument/2006/relationships/slide" Target="/ppt/slides/slide13.xml" Id="R7010b24c06504e90" /><Relationship Type="http://schemas.openxmlformats.org/officeDocument/2006/relationships/slide" Target="/ppt/slides/slide14.xml" Id="R5f9d315dd6a94935" /><Relationship Type="http://schemas.openxmlformats.org/officeDocument/2006/relationships/slide" Target="/ppt/slides/slide15.xml" Id="R940f28b0709f45c1" /><Relationship Type="http://schemas.openxmlformats.org/officeDocument/2006/relationships/slide" Target="/ppt/slides/slide16.xml" Id="R99b1013dab8d48e9" /><Relationship Type="http://schemas.openxmlformats.org/officeDocument/2006/relationships/slide" Target="/ppt/slides/slide17.xml" Id="R1f15f8411e3d46f6" /><Relationship Type="http://schemas.openxmlformats.org/officeDocument/2006/relationships/slide" Target="/ppt/slides/slide18.xml" Id="R372f76a7b20040ea" /><Relationship Type="http://schemas.openxmlformats.org/officeDocument/2006/relationships/slide" Target="/ppt/slides/slide19.xml" Id="Rbed8be1fe83e44aa" /><Relationship Type="http://schemas.openxmlformats.org/officeDocument/2006/relationships/slide" Target="/ppt/slides/slide20.xml" Id="Rd78c409701fa4b21" /><Relationship Type="http://schemas.openxmlformats.org/officeDocument/2006/relationships/slide" Target="/ppt/slides/slide21.xml" Id="Rf028ef08bb4549b1" /><Relationship Type="http://schemas.openxmlformats.org/officeDocument/2006/relationships/slide" Target="/ppt/slides/slide22.xml" Id="Ra077b77ce2534a98" /><Relationship Type="http://schemas.openxmlformats.org/officeDocument/2006/relationships/slide" Target="/ppt/slides/slide23.xml" Id="Re4b8708300414caf" /><Relationship Type="http://schemas.openxmlformats.org/officeDocument/2006/relationships/slide" Target="/ppt/slides/slide24.xml" Id="Rc83df449cc074d3b" /><Relationship Type="http://schemas.openxmlformats.org/officeDocument/2006/relationships/slide" Target="/ppt/slides/slide25.xml" Id="R2a3b60acf828414f" /><Relationship Type="http://schemas.openxmlformats.org/officeDocument/2006/relationships/slide" Target="/ppt/slides/slide26.xml" Id="Rda381afe1a3947d6" /><Relationship Type="http://schemas.openxmlformats.org/officeDocument/2006/relationships/slide" Target="/ppt/slides/slide27.xml" Id="R69af8e357e5b4277" /><Relationship Type="http://schemas.openxmlformats.org/officeDocument/2006/relationships/slide" Target="/ppt/slides/slide28.xml" Id="Ra2750013b43c4d1f" /><Relationship Type="http://schemas.openxmlformats.org/officeDocument/2006/relationships/slide" Target="/ppt/slides/slide29.xml" Id="Ra7d9f4058c2a470a" /><Relationship Type="http://schemas.openxmlformats.org/officeDocument/2006/relationships/slide" Target="/ppt/slides/slide30.xml" Id="Rb80a5a26e45c45fd" /><Relationship Type="http://schemas.openxmlformats.org/officeDocument/2006/relationships/slide" Target="/ppt/slides/slide31.xml" Id="R26e514f3c56b4921" /><Relationship Type="http://schemas.openxmlformats.org/officeDocument/2006/relationships/slide" Target="/ppt/slides/slide32.xml" Id="R6da2eb34af744bf2" /><Relationship Type="http://schemas.openxmlformats.org/officeDocument/2006/relationships/slide" Target="/ppt/slides/slide33.xml" Id="Rc1b5966f7e5f4d7c" /><Relationship Type="http://schemas.openxmlformats.org/officeDocument/2006/relationships/slide" Target="/ppt/slides/slide34.xml" Id="R4dc515edc88e411f" /><Relationship Type="http://schemas.openxmlformats.org/officeDocument/2006/relationships/slide" Target="/ppt/slides/slide35.xml" Id="R81f5671a2c4d4e25" /><Relationship Type="http://schemas.openxmlformats.org/officeDocument/2006/relationships/slide" Target="/ppt/slides/slide36.xml" Id="Rb3f2da2ddc8c4219" /><Relationship Type="http://schemas.openxmlformats.org/officeDocument/2006/relationships/slide" Target="/ppt/slides/slide37.xml" Id="R332c22a054a24152" /><Relationship Type="http://schemas.openxmlformats.org/officeDocument/2006/relationships/slide" Target="/ppt/slides/slide38.xml" Id="Rf30c36be73e34b5c" /><Relationship Type="http://schemas.openxmlformats.org/officeDocument/2006/relationships/slide" Target="/ppt/slides/slide39.xml" Id="Rfdac16121e2f49a2" /><Relationship Type="http://schemas.openxmlformats.org/officeDocument/2006/relationships/slide" Target="/ppt/slides/slide40.xml" Id="Rb90e6cf1162a4a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405dec3cce4d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a5241c7db84408" /><Relationship Type="http://schemas.openxmlformats.org/officeDocument/2006/relationships/notesMaster" Target="/ppt/notesMasters/notesMaster1.xml" Id="R5f665a35082044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73a65cbe624de8" /><Relationship Type="http://schemas.openxmlformats.org/officeDocument/2006/relationships/notesMaster" Target="/ppt/notesMasters/notesMaster1.xml" Id="R7530d3f5f7e948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7175c11d5b42af" /><Relationship Type="http://schemas.openxmlformats.org/officeDocument/2006/relationships/notesMaster" Target="/ppt/notesMasters/notesMaster1.xml" Id="R883de0fecb6440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fe310628094dae" /><Relationship Type="http://schemas.openxmlformats.org/officeDocument/2006/relationships/notesMaster" Target="/ppt/notesMasters/notesMaster1.xml" Id="Rc0efb5cd124048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eab3652c224ce9" /><Relationship Type="http://schemas.openxmlformats.org/officeDocument/2006/relationships/notesMaster" Target="/ppt/notesMasters/notesMaster1.xml" Id="Ra3f86e98fbb94e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d2288eab0d4226" /><Relationship Type="http://schemas.openxmlformats.org/officeDocument/2006/relationships/notesMaster" Target="/ppt/notesMasters/notesMaster1.xml" Id="R24c7c96f6de349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7524301eeb48db" /><Relationship Type="http://schemas.openxmlformats.org/officeDocument/2006/relationships/notesMaster" Target="/ppt/notesMasters/notesMaster1.xml" Id="R961be776c1524a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05db00a05b64632" /><Relationship Type="http://schemas.openxmlformats.org/officeDocument/2006/relationships/notesMaster" Target="/ppt/notesMasters/notesMaster1.xml" Id="Rdd80cbfd92b844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26523b1cee4ef5" /><Relationship Type="http://schemas.openxmlformats.org/officeDocument/2006/relationships/notesMaster" Target="/ppt/notesMasters/notesMaster1.xml" Id="Rcaf5efe9634d4aa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338847eeae413d" /><Relationship Type="http://schemas.openxmlformats.org/officeDocument/2006/relationships/notesMaster" Target="/ppt/notesMasters/notesMaster1.xml" Id="Red8067ca33734a0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b15dd9f1324a6f" /><Relationship Type="http://schemas.openxmlformats.org/officeDocument/2006/relationships/notesMaster" Target="/ppt/notesMasters/notesMaster1.xml" Id="R9afc4178668d405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95b14f5c09e4ba9" /><Relationship Type="http://schemas.openxmlformats.org/officeDocument/2006/relationships/notesMaster" Target="/ppt/notesMasters/notesMaster1.xml" Id="R22d9e3b598eb46b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3da86357b624b3f" /><Relationship Type="http://schemas.openxmlformats.org/officeDocument/2006/relationships/notesMaster" Target="/ppt/notesMasters/notesMaster1.xml" Id="Ra21d46749ad94f3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ed616d6c28946b8" /><Relationship Type="http://schemas.openxmlformats.org/officeDocument/2006/relationships/notesMaster" Target="/ppt/notesMasters/notesMaster1.xml" Id="Rea0408b55502482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3dfe8694669487a" /><Relationship Type="http://schemas.openxmlformats.org/officeDocument/2006/relationships/notesMaster" Target="/ppt/notesMasters/notesMaster1.xml" Id="R81735a87d2194cd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8a3d411885d4711" /><Relationship Type="http://schemas.openxmlformats.org/officeDocument/2006/relationships/notesMaster" Target="/ppt/notesMasters/notesMaster1.xml" Id="Ra2651dff0d9649d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de67bbd352f4dbe" /><Relationship Type="http://schemas.openxmlformats.org/officeDocument/2006/relationships/notesMaster" Target="/ppt/notesMasters/notesMaster1.xml" Id="Rc9c068087fe94df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505e828c5a849d2" /><Relationship Type="http://schemas.openxmlformats.org/officeDocument/2006/relationships/notesMaster" Target="/ppt/notesMasters/notesMaster1.xml" Id="R100ded512e354ff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cc0011f18414215" /><Relationship Type="http://schemas.openxmlformats.org/officeDocument/2006/relationships/notesMaster" Target="/ppt/notesMasters/notesMaster1.xml" Id="Rfd830b562ab14a2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bdcd8d240484a41" /><Relationship Type="http://schemas.openxmlformats.org/officeDocument/2006/relationships/notesMaster" Target="/ppt/notesMasters/notesMaster1.xml" Id="R19cfeb84c2e24e5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393b6432f5a4ddc" /><Relationship Type="http://schemas.openxmlformats.org/officeDocument/2006/relationships/notesMaster" Target="/ppt/notesMasters/notesMaster1.xml" Id="Rfa8e3f19aa22466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c5ea352ffea48cf" /><Relationship Type="http://schemas.openxmlformats.org/officeDocument/2006/relationships/notesMaster" Target="/ppt/notesMasters/notesMaster1.xml" Id="Ra6bdadd6aa324df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30d47a745db4af6" /><Relationship Type="http://schemas.openxmlformats.org/officeDocument/2006/relationships/notesMaster" Target="/ppt/notesMasters/notesMaster1.xml" Id="R21c6187f905f42e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370075641b7479c" /><Relationship Type="http://schemas.openxmlformats.org/officeDocument/2006/relationships/notesMaster" Target="/ppt/notesMasters/notesMaster1.xml" Id="R15fdcf2b58694b0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b1b1fc863194a2b" /><Relationship Type="http://schemas.openxmlformats.org/officeDocument/2006/relationships/notesMaster" Target="/ppt/notesMasters/notesMaster1.xml" Id="R56405101238c4d5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da1e17083314211" /><Relationship Type="http://schemas.openxmlformats.org/officeDocument/2006/relationships/notesMaster" Target="/ppt/notesMasters/notesMaster1.xml" Id="R4bf5e6f136444f0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a992ec62fc74e3c" /><Relationship Type="http://schemas.openxmlformats.org/officeDocument/2006/relationships/notesMaster" Target="/ppt/notesMasters/notesMaster1.xml" Id="R59935668eb7f43c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1869959ff6b4574" /><Relationship Type="http://schemas.openxmlformats.org/officeDocument/2006/relationships/notesMaster" Target="/ppt/notesMasters/notesMaster1.xml" Id="R4c7942625aac4a7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8afccab98ae4e51" /><Relationship Type="http://schemas.openxmlformats.org/officeDocument/2006/relationships/notesMaster" Target="/ppt/notesMasters/notesMaster1.xml" Id="Rd2084ec0f75541d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c19341e86974d2d" /><Relationship Type="http://schemas.openxmlformats.org/officeDocument/2006/relationships/notesMaster" Target="/ppt/notesMasters/notesMaster1.xml" Id="Ra6dc109ecb07484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47ee25bd3db4dbe" /><Relationship Type="http://schemas.openxmlformats.org/officeDocument/2006/relationships/notesMaster" Target="/ppt/notesMasters/notesMaster1.xml" Id="R066eb4ad570d439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7a185158f2e4afe" /><Relationship Type="http://schemas.openxmlformats.org/officeDocument/2006/relationships/notesMaster" Target="/ppt/notesMasters/notesMaster1.xml" Id="Rdd92e40d1d3e444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cb4694a308047ec" /><Relationship Type="http://schemas.openxmlformats.org/officeDocument/2006/relationships/notesMaster" Target="/ppt/notesMasters/notesMaster1.xml" Id="R0970c50cc34c47d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71931da03730433e" /><Relationship Type="http://schemas.openxmlformats.org/officeDocument/2006/relationships/notesMaster" Target="/ppt/notesMasters/notesMaster1.xml" Id="R68ac411227034d4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9d48f4ed9ca414c" /><Relationship Type="http://schemas.openxmlformats.org/officeDocument/2006/relationships/notesMaster" Target="/ppt/notesMasters/notesMaster1.xml" Id="R43325b39bd664f3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9b198cbb27f40d3" /><Relationship Type="http://schemas.openxmlformats.org/officeDocument/2006/relationships/notesMaster" Target="/ppt/notesMasters/notesMaster1.xml" Id="Ra485e7cdec3d4b1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61c524336134e84" /><Relationship Type="http://schemas.openxmlformats.org/officeDocument/2006/relationships/notesMaster" Target="/ppt/notesMasters/notesMaster1.xml" Id="R146ad707763e4e9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3a4d58e083f438a" /><Relationship Type="http://schemas.openxmlformats.org/officeDocument/2006/relationships/notesMaster" Target="/ppt/notesMasters/notesMaster1.xml" Id="Rb7b8a6730394447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d3e0c6ce28b4587" /><Relationship Type="http://schemas.openxmlformats.org/officeDocument/2006/relationships/notesMaster" Target="/ppt/notesMasters/notesMaster1.xml" Id="Ra50a0fcb78de4981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13f48d936db47fa" /><Relationship Type="http://schemas.openxmlformats.org/officeDocument/2006/relationships/notesMaster" Target="/ppt/notesMasters/notesMaster1.xml" Id="Rc4e3cbfa2ea847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Aprire ALTRO → MANUTENZIONE → VERIFICA E CORREZIONI. Le impostazioni di misura sono raccolte in un’area protetta; la consultazione quotidiana resta separata.</a:t>
            </a:r>
          </a:p>
          <a:p xmlns:a="http://schemas.openxmlformats.org/drawingml/2006/main">
            <a:r>
              <a:t>Controllare prima presenza e stato del SEN69C dalla pagina SENSORE. Verificare i collegamenti soltanto ad alimentazione scollegata.</a:t>
            </a:r>
          </a:p>
          <a:p xmlns:a="http://schemas.openxmlformats.org/drawingml/2006/main">
            <a:r>
              <a:t>Questa edizione descrive GUARDIAN 1.1.0, con le funzioni collaudate nella build TEST4 FIX1. I valori e i rapporti DEMO/2026 sono esempi, non risultati di un laboratorio.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pulizia della ventola è un’operazione di manutenzione del sensore. Avviare il ciclo e attendere il ripristino delle misure. Il completamento non certifica l’efficacia della pulizia.</a:t>
            </a:r>
          </a:p>
          <a:p xmlns:a="http://schemas.openxmlformats.org/drawingml/2006/main">
            <a:r>
              <a:t>Prima di confrontare strumenti, attendere la stabilizzazione e annotare posizione, condizioni ambientali, intervallo di misura e strumento utilizzato.</a:t>
            </a:r>
          </a:p>
          <a:p xmlns:a="http://schemas.openxmlformats.org/drawingml/2006/main">
            <a:r>
              <a:t>Usare la stessa grandezza e unità per GUARDIAN e riferimento. Per le polveri, anche il tipo di aerosol influisce sul confronto. Non correggere un problema di montaggio con un coefficiente.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 primo accesso scegliere un PIN di sei cifre e inserirlo due volte. Il PIN tecnico è distinto dalle credenziali della rete e dall’accesso web.</a:t>
            </a:r>
          </a:p>
          <a:p xmlns:a="http://schemas.openxmlformats.org/drawingml/2006/main">
            <a:r>
              <a:t>Dopo cinque tentativi errati attendere 60 secondi prima di riprovare. Dopo cinque minuti di inattività l’accesso tecnico scade. Conservare il PIN in modo sicuro.</a:t>
            </a:r>
          </a:p>
          <a:p xmlns:a="http://schemas.openxmlformats.org/drawingml/2006/main">
            <a:r>
              <a:t>Il PIN limita le modifiche dall’interfaccia: non cifra la memoria e non abilita Secure Boot. Non modificare le correzioni soltanto per ottenere valori più rassicuranti.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Sono disponibili PM1, PM2.5, PM4, PM10, temperatura, umidità relativa, HCHO e CO2. VOC e NOx sono indici relativi e non hanno una correzione utente in questa funzione.</a:t>
            </a:r>
          </a:p>
          <a:p xmlns:a="http://schemas.openxmlformats.org/drawingml/2006/main">
            <a:r>
              <a:t>Ogni parametro ha un proprio profilo: confronti, coefficiente o scostamento, intervallo valido e riferimento del rapporto. Si possono conservare fino a otto confronti per parametro.</a:t>
            </a:r>
          </a:p>
          <a:p xmlns:a="http://schemas.openxmlformats.org/drawingml/2006/main">
            <a:r>
              <a:t>Per il particolato si applica un fattore moltiplicativo; per gli altri parametri uno scostamento additivo. La funzione documenta un confronto: non attribuisce da sola una certificazione al prodotto.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Per attivare una correzione servono almeno tre valori originali distinti, un identificativo del rapporto e la conferma della verifica indipendente. Sono requisiti del software, non una procedura metrologica completa.</a:t>
            </a:r>
          </a:p>
          <a:p xmlns:a="http://schemas.openxmlformats.org/drawingml/2006/main">
            <a:r>
              <a:t>La correzione viene applicata soltanto nell’intervallo dei valori originali confrontati. Fuori da questo intervallo viene restituita la lettura originale.</a:t>
            </a:r>
          </a:p>
          <a:p xmlns:a="http://schemas.openxmlformats.org/drawingml/2006/main">
            <a:r>
              <a:t>DISATTIVA conserva i confronti ma sospende la correzione. AZZERA PROFILO cancella punti e coefficiente, dopo conferma. L’asterisco segnala un profilo attivo: non prova che il valore corrente sia nell’intervallo corretto.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 ORIGINALE mostra la lettura corrente prima della correzione software GUARDIAN. Non è il valore della prima accensione e non annulla una calibrazione interna del SEN69C.</a:t>
            </a:r>
          </a:p>
          <a:p xmlns:a="http://schemas.openxmlformats.org/drawingml/2006/main">
            <a:r>
              <a:t>Acquisire il valore nel campo del confronto, quindi inserire la lettura dello strumento di riferimento nelle stesse unità. Preferire medie sullo stesso intervallo, con condizioni stabili e strumenti collocati in modo comparabile.</a:t>
            </a:r>
          </a:p>
          <a:p xmlns:a="http://schemas.openxmlformats.org/drawingml/2006/main">
            <a:r>
              <a:t>Il rapporto accetta anche la barra /, per esempio DEMO/2026. Usare nella verifica reale il riferimento del rapporto effettivo. Salvare e controllare che il numero di confronti sia aumentato.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voce CO2 riunisce il profilo di correzione software e le operazioni interne del sensore. Scegliere il percorso in base alla verifica da eseguire.</a:t>
            </a:r>
          </a:p>
          <a:p xmlns:a="http://schemas.openxmlformats.org/drawingml/2006/main">
            <a:r>
              <a:t>La correzione software aggiunge uno scostamento alle letture nell’intervallo verificato ed è disattivabile. La calibrazione interna interviene invece sul canale CO2 del sensore.</a:t>
            </a:r>
          </a:p>
          <a:p xmlns:a="http://schemas.openxmlformats.org/drawingml/2006/main">
            <a:r>
              <a:t>Non sovrapporre le due operazioni: prima della calibrazione interna disabilitare la correzione software CO2. Registrare sempre quale intervento è stato eseguito e con quale riferimento.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schermata mostra un solo confronto: originale 887 ppm e scostamento calcolato +13 ppm. Il profilo è DISATTIVO e l’intervallo coincide con quel singolo punto.</a:t>
            </a:r>
          </a:p>
          <a:p xmlns:a="http://schemas.openxmlformats.org/drawingml/2006/main">
            <a:r>
              <a:t>Non è ancora possibile attivare una correzione validata dal controllo software. Occorrono almeno tre punti originali distinti, rapporto e verifica indipendente; ripetere lo stesso valore non amplia l’intervallo.</a:t>
            </a:r>
          </a:p>
          <a:p xmlns:a="http://schemas.openxmlformats.org/drawingml/2006/main">
            <a:r>
              <a:t>Scegliere punti rappresentativi delle condizioni d’impiego con un piano di confronto adeguato. Un laboratorio può definire punti, ripetizioni, incertezza e criteri di accettazione.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lettura originale continua ad aggiornarsi; il valore acquisito per il confronto resta quello selezionato. Controllare il riferimento prima di salvare.</a:t>
            </a:r>
          </a:p>
          <a:p xmlns:a="http://schemas.openxmlformats.org/drawingml/2006/main">
            <a:r>
              <a:t>I profili e il registro tecnico sono conservati sulla microSD. Per rendere persistenti le modifiche occorre una scheda presente e funzionante: attendere l’esito del salvataggio.</a:t>
            </a:r>
          </a:p>
          <a:p xmlns:a="http://schemas.openxmlformats.org/drawingml/2006/main">
            <a:r>
              <a:t>Un riavvio conserva PIN e profili. Prima di formattare, esportare i dati: la formattazione è distinta dal ripristino GUARDIAN e cancella i file della scheda. Dopo qualsiasi intervento ricontrollare i profili attivi.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Usare un riferimento affidabile e noto, nell’intervallo ammesso 400–2000 ppm. L’aria esterna non equivale automaticamente a 400 ppm. Evitare respiro e sorgenti locali; attendere condizioni stabili.</a:t>
            </a:r>
          </a:p>
          <a:p xmlns:a="http://schemas.openxmlformats.org/drawingml/2006/main">
            <a:r>
              <a:t>PREPARA avvia tre minuti di attesa. PRONTO non garantisce da solo l’equilibrio: verificare le condizioni, confermare e avviare CALIBRA. Attendere esito e ripresa delle misure.</a:t>
            </a:r>
          </a:p>
          <a:p xmlns:a="http://schemas.openxmlformats.org/drawingml/2006/main">
            <a:r>
              <a:t>RIPRISTINO CO2 riguarda il canale del sensore; non è il reset dell’intero GUARDIAN. Dopo il successo viene azzerato anche il profilo software CO2. Lasciare stabilizzare e ripetere il confronto. Il comando non emette un certificato.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 registro conserva gli ultimi 48 eventi: aggiunta di confronti, attivazione, disattivazione e cancellazione dei profili.</a:t>
            </a:r>
          </a:p>
          <a:p xmlns:a="http://schemas.openxmlformats.org/drawingml/2006/main">
            <a:r>
              <a:t>Per esportare: aprire il browser sulla stessa rete, MANUTENZIONE &gt; Verifica e correzioni (PIN). Inserire il PIN tecnico e premere ACCEDI. Scorrere a Registro modifiche e premere SCARICA CSV. Il file GUARDIAN_technical_audit.csv viene salvato nei download; il registro non viene cancellato.</a:t>
            </a:r>
          </a:p>
          <a:p xmlns:a="http://schemas.openxmlformats.org/drawingml/2006/main">
            <a:r>
              <a:t>Le colonne riportano sequenza, UTC, tempo dall’avvio, parametro, azione, origine, prima/dopo e rapporto. Prima/dopo indica fattore o scostamento. Conservare il CSV insieme al rapporto del laboratorio: non è un archivio immodificabile né un certificato. La nuova foto è ottimizzata per la lettura.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GUARDIAN: presentazione prodotto. Fotografie fornite dal proprietario. Copertina elaborata fotograficamente, schermate aggiornate fornite dal proprietario; rete, credenziali e seriali sostituiti con dati dimostrativi. Fonti complete nelle slide finali e nel manuale: https://sensirion.com/resource/datasheet/SEN6x ; https://www.who.int/publications/i/item/9789240034228 ; https://www.who.int/publications-detail-redirect/9789289002134 ; https://www.epa.gov/chemical-research/3d-printing-research-epa . Dichiarazioni dei componenti non equivalgono a certificazione GUARDIAN.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b33dd0c6c248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673b48a1db4a4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73214fb89d4cc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83724d9ad5434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dd682aabe84d5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7c035b3f3f4e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DAFF67-C22E-489C-982C-C2DB67640C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78667"/>
            <a:ext cx="9753600" cy="1100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A47C9DF-6E0A-47E3-B8EA-906E4384A0D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4191000"/>
            <a:ext cx="8534400" cy="84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A30621B-33E8-401B-8630-FC1F1C4054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3175000"/>
            <a:ext cx="9753600" cy="1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88EA190-9B64-4FF5-9E6E-92030B650F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92667"/>
            <a:ext cx="10820400" cy="931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9374C3F-AC7C-437A-9A85-55F1FBD887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16667"/>
            <a:ext cx="10820400" cy="4741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1B639DE-B4C8-4694-8E05-BDDDD73FEE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92667"/>
            <a:ext cx="10820400" cy="931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226CE56-AE19-4C91-99C5-920E279788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16667"/>
            <a:ext cx="5029200" cy="4741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07087E1-AE5B-4E73-BD6A-687479C9B99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2116667"/>
            <a:ext cx="5029200" cy="4741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D63D7AD-CC53-4F15-8A40-A2647D75C0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92667"/>
            <a:ext cx="10820400" cy="931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A0E6143-BEA3-45EF-A312-12D2BD91A1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16667"/>
            <a:ext cx="5029200" cy="4741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15130f364a4956" /><Relationship Type="http://schemas.openxmlformats.org/officeDocument/2006/relationships/slideLayout" Target="/ppt/slideLayouts/slideLayout1.xml" Id="Rc88881047e044c80" /><Relationship Type="http://schemas.openxmlformats.org/officeDocument/2006/relationships/slideLayout" Target="/ppt/slideLayouts/slideLayout2.xml" Id="Rbf36033f83334ee2" /><Relationship Type="http://schemas.openxmlformats.org/officeDocument/2006/relationships/slideLayout" Target="/ppt/slideLayouts/slideLayout3.xml" Id="R1d8d9faaeee84aed" /><Relationship Type="http://schemas.openxmlformats.org/officeDocument/2006/relationships/slideLayout" Target="/ppt/slideLayouts/slideLayout4.xml" Id="R5fae6d8f54514650" /><Relationship Type="http://schemas.openxmlformats.org/officeDocument/2006/relationships/slideLayout" Target="/ppt/slideLayouts/slideLayout5.xml" Id="R884aaebf08f0455a" /><Relationship Type="http://schemas.openxmlformats.org/officeDocument/2006/relationships/slideLayout" Target="/ppt/slideLayouts/slideLayout6.xml" Id="R70473f937d4e4a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8881047e044c80"/>
    <p:sldLayoutId xmlns:r="http://schemas.openxmlformats.org/officeDocument/2006/relationships" id="2147483650" r:id="Rbf36033f83334ee2"/>
    <p:sldLayoutId xmlns:r="http://schemas.openxmlformats.org/officeDocument/2006/relationships" id="2147483651" r:id="R1d8d9faaeee84aed"/>
    <p:sldLayoutId xmlns:r="http://schemas.openxmlformats.org/officeDocument/2006/relationships" id="2147483652" r:id="R5fae6d8f54514650"/>
    <p:sldLayoutId xmlns:r="http://schemas.openxmlformats.org/officeDocument/2006/relationships" id="2147483653" r:id="R884aaebf08f0455a"/>
    <p:sldLayoutId xmlns:r="http://schemas.openxmlformats.org/officeDocument/2006/relationships" id="2147483654" r:id="R70473f937d4e4a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7e6e45a8f74086" /><Relationship Type="http://schemas.openxmlformats.org/officeDocument/2006/relationships/image" Target="/ppt/media/image.png" Id="R2f5f80f08fe44ade" /><Relationship Type="http://schemas.openxmlformats.org/officeDocument/2006/relationships/notesSlide" Target="/ppt/notesSlides/notesSlide1.xml" Id="Rfb26344818d149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9edcf0eacb40a3" /><Relationship Type="http://schemas.openxmlformats.org/officeDocument/2006/relationships/image" Target="/ppt/media/image2.png" Id="R70d08befc0204f25" /><Relationship Type="http://schemas.openxmlformats.org/officeDocument/2006/relationships/notesSlide" Target="/ppt/notesSlides/notesSlide2.xml" Id="R6bf4a7e8fa3242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076288c50e4839" /><Relationship Type="http://schemas.openxmlformats.org/officeDocument/2006/relationships/notesSlide" Target="/ppt/notesSlides/notesSlide3.xml" Id="R0eb894b65b9d4c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3f4ff0739841e9" /><Relationship Type="http://schemas.openxmlformats.org/officeDocument/2006/relationships/image" Target="/ppt/media/image3.png" Id="Rfc02635215474482" /><Relationship Type="http://schemas.openxmlformats.org/officeDocument/2006/relationships/notesSlide" Target="/ppt/notesSlides/notesSlide4.xml" Id="Rc426b7c1eb5f41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42fb68e6a14fe0" /><Relationship Type="http://schemas.openxmlformats.org/officeDocument/2006/relationships/image" Target="/ppt/media/image4.png" Id="Rd0488cda636c4bb5" /><Relationship Type="http://schemas.openxmlformats.org/officeDocument/2006/relationships/notesSlide" Target="/ppt/notesSlides/notesSlide5.xml" Id="R2b0a2b0f41734e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c4794e5d7947ff" /><Relationship Type="http://schemas.openxmlformats.org/officeDocument/2006/relationships/image" Target="/ppt/media/image5.png" Id="Rfa4a966c12064715" /><Relationship Type="http://schemas.openxmlformats.org/officeDocument/2006/relationships/notesSlide" Target="/ppt/notesSlides/notesSlide6.xml" Id="Rc273e61ad36945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a41575189e4bb7" /><Relationship Type="http://schemas.openxmlformats.org/officeDocument/2006/relationships/image" Target="/ppt/media/image6.png" Id="Ra2c48405cf114d0f" /><Relationship Type="http://schemas.openxmlformats.org/officeDocument/2006/relationships/notesSlide" Target="/ppt/notesSlides/notesSlide7.xml" Id="R0ad0404ca9ba4b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88c1bf2d3442d7" /><Relationship Type="http://schemas.openxmlformats.org/officeDocument/2006/relationships/image" Target="/ppt/media/image7.png" Id="R060d671d4ca14cd3" /><Relationship Type="http://schemas.openxmlformats.org/officeDocument/2006/relationships/notesSlide" Target="/ppt/notesSlides/notesSlide8.xml" Id="Rf3e2844a24ba4e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51bfe52bed438f" /><Relationship Type="http://schemas.openxmlformats.org/officeDocument/2006/relationships/image" Target="/ppt/media/image8.png" Id="R94f8b9c6256f408a" /><Relationship Type="http://schemas.openxmlformats.org/officeDocument/2006/relationships/notesSlide" Target="/ppt/notesSlides/notesSlide9.xml" Id="R919dbe3611f146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f762f4b2d944d4" /><Relationship Type="http://schemas.openxmlformats.org/officeDocument/2006/relationships/image" Target="/ppt/media/image9.png" Id="Rbc6ef8cb4a4545a2" /><Relationship Type="http://schemas.openxmlformats.org/officeDocument/2006/relationships/notesSlide" Target="/ppt/notesSlides/notesSlide10.xml" Id="R0f7e9c5007b740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bed74a968344ac" /><Relationship Type="http://schemas.openxmlformats.org/officeDocument/2006/relationships/image" Target="/ppt/media/image10.png" Id="Rbdab94446d1f4b48" /><Relationship Type="http://schemas.openxmlformats.org/officeDocument/2006/relationships/notesSlide" Target="/ppt/notesSlides/notesSlide11.xml" Id="Rcc47974da6d0455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1f40896d2040e4" /><Relationship Type="http://schemas.openxmlformats.org/officeDocument/2006/relationships/image" Target="/ppt/media/image11.png" Id="R641326d7967943b1" /><Relationship Type="http://schemas.openxmlformats.org/officeDocument/2006/relationships/notesSlide" Target="/ppt/notesSlides/notesSlide12.xml" Id="Rbdf3c1a74e514d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d128fc6eaf40fe" /><Relationship Type="http://schemas.openxmlformats.org/officeDocument/2006/relationships/image" Target="/ppt/media/image12.png" Id="Rc40973a5c1dd4185" /><Relationship Type="http://schemas.openxmlformats.org/officeDocument/2006/relationships/notesSlide" Target="/ppt/notesSlides/notesSlide13.xml" Id="R1821ab38876142b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2fe8f0dc974188" /><Relationship Type="http://schemas.openxmlformats.org/officeDocument/2006/relationships/image" Target="/ppt/media/image13.png" Id="R298249b303e7499f" /><Relationship Type="http://schemas.openxmlformats.org/officeDocument/2006/relationships/notesSlide" Target="/ppt/notesSlides/notesSlide14.xml" Id="R06fd678e0651482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b554df316649b8" /><Relationship Type="http://schemas.openxmlformats.org/officeDocument/2006/relationships/image" Target="/ppt/media/image14.png" Id="R54af5829a6274f93" /><Relationship Type="http://schemas.openxmlformats.org/officeDocument/2006/relationships/notesSlide" Target="/ppt/notesSlides/notesSlide15.xml" Id="Rc6331bc1dda7480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11e70f3a2f4f39" /><Relationship Type="http://schemas.openxmlformats.org/officeDocument/2006/relationships/image" Target="/ppt/media/image15.png" Id="R9989fac1f78949a7" /><Relationship Type="http://schemas.openxmlformats.org/officeDocument/2006/relationships/notesSlide" Target="/ppt/notesSlides/notesSlide16.xml" Id="R73478b44fd77409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c3721b967143cb" /><Relationship Type="http://schemas.openxmlformats.org/officeDocument/2006/relationships/image" Target="/ppt/media/image16.png" Id="R4bfca6dbb1ec4006" /><Relationship Type="http://schemas.openxmlformats.org/officeDocument/2006/relationships/notesSlide" Target="/ppt/notesSlides/notesSlide17.xml" Id="R3decf79ae14e4ec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fa0c5103854890" /><Relationship Type="http://schemas.openxmlformats.org/officeDocument/2006/relationships/image" Target="/ppt/media/image17.png" Id="Ra38495d6d436442d" /><Relationship Type="http://schemas.openxmlformats.org/officeDocument/2006/relationships/notesSlide" Target="/ppt/notesSlides/notesSlide18.xml" Id="Rb36fd78dfb3e47f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b2920e63a14acd" /><Relationship Type="http://schemas.openxmlformats.org/officeDocument/2006/relationships/image" Target="/ppt/media/image18.png" Id="Rf4e35d5639ce4eb9" /><Relationship Type="http://schemas.openxmlformats.org/officeDocument/2006/relationships/notesSlide" Target="/ppt/notesSlides/notesSlide19.xml" Id="R77e3d0baf3a44fb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391667df764dad" /><Relationship Type="http://schemas.openxmlformats.org/officeDocument/2006/relationships/image" Target="/ppt/media/image19.png" Id="R52120f8aca7f4d26" /><Relationship Type="http://schemas.openxmlformats.org/officeDocument/2006/relationships/notesSlide" Target="/ppt/notesSlides/notesSlide20.xml" Id="Rd0b11d80d2204ed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9584bc797940bf" /><Relationship Type="http://schemas.openxmlformats.org/officeDocument/2006/relationships/image" Target="/ppt/media/image20.png" Id="R133adb4ea953468f" /><Relationship Type="http://schemas.openxmlformats.org/officeDocument/2006/relationships/notesSlide" Target="/ppt/notesSlides/notesSlide21.xml" Id="R09f70d6ae9cb433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60566305834b81" /><Relationship Type="http://schemas.openxmlformats.org/officeDocument/2006/relationships/image" Target="/ppt/media/image21.png" Id="Rc46a33b0a22b4c52" /><Relationship Type="http://schemas.openxmlformats.org/officeDocument/2006/relationships/notesSlide" Target="/ppt/notesSlides/notesSlide22.xml" Id="Rf0426b49988749d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ebd0c21a9144aa" /><Relationship Type="http://schemas.openxmlformats.org/officeDocument/2006/relationships/image" Target="/ppt/media/image.jpeg" Id="Rb122d361a2564fb1" /><Relationship Type="http://schemas.openxmlformats.org/officeDocument/2006/relationships/image" Target="/ppt/media/image2.jpeg" Id="R7d0636314da04019" /><Relationship Type="http://schemas.openxmlformats.org/officeDocument/2006/relationships/notesSlide" Target="/ppt/notesSlides/notesSlide23.xml" Id="Rdf8bdf714fd1493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5be39aff3d425e" /><Relationship Type="http://schemas.openxmlformats.org/officeDocument/2006/relationships/notesSlide" Target="/ppt/notesSlides/notesSlide24.xml" Id="R497205dc9a0d477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5f1e4b4e68407a" /><Relationship Type="http://schemas.openxmlformats.org/officeDocument/2006/relationships/notesSlide" Target="/ppt/notesSlides/notesSlide25.xml" Id="R7b71ae4489484c5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87213937e34f78" /><Relationship Type="http://schemas.openxmlformats.org/officeDocument/2006/relationships/notesSlide" Target="/ppt/notesSlides/notesSlide26.xml" Id="R1ea86159f3434bd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fa0bb164e7497b" /><Relationship Type="http://schemas.openxmlformats.org/officeDocument/2006/relationships/notesSlide" Target="/ppt/notesSlides/notesSlide27.xml" Id="Rcda8bff82f9a42a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e80aad81f244fd" /><Relationship Type="http://schemas.openxmlformats.org/officeDocument/2006/relationships/image" Target="/ppt/media/image22.png" Id="R281cc4fa427440d1" /><Relationship Type="http://schemas.openxmlformats.org/officeDocument/2006/relationships/notesSlide" Target="/ppt/notesSlides/notesSlide28.xml" Id="R88d6953ef8fc421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dc7095d99544ba" /><Relationship Type="http://schemas.openxmlformats.org/officeDocument/2006/relationships/image" Target="/ppt/media/image23.png" Id="R5969ea0e33844654" /><Relationship Type="http://schemas.openxmlformats.org/officeDocument/2006/relationships/notesSlide" Target="/ppt/notesSlides/notesSlide29.xml" Id="R70b3e1b779dd461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cd52a864b44426" /><Relationship Type="http://schemas.openxmlformats.org/officeDocument/2006/relationships/notesSlide" Target="/ppt/notesSlides/notesSlide30.xml" Id="R6992785b1e1e479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9222c6842b474a" /><Relationship Type="http://schemas.openxmlformats.org/officeDocument/2006/relationships/notesSlide" Target="/ppt/notesSlides/notesSlide31.xml" Id="R5827e567190d455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2ad0b96ec944e8" /><Relationship Type="http://schemas.openxmlformats.org/officeDocument/2006/relationships/image" Target="/ppt/media/image24.png" Id="R82c76b8ab5bb4230" /><Relationship Type="http://schemas.openxmlformats.org/officeDocument/2006/relationships/image" Target="/ppt/media/image25.png" Id="R93022a1337694d35" /><Relationship Type="http://schemas.openxmlformats.org/officeDocument/2006/relationships/image" Target="/ppt/media/image26.png" Id="Rc5cdcb94b21a439c" /><Relationship Type="http://schemas.openxmlformats.org/officeDocument/2006/relationships/image" Target="/ppt/media/image27.png" Id="R094c0873d09740b3" /><Relationship Type="http://schemas.openxmlformats.org/officeDocument/2006/relationships/notesSlide" Target="/ppt/notesSlides/notesSlide32.xml" Id="Rdd655a0cdc2b49d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a41fb4185446f0" /><Relationship Type="http://schemas.openxmlformats.org/officeDocument/2006/relationships/image" Target="/ppt/media/image28.png" Id="Ra019ea07ce4344f3" /><Relationship Type="http://schemas.openxmlformats.org/officeDocument/2006/relationships/image" Target="/ppt/media/image29.png" Id="Rde352185f87a40ad" /><Relationship Type="http://schemas.openxmlformats.org/officeDocument/2006/relationships/image" Target="/ppt/media/image30.png" Id="R781bf2153bb545ab" /><Relationship Type="http://schemas.openxmlformats.org/officeDocument/2006/relationships/image" Target="/ppt/media/image31.png" Id="R4357282548414255" /><Relationship Type="http://schemas.openxmlformats.org/officeDocument/2006/relationships/notesSlide" Target="/ppt/notesSlides/notesSlide33.xml" Id="R28605783972847d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55864360cd44ff" /><Relationship Type="http://schemas.openxmlformats.org/officeDocument/2006/relationships/image" Target="/ppt/media/image32.png" Id="Rc2b61400ff1a4d10" /><Relationship Type="http://schemas.openxmlformats.org/officeDocument/2006/relationships/image" Target="/ppt/media/image33.png" Id="Rfbfb2e24593d4448" /><Relationship Type="http://schemas.openxmlformats.org/officeDocument/2006/relationships/image" Target="/ppt/media/image34.png" Id="R5e187f9db4d54600" /><Relationship Type="http://schemas.openxmlformats.org/officeDocument/2006/relationships/image" Target="/ppt/media/image35.png" Id="R101c838787da44cd" /><Relationship Type="http://schemas.openxmlformats.org/officeDocument/2006/relationships/notesSlide" Target="/ppt/notesSlides/notesSlide34.xml" Id="Red5b9799d1d34d0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c21bdbd83f4bad" /><Relationship Type="http://schemas.openxmlformats.org/officeDocument/2006/relationships/image" Target="/ppt/media/image36.png" Id="R1e1a2301413c4dab" /><Relationship Type="http://schemas.openxmlformats.org/officeDocument/2006/relationships/image" Target="/ppt/media/image37.png" Id="Rcdf9fe2f09d44165" /><Relationship Type="http://schemas.openxmlformats.org/officeDocument/2006/relationships/image" Target="/ppt/media/image38.png" Id="R4bc0e7fc4b1040ef" /><Relationship Type="http://schemas.openxmlformats.org/officeDocument/2006/relationships/image" Target="/ppt/media/image39.png" Id="Re737c072399b462d" /><Relationship Type="http://schemas.openxmlformats.org/officeDocument/2006/relationships/notesSlide" Target="/ppt/notesSlides/notesSlide35.xml" Id="R93eb99276306463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86e52c49554ed7" /><Relationship Type="http://schemas.openxmlformats.org/officeDocument/2006/relationships/image" Target="/ppt/media/image40.png" Id="R7f9fe55476d84a01" /><Relationship Type="http://schemas.openxmlformats.org/officeDocument/2006/relationships/notesSlide" Target="/ppt/notesSlides/notesSlide36.xml" Id="R5a991b64ab7f4413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48a94513474e46" /><Relationship Type="http://schemas.openxmlformats.org/officeDocument/2006/relationships/notesSlide" Target="/ppt/notesSlides/notesSlide37.xml" Id="R576e5be337e444b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2fc7ed4e174e59" /><Relationship Type="http://schemas.openxmlformats.org/officeDocument/2006/relationships/hyperlink" Target="https://sensirion.com/resource/datasheet/SEN6x" TargetMode="External" Id="R50ac0dd65203461b" /><Relationship Type="http://schemas.openxmlformats.org/officeDocument/2006/relationships/hyperlink" Target="https://sensirion.com/resource/datasheet/SEN6x" TargetMode="External" Id="R7305cd34a53b49c1" /><Relationship Type="http://schemas.openxmlformats.org/officeDocument/2006/relationships/hyperlink" Target="https://sensirion.com/media/documents/85536ECA/6A0D6A53/CalibrationCertification_SEN5x_6x.pdf" TargetMode="External" Id="Rb01b2b5dae104d40" /><Relationship Type="http://schemas.openxmlformats.org/officeDocument/2006/relationships/hyperlink" Target="https://sensirion.com/media/documents/85536ECA/6A0D6A53/CalibrationCertification_SEN5x_6x.pdf" TargetMode="External" Id="Rd9b3e45a954f4fa0" /><Relationship Type="http://schemas.openxmlformats.org/officeDocument/2006/relationships/hyperlink" Target="https://sensirion.com/media/documents/4C2A5D87/6A70A6FF/SEN6x_Mechanical_Design_and_Assembly_Guidelines.pdf" TargetMode="External" Id="R5d7de2ebe4d94436" /><Relationship Type="http://schemas.openxmlformats.org/officeDocument/2006/relationships/hyperlink" Target="https://sensirion.com/media/documents/4C2A5D87/6A70A6FF/SEN6x_Mechanical_Design_and_Assembly_Guidelines.pdf" TargetMode="External" Id="R0c9aba470aa34f1d" /><Relationship Type="http://schemas.openxmlformats.org/officeDocument/2006/relationships/hyperlink" Target="https://sensirion.com/media/documents/63F6CCF0/69709F54/PS_AN_SEN6x_Sensor_Specification_Statement_D1.pdf" TargetMode="External" Id="R04e6ff636e87435e" /><Relationship Type="http://schemas.openxmlformats.org/officeDocument/2006/relationships/hyperlink" Target="https://sensirion.com/media/documents/63F6CCF0/69709F54/PS_AN_SEN6x_Sensor_Specification_Statement_D1.pdf" TargetMode="External" Id="Re3d34566c9f14c8b" /><Relationship Type="http://schemas.openxmlformats.org/officeDocument/2006/relationships/hyperlink" Target="https://sensirion.com/media/documents/C964FCC8/69709EC3/PS_AN_SEN6x_Temperature_Compensation_and_Acceleration_Application_No.pdf" TargetMode="External" Id="Rb07b5c1c5b2f4c70" /><Relationship Type="http://schemas.openxmlformats.org/officeDocument/2006/relationships/hyperlink" Target="https://sensirion.com/media/documents/C964FCC8/69709EC3/PS_AN_SEN6x_Temperature_Compensation_and_Acceleration_Application_No.pdf" TargetMode="External" Id="Rc69a7c4a7e6a423b" /><Relationship Type="http://schemas.openxmlformats.org/officeDocument/2006/relationships/hyperlink" Target="https://www.who.int/publications/i/item/9789240034228" TargetMode="External" Id="Re094f730e3e3417c" /><Relationship Type="http://schemas.openxmlformats.org/officeDocument/2006/relationships/hyperlink" Target="https://www.who.int/publications/i/item/9789240034228" TargetMode="External" Id="R8e6f4ce99a374876" /><Relationship Type="http://schemas.openxmlformats.org/officeDocument/2006/relationships/hyperlink" Target="https://www.who.int/publications-detail-redirect/9789289002134" TargetMode="External" Id="R08041d327ca84e71" /><Relationship Type="http://schemas.openxmlformats.org/officeDocument/2006/relationships/hyperlink" Target="https://www.who.int/publications-detail-redirect/9789289002134" TargetMode="External" Id="Rbcad283677804c7e" /><Relationship Type="http://schemas.openxmlformats.org/officeDocument/2006/relationships/notesSlide" Target="/ppt/notesSlides/notesSlide38.xml" Id="Rc1fbdfbf31b6475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8d3b827c014806" /><Relationship Type="http://schemas.openxmlformats.org/officeDocument/2006/relationships/hyperlink" Target="https://www.epa.gov/chemical-research/3d-printing-research-epa" TargetMode="External" Id="R16e9452bcf9e4aa7" /><Relationship Type="http://schemas.openxmlformats.org/officeDocument/2006/relationships/hyperlink" Target="https://www.epa.gov/chemical-research/3d-printing-research-epa" TargetMode="External" Id="R507a87ec86f748bd" /><Relationship Type="http://schemas.openxmlformats.org/officeDocument/2006/relationships/hyperlink" Target="https://www.epa.gov/air-sensor-toolbox" TargetMode="External" Id="R84a9d44650474702" /><Relationship Type="http://schemas.openxmlformats.org/officeDocument/2006/relationships/hyperlink" Target="https://www.epa.gov/air-sensor-toolbox" TargetMode="External" Id="R52387bb157444de8" /><Relationship Type="http://schemas.openxmlformats.org/officeDocument/2006/relationships/hyperlink" Target="https://www.umweltbundesamt.de/richtig-lueften-in-schulen" TargetMode="External" Id="R7e438f36f88e4663" /><Relationship Type="http://schemas.openxmlformats.org/officeDocument/2006/relationships/hyperlink" Target="https://www.umweltbundesamt.de/richtig-lueften-in-schulen" TargetMode="External" Id="Rdfbe893968724732" /><Relationship Type="http://schemas.openxmlformats.org/officeDocument/2006/relationships/hyperlink" Target="https://eur-lex.europa.eu/eli/dir/2014/53/oj" TargetMode="External" Id="Re3dce2b92d66405d" /><Relationship Type="http://schemas.openxmlformats.org/officeDocument/2006/relationships/hyperlink" Target="https://eur-lex.europa.eu/eli/dir/2014/53/oj" TargetMode="External" Id="R73925fe6e68d42e7" /><Relationship Type="http://schemas.openxmlformats.org/officeDocument/2006/relationships/hyperlink" Target="https://eur-lex.europa.eu/eli/dir/2011/65/oj" TargetMode="External" Id="Ra3f08ced23e44ccb" /><Relationship Type="http://schemas.openxmlformats.org/officeDocument/2006/relationships/hyperlink" Target="https://eur-lex.europa.eu/eli/dir/2011/65/oj" TargetMode="External" Id="Rec0411f7f9e84181" /><Relationship Type="http://schemas.openxmlformats.org/officeDocument/2006/relationships/hyperlink" Target="https://eur-lex.europa.eu/eli/dir_del/2015/863/oj" TargetMode="External" Id="R28dd9e9ebf6e4120" /><Relationship Type="http://schemas.openxmlformats.org/officeDocument/2006/relationships/hyperlink" Target="https://eur-lex.europa.eu/eli/dir_del/2015/863/oj" TargetMode="External" Id="R8e271d0af4fb4405" /><Relationship Type="http://schemas.openxmlformats.org/officeDocument/2006/relationships/hyperlink" Target="https://eur-lex.europa.eu/eli/dir/2012/19/oj" TargetMode="External" Id="Rda6bf209ea0644b0" /><Relationship Type="http://schemas.openxmlformats.org/officeDocument/2006/relationships/hyperlink" Target="https://eur-lex.europa.eu/eli/dir/2012/19/oj" TargetMode="External" Id="Rcf8e2e141dec4879" /><Relationship Type="http://schemas.openxmlformats.org/officeDocument/2006/relationships/notesSlide" Target="/ppt/notesSlides/notesSlide39.xml" Id="R5fa3862e8a5446e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fd355a974f4574" /><Relationship Type="http://schemas.openxmlformats.org/officeDocument/2006/relationships/hyperlink" Target="https://eur-lex.europa.eu/eli/reg/2006/1907/oj" TargetMode="External" Id="R4c8de0d4183049d4" /><Relationship Type="http://schemas.openxmlformats.org/officeDocument/2006/relationships/hyperlink" Target="https://eur-lex.europa.eu/eli/reg/2006/1907/oj" TargetMode="External" Id="R5937eec4d4df4cd5" /><Relationship Type="http://schemas.openxmlformats.org/officeDocument/2006/relationships/hyperlink" Target="https://sensirion.com/media/documents/09CF2E68/69DFAAD0/Sensirion_REACH-RoHS_Particulate-Matter-Sensor.pdf" TargetMode="External" Id="R1df7d848290e4639" /><Relationship Type="http://schemas.openxmlformats.org/officeDocument/2006/relationships/hyperlink" Target="https://sensirion.com/media/documents/09CF2E68/69DFAAD0/Sensirion_REACH-RoHS_Particulate-Matter-Sensor.pdf" TargetMode="External" Id="Rbc46d4e136a44b6e" /><Relationship Type="http://schemas.openxmlformats.org/officeDocument/2006/relationships/hyperlink" Target="https://docs.espressif.com/projects/arduino-esp32/en/latest/installing.html" TargetMode="External" Id="Rb09f6d429ed74ec8" /><Relationship Type="http://schemas.openxmlformats.org/officeDocument/2006/relationships/hyperlink" Target="https://docs.espressif.com/projects/arduino-esp32/en/latest/installing.html" TargetMode="External" Id="Ra04ce616d2dd4bc8" /><Relationship Type="http://schemas.openxmlformats.org/officeDocument/2006/relationships/hyperlink" Target="https://github.com/Freenove/Freenove_ESP32_S3_Display_FNK0115" TargetMode="External" Id="R0d7bcdc7b5e643ac" /><Relationship Type="http://schemas.openxmlformats.org/officeDocument/2006/relationships/hyperlink" Target="https://github.com/Freenove/Freenove_ESP32_S3_Display_FNK0115" TargetMode="External" Id="R7bac46d038c84e5a" /><Relationship Type="http://schemas.openxmlformats.org/officeDocument/2006/relationships/hyperlink" Target="https://sensirion.com/products/catalog/SEN69C" TargetMode="External" Id="Rf846d421178549af" /><Relationship Type="http://schemas.openxmlformats.org/officeDocument/2006/relationships/hyperlink" Target="https://sensirion.com/products/catalog/SEN69C" TargetMode="External" Id="R2a5d1c48065e4855" /><Relationship Type="http://schemas.openxmlformats.org/officeDocument/2006/relationships/notesSlide" Target="/ppt/notesSlides/notesSlide40.xml" Id="R24b944ea0a9a47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111D2-8168-4124-97F6-67C850C1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728A6-5430-467D-BAEF-EC2CAB91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6D79DF-AE86-4CCE-9F70-231B4A9B27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f80f08fe44ade"/>
          <a:stretch xmlns:a="http://schemas.openxmlformats.org/drawingml/2006/main"/>
        </p:blipFill>
        <p:spPr>
          <a:xfrm xmlns:a="http://schemas.openxmlformats.org/drawingml/2006/main">
            <a:off x="4927600" y="787400"/>
            <a:ext cx="6858000" cy="51435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77D4F-A640-4A08-8E8A-28856007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53340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44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44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44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44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44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44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44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44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44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44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44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44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GUARDIAN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F02227-9BA8-4D6A-8292-50DE0936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435100"/>
            <a:ext cx="41910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2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MAKERS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0D49C-7935-42FF-97AC-4AF7F290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476500"/>
            <a:ext cx="4191000" cy="84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L’ambiente durante</a:t>
            </a:r>
          </a:p>
          <a:p xmlns:a="http://schemas.openxmlformats.org/drawingml/2006/main">
            <a:pPr>
              <a:buNone/>
              <a:defRPr sz="2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la stampa 3D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BD0269-3BAD-41B9-BEE0-80456809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3759200"/>
            <a:ext cx="3619500" cy="5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Monitoraggio ambientale</a:t>
            </a:r>
          </a:p>
          <a:p xmlns:a="http://schemas.openxmlformats.org/drawingml/2006/main">
            <a:pPr>
              <a:buNone/>
              <a:defRPr sz="15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per gli spazi dei maker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B6BC17-A11D-4ECD-9105-2B872B9A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057900"/>
            <a:ext cx="35560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Presentazione prodotto</a:t>
            </a:r>
          </a:p>
          <a:p xmlns:a="http://schemas.openxmlformats.org/drawingml/2006/main">
            <a:pPr>
              <a:buNone/>
              <a:defRPr sz="11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Ottobre 2026</a:t>
            </a:r>
          </a:p>
        </p:txBody>
      </p:sp>
    </p:spTree>
    <p:extLst>
      <p:ext uri="{BB962C8B-B14F-4D97-AF65-F5344CB8AC3E}">
        <p14:creationId xmlns:p14="http://schemas.microsoft.com/office/powerpoint/2010/main" val="12901702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692CC-2FB5-455F-80E9-5AEA599B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IDENTITÀ DEL PROGETTO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832FE-96C7-45F3-9E0E-D4A1A549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Pensato per il banco di lavoro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88AC5-D85A-4FAB-9D4E-97396216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357BB6-558D-4701-9000-79E749AF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D68F4B-E810-448F-922B-29BAEEFBD8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d08befc0204f25"/>
          <a:stretch xmlns:a="http://schemas.openxmlformats.org/drawingml/2006/main"/>
        </p:blipFill>
        <p:spPr>
          <a:xfrm xmlns:a="http://schemas.openxmlformats.org/drawingml/2006/main">
            <a:off x="521719" y="1651000"/>
            <a:ext cx="5712963" cy="4572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0BAD27-F03F-4546-878A-CBFE3BE5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1651000"/>
            <a:ext cx="4940300" cy="29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Osservare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33C17B-E07D-4A95-8D47-E96575D7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1987550"/>
            <a:ext cx="4940300" cy="480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Seguire l’evoluzione dell’ambiente durante il lavoro e confrontare</a:t>
            </a:r>
          </a:p>
          <a:p xmlns:a="http://schemas.openxmlformats.org/drawingml/2006/main">
            <a: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momenti diversi della stessa sessione.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A86C04-F8FE-4953-BABF-AB6BB685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2645410"/>
            <a:ext cx="4940300" cy="29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Documentare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46E538-D297-4019-BDB9-32D384D9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2981960"/>
            <a:ext cx="4940300" cy="480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Conservare le letture in CSV e contestualizzarle con stato della</a:t>
            </a:r>
          </a:p>
          <a:p xmlns:a="http://schemas.openxmlformats.org/drawingml/2006/main">
            <a: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stampa e filamento comunicati dalla stampante.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3E309D-8624-4E2B-917D-163DA2DC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3639820"/>
            <a:ext cx="4940300" cy="29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Interpretare con prudenza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BB1D8E-6312-4C88-B70D-8976B3B1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3976370"/>
            <a:ext cx="4940300" cy="480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GUARDIAN è un monitor ambientale. Non è uno strumento di</a:t>
            </a:r>
          </a:p>
          <a:p xmlns:a="http://schemas.openxmlformats.org/drawingml/2006/main">
            <a: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riferimento, un rilevatore di sicurezza o un attestato di salubrità.</a:t>
            </a:r>
          </a:p>
        </p:txBody>
      </p:sp>
    </p:spTree>
    <p:extLst>
      <p:ext uri="{BB962C8B-B14F-4D97-AF65-F5344CB8AC3E}">
        <p14:creationId xmlns:p14="http://schemas.microsoft.com/office/powerpoint/2010/main" val="5436183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99D99D-1E67-403C-90C7-CE6EA45F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PARAMETRI OSSERVATI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1663D3-10D2-492D-9724-C94405E6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Dieci parametri, un’unica panoramica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E1344F-0D4A-489F-BC87-871F3F82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273F9-353F-4409-B7E8-384DB26E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419EAA-BA90-461E-B8DA-6A685FB11473}"/>
              </a:ext>
            </a:extLst>
          </p:cNvPr>
          <p:cNvGraphicFramePr/>
          <p:nvPr/>
        </p:nvGraphicFramePr>
        <p:xfrm>
          <a:off xmlns:a="http://schemas.openxmlformats.org/drawingml/2006/main" x="457200" y="1574800"/>
          <a:ext xmlns:a="http://schemas.openxmlformats.org/drawingml/2006/main" cx="11277600" cy="25069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21000"/>
                <a:gridCol w="1460500"/>
                <a:gridCol w="6896100"/>
              </a:tblGrid>
              <a:tr h="417830"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1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Parametro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263B59"/>
                      </a:solidFill>
                      <a:prstDash val="solid"/>
                    </a:lnL>
                    <a:lnR w="4763">
                      <a:solidFill>
                        <a:srgbClr val="263B59"/>
                      </a:solidFill>
                      <a:prstDash val="solid"/>
                    </a:lnR>
                    <a:lnT w="4763">
                      <a:solidFill>
                        <a:srgbClr val="263B59"/>
                      </a:solidFill>
                      <a:prstDash val="solid"/>
                    </a:lnT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63B59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1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Unità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T w="4763">
                      <a:solidFill>
                        <a:srgbClr val="263B59"/>
                      </a:solidFill>
                      <a:prstDash val="solid"/>
                    </a:lnT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63B59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1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Interpretazione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T w="4763">
                      <a:solidFill>
                        <a:srgbClr val="263B59"/>
                      </a:solidFill>
                      <a:prstDash val="solid"/>
                    </a:lnT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63B59"/>
                    </a:solidFill>
                  </a:tcPr>
                </a:tc>
              </a:tr>
              <a:tr h="417830"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PM1 / PM2.5 / PM4 / PM10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263B59"/>
                      </a:solidFill>
                      <a:prstDash val="solid"/>
                    </a:lnL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µg/m³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Concentrazioni di massa stimate otticamente nelle frazioni dimensionali.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</a:tr>
              <a:tr h="417830"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CO2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263B59"/>
                      </a:solidFill>
                      <a:prstDash val="solid"/>
                    </a:lnL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02C3D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ppm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02C3D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Supporto alla lettura del ricambio d’aria e dell’occupazione degli ambienti.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02C3D"/>
                    </a:solidFill>
                  </a:tcPr>
                </a:tc>
              </a:tr>
              <a:tr h="417830"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Temperatura / umidità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263B59"/>
                      </a:solidFill>
                      <a:prstDash val="solid"/>
                    </a:lnL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°C / % RH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Comfort personalizzabile, distinto dagli allarmi.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</a:tr>
              <a:tr h="417830"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VOC / NOx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263B59"/>
                      </a:solidFill>
                      <a:prstDash val="solid"/>
                    </a:lnL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02C3D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Indice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02C3D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Indicatori relativi, non concentrazioni di singole sostanze.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02C3D"/>
                    </a:solidFill>
                  </a:tcPr>
                </a:tc>
              </a:tr>
              <a:tr h="417830"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HCHO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263B59"/>
                      </a:solidFill>
                      <a:prstDash val="solid"/>
                    </a:lnL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ppb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3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Formaldeide; disponibile anche la media su 30 minuti.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67572A-8420-4C51-82A5-7FFF90CA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32500"/>
            <a:ext cx="112776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Sensore integrato Sensirion SEN69C. Caratteristiche e limiti: S1, S4, S19. Non misura direttamente le particelle ultrafini tipiche di alcune emissioni di stampa 3D.</a:t>
            </a:r>
          </a:p>
        </p:txBody>
      </p:sp>
    </p:spTree>
    <p:extLst>
      <p:ext uri="{BB962C8B-B14F-4D97-AF65-F5344CB8AC3E}">
        <p14:creationId xmlns:p14="http://schemas.microsoft.com/office/powerpoint/2010/main" val="10788885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B172DE-C34A-470E-A8DF-145DC31D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INTERFACCIA GUARDIAN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6601D9-6D95-48E8-95D2-2B78FD1D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HOME: una lettura immediata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E7519-72B7-4A2F-B442-90C91667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3199F-FF8A-40A3-AAFB-CD6C08DF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73CB63-928D-4C1D-9E5F-CC1B673FA7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02635215474482"/>
          <a:stretch xmlns:a="http://schemas.openxmlformats.org/drawingml/2006/main"/>
        </p:blipFill>
        <p:spPr>
          <a:xfrm xmlns:a="http://schemas.openxmlformats.org/drawingml/2006/main">
            <a:off x="1005417" y="1435100"/>
            <a:ext cx="5926667" cy="4445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6202B-02BE-4747-94BC-98E7B48F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57480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Valori e unità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FD31E2-CE32-475B-A163-681FC7FA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91960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Dieci riquadri riuniscono misure, indici e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indicazioni sintetiche.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FBCB70-C15E-4800-8B97-48BE8F71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593975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Soglie e comfort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4411A3-32FF-4B84-BDD1-23CAC985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938780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Le soglie personali sono distinte dalle fasce di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comfort di temperatura e umidità.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E68FFF-2588-488D-A46F-A6BA3E56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61315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Navigazione essenziale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7A7309-597B-426F-A94A-8B592129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95795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HOME, GRAFICI, PRINTER 3D, ALLARMI e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ALTRO restano accessibili.</a:t>
            </a:r>
          </a:p>
        </p:txBody>
      </p:sp>
    </p:spTree>
    <p:extLst>
      <p:ext uri="{BB962C8B-B14F-4D97-AF65-F5344CB8AC3E}">
        <p14:creationId xmlns:p14="http://schemas.microsoft.com/office/powerpoint/2010/main" val="15968620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3A1C9B-8CE5-467B-A9A9-6CC2AE75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INTERFACCIA GUARDIAN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AAB37-7FAE-4E28-9AC0-C092347D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Grafici: vedere l’andamento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71A02-6DAD-4B73-BE3A-FEC6E9CD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D6F646-654B-410D-8CAA-92244353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AC265-A05A-437D-B34E-4D66D76EA2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488cda636c4bb5"/>
          <a:stretch xmlns:a="http://schemas.openxmlformats.org/drawingml/2006/main"/>
        </p:blipFill>
        <p:spPr>
          <a:xfrm xmlns:a="http://schemas.openxmlformats.org/drawingml/2006/main">
            <a:off x="1180703" y="1435100"/>
            <a:ext cx="5576094" cy="4445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F7193B-C9B4-4C52-BEFA-86F7E38A3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57480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Finestre temporali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F7312-A823-4670-92AF-E523F671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91960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Viste su 2, 6, 12 e 24 ore, con griglia leggera e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valori interi sull’asse verticale.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07257-28A1-4D71-9FCC-B1C8CCEE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593975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Informazioni conservate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EC6113-F997-4F5F-A0CF-3363D380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938780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Valore attuale, statistiche e riferimenti restano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disponibili sotto il grafico.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C4E928-6E53-46CB-B9A6-2CE80E36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61315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Medie pertinenti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C6FCAD-84DE-423A-B67C-A09F0A04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95795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PM2.5 e PM10 su 24 ore; HCHO su 30 minuti. Le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finestre incomplete sono segnalate.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1E9ED1-239F-4B83-9038-F61FCA68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75400"/>
            <a:ext cx="112776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Storico grafico in memoria volatile; registrazione persistente su microSD. Le medie non trasformano il dispositivo in uno strumento normativo.</a:t>
            </a:r>
          </a:p>
        </p:txBody>
      </p:sp>
    </p:spTree>
    <p:extLst>
      <p:ext uri="{BB962C8B-B14F-4D97-AF65-F5344CB8AC3E}">
        <p14:creationId xmlns:p14="http://schemas.microsoft.com/office/powerpoint/2010/main" val="4045647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BC560B-0A79-4C72-B54B-9894D526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INTERFACCIA GUARDIAN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5069E2-3B09-4B14-8CB6-F11D3F6A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La stampa nel suo contesto ambientale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890FB-1463-4049-9D8A-B476C8DA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D4FC3-70F6-4AAF-AB16-01889092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F5658-EF87-452E-9CD2-9994893B6C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4a966c12064715"/>
          <a:stretch xmlns:a="http://schemas.openxmlformats.org/drawingml/2006/main"/>
        </p:blipFill>
        <p:spPr>
          <a:xfrm xmlns:a="http://schemas.openxmlformats.org/drawingml/2006/main">
            <a:off x="1239708" y="1435100"/>
            <a:ext cx="5458083" cy="4445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A0E20-E4C9-4E54-AAAC-D7A69984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57480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Prima, durante, picco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883427-37C9-47B0-A86C-6DF70708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91960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Confronto del parametro scelto con il periodo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precedente e con i valori della sessione.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BCC054-9B09-47F6-A701-7742A09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593975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Stato generale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10467-CFBD-4A39-93ED-8780E1BD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938780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Una barra riassume la condizione rispetto alle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soglie impostate dei parametri valutabili.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028D98-0018-4F7E-836B-53387289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61315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Una correlazione da interpretare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F9F89-164B-4907-BD95-2D290A9B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95795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Variazioni simultanee non dimostrano che la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stampante sia l’unica causa.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58839-3050-4CAD-9B07-E7D6E2F0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75400"/>
            <a:ext cx="112776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Una sessione iniziata a stampa già avviata o con lacune viene indicata come parziale.</a:t>
            </a:r>
          </a:p>
        </p:txBody>
      </p:sp>
    </p:spTree>
    <p:extLst>
      <p:ext uri="{BB962C8B-B14F-4D97-AF65-F5344CB8AC3E}">
        <p14:creationId xmlns:p14="http://schemas.microsoft.com/office/powerpoint/2010/main" val="10293805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3A8E53-083D-4982-AEB9-3A31A6CB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INTERFACCIA GUARDIAN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0E9D30-C74E-46E9-8044-9028710C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La pagina PRINTER 3D resta completa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02A04D-573D-43D5-9933-42B0F1DF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010AC-D2E2-4D95-994A-AC782309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06C729-271C-4443-A2BE-42E1B7F354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48405cf114d0f"/>
          <a:stretch xmlns:a="http://schemas.openxmlformats.org/drawingml/2006/main"/>
        </p:blipFill>
        <p:spPr>
          <a:xfrm xmlns:a="http://schemas.openxmlformats.org/drawingml/2006/main">
            <a:off x="381000" y="1480437"/>
            <a:ext cx="7175500" cy="43543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BC0293-3214-402C-8ED4-98DD3D72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57480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Stampante supportata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8FA62B-4FCC-4453-B747-64B961C6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91960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Una Bambu Lab sulla rete locale. Collaudi: A1 e collegamento X1 Carbon.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BFA43F-D15E-4AE7-9E5A-9A46DD7E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593975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Dati di lavorazione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E722AD-3D3E-4473-AE52-2AEE9A61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938780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Anteprima, avanzamento, layer, tempo residuo,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temperature e filamento quando disponibili.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F5587F-D0D4-4354-9CA2-28BE5504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61315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Continuità dei dati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DFE7BC-342E-422F-8FB4-75EF605E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95795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In caso di disconnessione, gli ultimi valori restano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distinguibili dai dati aggiornati.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4E84F8-5489-4B03-AF4D-382FA599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75400"/>
            <a:ext cx="112776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Il collegamento è di monitoraggio: GUARDIAN non arresta la stampante. Anteprima e nome dipendono dai dati e dal file disponibili sulla stampante.</a:t>
            </a:r>
          </a:p>
        </p:txBody>
      </p:sp>
    </p:spTree>
    <p:extLst>
      <p:ext uri="{BB962C8B-B14F-4D97-AF65-F5344CB8AC3E}">
        <p14:creationId xmlns:p14="http://schemas.microsoft.com/office/powerpoint/2010/main" val="3720180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844312-BC6B-4055-9C7C-AA0A9FDA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INTERFACCIA GUARDIAN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3F4D85-A813-4A8E-A7A2-AD7E8F72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Allarmi e comfort hanno ruoli diversi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A76A98-3E69-4823-A71F-1128444E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F3EF7C-9880-4E73-ADB5-7B6EA114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6D75C3-AE86-4B8E-B976-E88F255566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0d671d4ca14cd3"/>
          <a:stretch xmlns:a="http://schemas.openxmlformats.org/drawingml/2006/main"/>
        </p:blipFill>
        <p:spPr>
          <a:xfrm xmlns:a="http://schemas.openxmlformats.org/drawingml/2006/main">
            <a:off x="1115839" y="1435100"/>
            <a:ext cx="5705822" cy="4445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2D7158-4E91-434B-ACC8-B592B58A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57480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Centro allarmi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BBAC23-B552-4A50-8D44-5BAE2F4E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91960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Raccoglie gli eventi e rende visibili superamenti e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condizioni da controllare.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083312-5DD6-4573-B0F2-CDB93FD3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593975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Soglie personali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2B6E40-5150-43C8-AEC8-ED8909B10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938780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L’utente imposta i valori operativi, che non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equivalgono a limiti sanitari certificati.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E6A0AD-74F5-4439-967D-2B87D7D3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61315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Comfort discreto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49A85F-B30B-4A16-B64C-E5A9E786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957955"/>
            <a:ext cx="3784600" cy="719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Temperatura e umidità fuori dalla fascia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personale producono una segnalazione di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comfort.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D3E191-93AC-4EE1-8A29-7E568F16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75400"/>
            <a:ext cx="112776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La stampante normalmente spenta o inattiva non viene interpretata come guasto. La perdita dati durante una stampa è una condizione distinta.</a:t>
            </a:r>
          </a:p>
        </p:txBody>
      </p:sp>
    </p:spTree>
    <p:extLst>
      <p:ext uri="{BB962C8B-B14F-4D97-AF65-F5344CB8AC3E}">
        <p14:creationId xmlns:p14="http://schemas.microsoft.com/office/powerpoint/2010/main" val="3865419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563ACF-8832-4A8C-B019-711D0498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INTERFACCIA GUARDIAN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B78F80-8777-49AF-B79C-594A59B8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Consultazione anche a distanza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5A051A-F2A4-4981-80DD-06916306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FC1B9B-408D-4EFC-9256-1D5BEF142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3CF522-BE4A-4EDF-B1A5-AA0DEEFAB1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f8b9c6256f408a"/>
          <a:stretch xmlns:a="http://schemas.openxmlformats.org/drawingml/2006/main"/>
        </p:blipFill>
        <p:spPr>
          <a:xfrm xmlns:a="http://schemas.openxmlformats.org/drawingml/2006/main">
            <a:off x="1389199" y="1435100"/>
            <a:ext cx="5159102" cy="4445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1471B8-F8E0-4033-89D6-DF918DB9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57480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PC e smartphone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BBA790-4C73-481C-ACCB-FC4397E9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91960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Accesso dal browser sulla rete locale; accesso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remoto tramite VPN della propria rete.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9F6F3D-DC6E-4733-9B1A-3A6FEDA3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593975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Configurazione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27EC60-1DA4-4636-B797-BB8E4C11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938780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Rete, orario, illuminazione e impostazioni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disponibili nella versione web.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09CDC9-EB08-4734-905E-9E95F355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61315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Accesso identificabile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274E24-EF52-437D-9FFC-8E4CC4C0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95795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Indirizzo del dispositivo e intensità Wi-Fi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numerica nella pagina RETE.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50C677-045C-4636-BD7C-752F1DB0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75400"/>
            <a:ext cx="112776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Fotografia anonimizzata con dati dimostrativi. Il servizio web locale è HTTP: non esporlo direttamente a Internet.</a:t>
            </a:r>
          </a:p>
        </p:txBody>
      </p:sp>
    </p:spTree>
    <p:extLst>
      <p:ext uri="{BB962C8B-B14F-4D97-AF65-F5344CB8AC3E}">
        <p14:creationId xmlns:p14="http://schemas.microsoft.com/office/powerpoint/2010/main" val="20012321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023804-F73E-4C0B-8F9B-4BD1F06C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INTERFACCIA GUARDIAN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DCB0C-1B97-4D7C-99BF-6C3CF5F0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Luce e orario adattati all’ambiente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7C30E8-531D-4AF4-982E-9D329169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BE92E-EB4E-4055-8A09-54AB8DEE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01B853-E853-4E4A-AEB1-45D391A06C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6ef8cb4a4545a2"/>
          <a:stretch xmlns:a="http://schemas.openxmlformats.org/drawingml/2006/main"/>
        </p:blipFill>
        <p:spPr>
          <a:xfrm xmlns:a="http://schemas.openxmlformats.org/drawingml/2006/main">
            <a:off x="1088777" y="1435100"/>
            <a:ext cx="5759946" cy="4445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38764-C9E8-4883-BB9E-5B38E699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57480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Manuale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760C72-8922-40C2-8E42-F7204006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91960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Luminosità regolabile anche dal browser dello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smartphone.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C0250-FAE4-4C22-B430-F5562048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593975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Automatica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DFE7E5-F18A-4258-8B5D-C4E10603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938780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Livelli giorno/notte con inizio e fine, anche a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cavallo della mezzanotte.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6E84F8-0233-4A79-AE36-F85CFD91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61315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Fuso orario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781DDC-8F17-493E-B3E9-C6A31A93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95795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Selezione del fuso e gestione dell’ora legale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secondo il profilo scelto.</a:t>
            </a:r>
          </a:p>
        </p:txBody>
      </p:sp>
    </p:spTree>
    <p:extLst>
      <p:ext uri="{BB962C8B-B14F-4D97-AF65-F5344CB8AC3E}">
        <p14:creationId xmlns:p14="http://schemas.microsoft.com/office/powerpoint/2010/main" val="9984050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B2DC04-64BD-4EA8-9D38-20935F8D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INTERFACCIA GUARDIAN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4BC88B-3B01-4AA2-8670-AAB23019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Una traccia dei dati da conservare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E04AC2-6159-4311-A1C5-2ECB3163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2962FF-C119-446B-A54D-477FE927B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F82AFC-7E10-405A-B2E5-04B8CA7334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ab94446d1f4b48"/>
          <a:stretch xmlns:a="http://schemas.openxmlformats.org/drawingml/2006/main"/>
        </p:blipFill>
        <p:spPr>
          <a:xfrm xmlns:a="http://schemas.openxmlformats.org/drawingml/2006/main">
            <a:off x="1191615" y="1435100"/>
            <a:ext cx="5554269" cy="4445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70EE35-C4B9-4C2B-AB18-51BFC760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57480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microSD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92FBEC-76BE-42DB-8CA8-8BB6ADA3B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91960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Registrazione periodica in CSV con unità e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contesto della sessione.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9A56F-40FA-4BBE-9DA2-B3823861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593975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Download dal browser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28EBC5-8847-4346-8DE5-B334D430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938780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Accesso dedicato al CSV corrente e pagine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successive per lo storico.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EE2A33-B096-477D-9352-A51CBC21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61315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Gestione locale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6DED3-AF7B-484B-8713-875F90BF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95795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Lettura, test della scheda e formattazione con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conferma esplicita.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3626BE-44E5-4B88-975E-059E2E77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75400"/>
            <a:ext cx="112776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FORMATTA cancella tutti i file della microSD.</a:t>
            </a:r>
          </a:p>
        </p:txBody>
      </p:sp>
    </p:spTree>
    <p:extLst>
      <p:ext uri="{BB962C8B-B14F-4D97-AF65-F5344CB8AC3E}">
        <p14:creationId xmlns:p14="http://schemas.microsoft.com/office/powerpoint/2010/main" val="11832768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EF1B12-6DDC-4973-B09C-6A2DD577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1">
                <a:solidFill>
                  <a:srgbClr val="65A3FF"/>
                </a:solidFill>
              </a:defRPr>
            </a:defPPr>
            <a:lvl1pPr>
              <a:defRPr sz="1100" b="1">
                <a:solidFill>
                  <a:srgbClr val="65A3FF"/>
                </a:solidFill>
              </a:defRPr>
            </a:lvl1pPr>
            <a:lvl2pPr>
              <a:defRPr sz="1100" b="1">
                <a:solidFill>
                  <a:srgbClr val="65A3FF"/>
                </a:solidFill>
              </a:defRPr>
            </a:lvl2pPr>
            <a:lvl3pPr>
              <a:defRPr sz="1100" b="1">
                <a:solidFill>
                  <a:srgbClr val="65A3FF"/>
                </a:solidFill>
              </a:defRPr>
            </a:lvl3pPr>
            <a:lvl4pPr>
              <a:defRPr sz="1100" b="1">
                <a:solidFill>
                  <a:srgbClr val="65A3FF"/>
                </a:solidFill>
              </a:defRPr>
            </a:lvl4pPr>
            <a:lvl5pPr>
              <a:defRPr sz="1100" b="1">
                <a:solidFill>
                  <a:srgbClr val="65A3FF"/>
                </a:solidFill>
              </a:defRPr>
            </a:lvl5pPr>
            <a:lvl6pPr>
              <a:defRPr sz="1100" b="1">
                <a:solidFill>
                  <a:srgbClr val="65A3FF"/>
                </a:solidFill>
              </a:defRPr>
            </a:lvl6pPr>
            <a:lvl7pPr>
              <a:defRPr sz="1100" b="1">
                <a:solidFill>
                  <a:srgbClr val="65A3FF"/>
                </a:solidFill>
              </a:defRPr>
            </a:lvl7pPr>
            <a:lvl8pPr>
              <a:defRPr sz="1100" b="1">
                <a:solidFill>
                  <a:srgbClr val="65A3FF"/>
                </a:solidFill>
              </a:defRPr>
            </a:lvl8pPr>
            <a:lvl9pPr>
              <a:defRPr sz="1100" b="1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65A3FF"/>
                </a:solidFill>
              </a:defRPr>
            </a:pPr>
            <a:r>
              <a:rPr sz="1100" b="1">
                <a:solidFill>
                  <a:srgbClr val="65A3FF"/>
                </a:solidFill>
              </a:rPr>
              <a:t>GUARDIAN 1.1.0 / VERIFICA E CORREZIONI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D9A854-4CDF-4249-9EF3-99D986D9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7400"/>
            <a:ext cx="11277600" cy="104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00" b="1">
                <a:solidFill>
                  <a:srgbClr val="F6F8FC"/>
                </a:solidFill>
              </a:defRPr>
            </a:defPPr>
            <a:lvl1pPr>
              <a:defRPr sz="3100" b="1">
                <a:solidFill>
                  <a:srgbClr val="F6F8FC"/>
                </a:solidFill>
              </a:defRPr>
            </a:lvl1pPr>
            <a:lvl2pPr>
              <a:defRPr sz="3100" b="1">
                <a:solidFill>
                  <a:srgbClr val="F6F8FC"/>
                </a:solidFill>
              </a:defRPr>
            </a:lvl2pPr>
            <a:lvl3pPr>
              <a:defRPr sz="3100" b="1">
                <a:solidFill>
                  <a:srgbClr val="F6F8FC"/>
                </a:solidFill>
              </a:defRPr>
            </a:lvl3pPr>
            <a:lvl4pPr>
              <a:defRPr sz="3100" b="1">
                <a:solidFill>
                  <a:srgbClr val="F6F8FC"/>
                </a:solidFill>
              </a:defRPr>
            </a:lvl4pPr>
            <a:lvl5pPr>
              <a:defRPr sz="3100" b="1">
                <a:solidFill>
                  <a:srgbClr val="F6F8FC"/>
                </a:solidFill>
              </a:defRPr>
            </a:lvl5pPr>
            <a:lvl6pPr>
              <a:defRPr sz="3100" b="1">
                <a:solidFill>
                  <a:srgbClr val="F6F8FC"/>
                </a:solidFill>
              </a:defRPr>
            </a:lvl6pPr>
            <a:lvl7pPr>
              <a:defRPr sz="3100" b="1">
                <a:solidFill>
                  <a:srgbClr val="F6F8FC"/>
                </a:solidFill>
              </a:defRPr>
            </a:lvl7pPr>
            <a:lvl8pPr>
              <a:defRPr sz="3100" b="1">
                <a:solidFill>
                  <a:srgbClr val="F6F8FC"/>
                </a:solidFill>
              </a:defRPr>
            </a:lvl8pPr>
            <a:lvl9pPr>
              <a:defRPr sz="3100" b="1">
                <a:solidFill>
                  <a:srgbClr val="F6F8FC"/>
                </a:solidFill>
              </a:defRPr>
            </a:lvl9pPr>
          </a:lstStyle>
          <a:p xmlns:a="http://schemas.openxmlformats.org/drawingml/2006/main">
            <a:pPr>
              <a:defRPr sz="3100" b="1">
                <a:solidFill>
                  <a:srgbClr val="F6F8FC"/>
                </a:solidFill>
              </a:defRPr>
            </a:pPr>
            <a:r>
              <a:rPr sz="3100" b="1">
                <a:solidFill>
                  <a:srgbClr val="F6F8FC"/>
                </a:solidFill>
              </a:rPr>
              <a:t>Un percorso tecnico ordinato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9BB6C5-DE15-4C79-B9D4-3B2EDD14E3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1326d7967943b1"/>
          <a:stretch xmlns:a="http://schemas.openxmlformats.org/drawingml/2006/main"/>
        </p:blipFill>
        <p:spPr>
          <a:xfrm xmlns:a="http://schemas.openxmlformats.org/drawingml/2006/main">
            <a:off x="457200" y="1956644"/>
            <a:ext cx="6858000" cy="4113106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B464CC-3B78-4A42-A750-03B997F7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955800"/>
            <a:ext cx="3937000" cy="463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D7E1EE"/>
                </a:solidFill>
              </a:defRPr>
            </a:defPPr>
            <a:lvl1pPr>
              <a:defRPr sz="1800" b="0">
                <a:solidFill>
                  <a:srgbClr val="D7E1EE"/>
                </a:solidFill>
              </a:defRPr>
            </a:lvl1pPr>
            <a:lvl2pPr>
              <a:defRPr sz="1800" b="0">
                <a:solidFill>
                  <a:srgbClr val="D7E1EE"/>
                </a:solidFill>
              </a:defRPr>
            </a:lvl2pPr>
            <a:lvl3pPr>
              <a:defRPr sz="1800" b="0">
                <a:solidFill>
                  <a:srgbClr val="D7E1EE"/>
                </a:solidFill>
              </a:defRPr>
            </a:lvl3pPr>
            <a:lvl4pPr>
              <a:defRPr sz="1800" b="0">
                <a:solidFill>
                  <a:srgbClr val="D7E1EE"/>
                </a:solidFill>
              </a:defRPr>
            </a:lvl4pPr>
            <a:lvl5pPr>
              <a:defRPr sz="1800" b="0">
                <a:solidFill>
                  <a:srgbClr val="D7E1EE"/>
                </a:solidFill>
              </a:defRPr>
            </a:lvl5pPr>
            <a:lvl6pPr>
              <a:defRPr sz="1800" b="0">
                <a:solidFill>
                  <a:srgbClr val="D7E1EE"/>
                </a:solidFill>
              </a:defRPr>
            </a:lvl6pPr>
            <a:lvl7pPr>
              <a:defRPr sz="1800" b="0">
                <a:solidFill>
                  <a:srgbClr val="D7E1EE"/>
                </a:solidFill>
              </a:defRPr>
            </a:lvl7pPr>
            <a:lvl8pPr>
              <a:defRPr sz="1800" b="0">
                <a:solidFill>
                  <a:srgbClr val="D7E1EE"/>
                </a:solidFill>
              </a:defRPr>
            </a:lvl8pPr>
            <a:lvl9pPr>
              <a:defRPr sz="1800" b="0">
                <a:solidFill>
                  <a:srgbClr val="D7E1EE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Aprire ALTRO → MANUTENZIONE → VERIFICA E CORREZIONI.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Controllare prima presenza e stato del SEN69C dalla pagina SENSORE.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Questa edizione descrive GUARDIAN 1.1.0, con le funzioni collaudate nella build TEST4 FIX1.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622CE3-8965-460A-87D8-49E9CB4E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6858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00" b="0">
                <a:solidFill>
                  <a:srgbClr val="B9C4D3"/>
                </a:solidFill>
              </a:defRPr>
            </a:defPPr>
            <a:lvl1pPr>
              <a:defRPr sz="1000" b="0">
                <a:solidFill>
                  <a:srgbClr val="B9C4D3"/>
                </a:solidFill>
              </a:defRPr>
            </a:lvl1pPr>
            <a:lvl2pPr>
              <a:defRPr sz="1000" b="0">
                <a:solidFill>
                  <a:srgbClr val="B9C4D3"/>
                </a:solidFill>
              </a:defRPr>
            </a:lvl2pPr>
            <a:lvl3pPr>
              <a:defRPr sz="1000" b="0">
                <a:solidFill>
                  <a:srgbClr val="B9C4D3"/>
                </a:solidFill>
              </a:defRPr>
            </a:lvl3pPr>
            <a:lvl4pPr>
              <a:defRPr sz="1000" b="0">
                <a:solidFill>
                  <a:srgbClr val="B9C4D3"/>
                </a:solidFill>
              </a:defRPr>
            </a:lvl4pPr>
            <a:lvl5pPr>
              <a:defRPr sz="1000" b="0">
                <a:solidFill>
                  <a:srgbClr val="B9C4D3"/>
                </a:solidFill>
              </a:defRPr>
            </a:lvl5pPr>
            <a:lvl6pPr>
              <a:defRPr sz="1000" b="0">
                <a:solidFill>
                  <a:srgbClr val="B9C4D3"/>
                </a:solidFill>
              </a:defRPr>
            </a:lvl6pPr>
            <a:lvl7pPr>
              <a:defRPr sz="1000" b="0">
                <a:solidFill>
                  <a:srgbClr val="B9C4D3"/>
                </a:solidFill>
              </a:defRPr>
            </a:lvl7pPr>
            <a:lvl8pPr>
              <a:defRPr sz="1000" b="0">
                <a:solidFill>
                  <a:srgbClr val="B9C4D3"/>
                </a:solidFill>
              </a:defRPr>
            </a:lvl8pPr>
            <a:lvl9pPr>
              <a:defRPr sz="1000" b="0">
                <a:solidFill>
                  <a:srgbClr val="B9C4D3"/>
                </a:solidFill>
              </a:defRPr>
            </a:lvl9pPr>
          </a:lstStyle>
          <a:p xmlns:a="http://schemas.openxmlformats.org/drawingml/2006/main">
            <a:pPr>
              <a:defRPr sz="1000" b="0">
                <a:solidFill>
                  <a:srgbClr val="B9C4D3"/>
                </a:solidFill>
              </a:defRPr>
            </a:pPr>
            <a:r>
              <a:rPr sz="1000" b="0">
                <a:solidFill>
                  <a:srgbClr val="B9C4D3"/>
                </a:solidFill>
              </a:rPr>
              <a:t>Schermata dimostrativa ripulita da fotografia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6864C-F139-46B9-96D1-26935E06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34200"/>
            <a:ext cx="1111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0">
                <a:solidFill>
                  <a:srgbClr val="65A3FF"/>
                </a:solidFill>
              </a:defRPr>
            </a:defPPr>
            <a:lvl1pPr>
              <a:defRPr sz="1100" b="0">
                <a:solidFill>
                  <a:srgbClr val="65A3FF"/>
                </a:solidFill>
              </a:defRPr>
            </a:lvl1pPr>
            <a:lvl2pPr>
              <a:defRPr sz="1100" b="0">
                <a:solidFill>
                  <a:srgbClr val="65A3FF"/>
                </a:solidFill>
              </a:defRPr>
            </a:lvl2pPr>
            <a:lvl3pPr>
              <a:defRPr sz="1100" b="0">
                <a:solidFill>
                  <a:srgbClr val="65A3FF"/>
                </a:solidFill>
              </a:defRPr>
            </a:lvl3pPr>
            <a:lvl4pPr>
              <a:defRPr sz="1100" b="0">
                <a:solidFill>
                  <a:srgbClr val="65A3FF"/>
                </a:solidFill>
              </a:defRPr>
            </a:lvl4pPr>
            <a:lvl5pPr>
              <a:defRPr sz="1100" b="0">
                <a:solidFill>
                  <a:srgbClr val="65A3FF"/>
                </a:solidFill>
              </a:defRPr>
            </a:lvl5pPr>
            <a:lvl6pPr>
              <a:defRPr sz="1100" b="0">
                <a:solidFill>
                  <a:srgbClr val="65A3FF"/>
                </a:solidFill>
              </a:defRPr>
            </a:lvl6pPr>
            <a:lvl7pPr>
              <a:defRPr sz="1100" b="0">
                <a:solidFill>
                  <a:srgbClr val="65A3FF"/>
                </a:solidFill>
              </a:defRPr>
            </a:lvl7pPr>
            <a:lvl8pPr>
              <a:defRPr sz="1100" b="0">
                <a:solidFill>
                  <a:srgbClr val="65A3FF"/>
                </a:solidFill>
              </a:defRPr>
            </a:lvl8pPr>
            <a:lvl9pPr>
              <a:defRPr sz="1100" b="0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0">
                <a:solidFill>
                  <a:srgbClr val="65A3FF"/>
                </a:solidFill>
              </a:defRPr>
            </a:pPr>
            <a:r>
              <a:rPr sz="1100" b="0">
                <a:solidFill>
                  <a:srgbClr val="65A3FF"/>
                </a:solidFill>
              </a:rPr>
              <a:t>DEMO/2026 · Esempio, non certificazione</a:t>
            </a:r>
          </a:p>
        </p:txBody>
      </p:sp>
    </p:spTree>
    <p:extLst>
      <p:ext uri="{BB962C8B-B14F-4D97-AF65-F5344CB8AC3E}">
        <p14:creationId xmlns:p14="http://schemas.microsoft.com/office/powerpoint/2010/main" val="1924118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E2B14-3B02-41D4-9E1B-4FB2C4E3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1">
                <a:solidFill>
                  <a:srgbClr val="65A3FF"/>
                </a:solidFill>
              </a:defRPr>
            </a:defPPr>
            <a:lvl1pPr>
              <a:defRPr sz="1100" b="1">
                <a:solidFill>
                  <a:srgbClr val="65A3FF"/>
                </a:solidFill>
              </a:defRPr>
            </a:lvl1pPr>
            <a:lvl2pPr>
              <a:defRPr sz="1100" b="1">
                <a:solidFill>
                  <a:srgbClr val="65A3FF"/>
                </a:solidFill>
              </a:defRPr>
            </a:lvl2pPr>
            <a:lvl3pPr>
              <a:defRPr sz="1100" b="1">
                <a:solidFill>
                  <a:srgbClr val="65A3FF"/>
                </a:solidFill>
              </a:defRPr>
            </a:lvl3pPr>
            <a:lvl4pPr>
              <a:defRPr sz="1100" b="1">
                <a:solidFill>
                  <a:srgbClr val="65A3FF"/>
                </a:solidFill>
              </a:defRPr>
            </a:lvl4pPr>
            <a:lvl5pPr>
              <a:defRPr sz="1100" b="1">
                <a:solidFill>
                  <a:srgbClr val="65A3FF"/>
                </a:solidFill>
              </a:defRPr>
            </a:lvl5pPr>
            <a:lvl6pPr>
              <a:defRPr sz="1100" b="1">
                <a:solidFill>
                  <a:srgbClr val="65A3FF"/>
                </a:solidFill>
              </a:defRPr>
            </a:lvl6pPr>
            <a:lvl7pPr>
              <a:defRPr sz="1100" b="1">
                <a:solidFill>
                  <a:srgbClr val="65A3FF"/>
                </a:solidFill>
              </a:defRPr>
            </a:lvl7pPr>
            <a:lvl8pPr>
              <a:defRPr sz="1100" b="1">
                <a:solidFill>
                  <a:srgbClr val="65A3FF"/>
                </a:solidFill>
              </a:defRPr>
            </a:lvl8pPr>
            <a:lvl9pPr>
              <a:defRPr sz="1100" b="1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65A3FF"/>
                </a:solidFill>
              </a:defRPr>
            </a:pPr>
            <a:r>
              <a:rPr sz="1100" b="1">
                <a:solidFill>
                  <a:srgbClr val="65A3FF"/>
                </a:solidFill>
              </a:rPr>
              <a:t>GUARDIAN 1.1.0 / VERIFICA E CORREZIONI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70544D-9B25-4756-AA38-F52D20BE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7400"/>
            <a:ext cx="11277600" cy="104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00" b="1">
                <a:solidFill>
                  <a:srgbClr val="F6F8FC"/>
                </a:solidFill>
              </a:defRPr>
            </a:defPPr>
            <a:lvl1pPr>
              <a:defRPr sz="3100" b="1">
                <a:solidFill>
                  <a:srgbClr val="F6F8FC"/>
                </a:solidFill>
              </a:defRPr>
            </a:lvl1pPr>
            <a:lvl2pPr>
              <a:defRPr sz="3100" b="1">
                <a:solidFill>
                  <a:srgbClr val="F6F8FC"/>
                </a:solidFill>
              </a:defRPr>
            </a:lvl2pPr>
            <a:lvl3pPr>
              <a:defRPr sz="3100" b="1">
                <a:solidFill>
                  <a:srgbClr val="F6F8FC"/>
                </a:solidFill>
              </a:defRPr>
            </a:lvl3pPr>
            <a:lvl4pPr>
              <a:defRPr sz="3100" b="1">
                <a:solidFill>
                  <a:srgbClr val="F6F8FC"/>
                </a:solidFill>
              </a:defRPr>
            </a:lvl4pPr>
            <a:lvl5pPr>
              <a:defRPr sz="3100" b="1">
                <a:solidFill>
                  <a:srgbClr val="F6F8FC"/>
                </a:solidFill>
              </a:defRPr>
            </a:lvl5pPr>
            <a:lvl6pPr>
              <a:defRPr sz="3100" b="1">
                <a:solidFill>
                  <a:srgbClr val="F6F8FC"/>
                </a:solidFill>
              </a:defRPr>
            </a:lvl6pPr>
            <a:lvl7pPr>
              <a:defRPr sz="3100" b="1">
                <a:solidFill>
                  <a:srgbClr val="F6F8FC"/>
                </a:solidFill>
              </a:defRPr>
            </a:lvl7pPr>
            <a:lvl8pPr>
              <a:defRPr sz="3100" b="1">
                <a:solidFill>
                  <a:srgbClr val="F6F8FC"/>
                </a:solidFill>
              </a:defRPr>
            </a:lvl8pPr>
            <a:lvl9pPr>
              <a:defRPr sz="3100" b="1">
                <a:solidFill>
                  <a:srgbClr val="F6F8FC"/>
                </a:solidFill>
              </a:defRPr>
            </a:lvl9pPr>
          </a:lstStyle>
          <a:p xmlns:a="http://schemas.openxmlformats.org/drawingml/2006/main">
            <a:pPr>
              <a:defRPr sz="3100" b="1">
                <a:solidFill>
                  <a:srgbClr val="F6F8FC"/>
                </a:solidFill>
              </a:defRPr>
            </a:pPr>
            <a:r>
              <a:rPr sz="3100" b="1">
                <a:solidFill>
                  <a:srgbClr val="F6F8FC"/>
                </a:solidFill>
              </a:rPr>
              <a:t>Manutenzione e controlli preliminari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F3910-A125-49AE-97DB-F0431A75C4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0973a5c1dd4185"/>
          <a:stretch xmlns:a="http://schemas.openxmlformats.org/drawingml/2006/main"/>
        </p:blipFill>
        <p:spPr>
          <a:xfrm xmlns:a="http://schemas.openxmlformats.org/drawingml/2006/main">
            <a:off x="457200" y="1956644"/>
            <a:ext cx="6858000" cy="4113106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8007D-D0EE-4069-A9C7-42F1E8A7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955800"/>
            <a:ext cx="3937000" cy="463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D7E1EE"/>
                </a:solidFill>
              </a:defRPr>
            </a:defPPr>
            <a:lvl1pPr>
              <a:defRPr sz="1800" b="0">
                <a:solidFill>
                  <a:srgbClr val="D7E1EE"/>
                </a:solidFill>
              </a:defRPr>
            </a:lvl1pPr>
            <a:lvl2pPr>
              <a:defRPr sz="1800" b="0">
                <a:solidFill>
                  <a:srgbClr val="D7E1EE"/>
                </a:solidFill>
              </a:defRPr>
            </a:lvl2pPr>
            <a:lvl3pPr>
              <a:defRPr sz="1800" b="0">
                <a:solidFill>
                  <a:srgbClr val="D7E1EE"/>
                </a:solidFill>
              </a:defRPr>
            </a:lvl3pPr>
            <a:lvl4pPr>
              <a:defRPr sz="1800" b="0">
                <a:solidFill>
                  <a:srgbClr val="D7E1EE"/>
                </a:solidFill>
              </a:defRPr>
            </a:lvl4pPr>
            <a:lvl5pPr>
              <a:defRPr sz="1800" b="0">
                <a:solidFill>
                  <a:srgbClr val="D7E1EE"/>
                </a:solidFill>
              </a:defRPr>
            </a:lvl5pPr>
            <a:lvl6pPr>
              <a:defRPr sz="1800" b="0">
                <a:solidFill>
                  <a:srgbClr val="D7E1EE"/>
                </a:solidFill>
              </a:defRPr>
            </a:lvl6pPr>
            <a:lvl7pPr>
              <a:defRPr sz="1800" b="0">
                <a:solidFill>
                  <a:srgbClr val="D7E1EE"/>
                </a:solidFill>
              </a:defRPr>
            </a:lvl7pPr>
            <a:lvl8pPr>
              <a:defRPr sz="1800" b="0">
                <a:solidFill>
                  <a:srgbClr val="D7E1EE"/>
                </a:solidFill>
              </a:defRPr>
            </a:lvl8pPr>
            <a:lvl9pPr>
              <a:defRPr sz="1800" b="0">
                <a:solidFill>
                  <a:srgbClr val="D7E1EE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La pulizia della ventola è un’operazione di manutenzione del sensore.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Prima di confrontare strumenti, attendere la stabilizzazione e annotare posizione, condizioni ambientali, intervallo di misura e strumento utilizzato.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Usare la stessa grandezza e unità per GUARDIAN e riferimento.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0DEA7F-C5C4-47AD-9171-FD11C097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6858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00" b="0">
                <a:solidFill>
                  <a:srgbClr val="B9C4D3"/>
                </a:solidFill>
              </a:defRPr>
            </a:defPPr>
            <a:lvl1pPr>
              <a:defRPr sz="1000" b="0">
                <a:solidFill>
                  <a:srgbClr val="B9C4D3"/>
                </a:solidFill>
              </a:defRPr>
            </a:lvl1pPr>
            <a:lvl2pPr>
              <a:defRPr sz="1000" b="0">
                <a:solidFill>
                  <a:srgbClr val="B9C4D3"/>
                </a:solidFill>
              </a:defRPr>
            </a:lvl2pPr>
            <a:lvl3pPr>
              <a:defRPr sz="1000" b="0">
                <a:solidFill>
                  <a:srgbClr val="B9C4D3"/>
                </a:solidFill>
              </a:defRPr>
            </a:lvl3pPr>
            <a:lvl4pPr>
              <a:defRPr sz="1000" b="0">
                <a:solidFill>
                  <a:srgbClr val="B9C4D3"/>
                </a:solidFill>
              </a:defRPr>
            </a:lvl4pPr>
            <a:lvl5pPr>
              <a:defRPr sz="1000" b="0">
                <a:solidFill>
                  <a:srgbClr val="B9C4D3"/>
                </a:solidFill>
              </a:defRPr>
            </a:lvl5pPr>
            <a:lvl6pPr>
              <a:defRPr sz="1000" b="0">
                <a:solidFill>
                  <a:srgbClr val="B9C4D3"/>
                </a:solidFill>
              </a:defRPr>
            </a:lvl6pPr>
            <a:lvl7pPr>
              <a:defRPr sz="1000" b="0">
                <a:solidFill>
                  <a:srgbClr val="B9C4D3"/>
                </a:solidFill>
              </a:defRPr>
            </a:lvl7pPr>
            <a:lvl8pPr>
              <a:defRPr sz="1000" b="0">
                <a:solidFill>
                  <a:srgbClr val="B9C4D3"/>
                </a:solidFill>
              </a:defRPr>
            </a:lvl8pPr>
            <a:lvl9pPr>
              <a:defRPr sz="1000" b="0">
                <a:solidFill>
                  <a:srgbClr val="B9C4D3"/>
                </a:solidFill>
              </a:defRPr>
            </a:lvl9pPr>
          </a:lstStyle>
          <a:p xmlns:a="http://schemas.openxmlformats.org/drawingml/2006/main">
            <a:pPr>
              <a:defRPr sz="1000" b="0">
                <a:solidFill>
                  <a:srgbClr val="B9C4D3"/>
                </a:solidFill>
              </a:defRPr>
            </a:pPr>
            <a:r>
              <a:rPr sz="1000" b="0">
                <a:solidFill>
                  <a:srgbClr val="B9C4D3"/>
                </a:solidFill>
              </a:rPr>
              <a:t>Schermata dimostrativa ripulita da fotografia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7921DF-0CF2-43E2-9D94-DB900E79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34200"/>
            <a:ext cx="1111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0">
                <a:solidFill>
                  <a:srgbClr val="65A3FF"/>
                </a:solidFill>
              </a:defRPr>
            </a:defPPr>
            <a:lvl1pPr>
              <a:defRPr sz="1100" b="0">
                <a:solidFill>
                  <a:srgbClr val="65A3FF"/>
                </a:solidFill>
              </a:defRPr>
            </a:lvl1pPr>
            <a:lvl2pPr>
              <a:defRPr sz="1100" b="0">
                <a:solidFill>
                  <a:srgbClr val="65A3FF"/>
                </a:solidFill>
              </a:defRPr>
            </a:lvl2pPr>
            <a:lvl3pPr>
              <a:defRPr sz="1100" b="0">
                <a:solidFill>
                  <a:srgbClr val="65A3FF"/>
                </a:solidFill>
              </a:defRPr>
            </a:lvl3pPr>
            <a:lvl4pPr>
              <a:defRPr sz="1100" b="0">
                <a:solidFill>
                  <a:srgbClr val="65A3FF"/>
                </a:solidFill>
              </a:defRPr>
            </a:lvl4pPr>
            <a:lvl5pPr>
              <a:defRPr sz="1100" b="0">
                <a:solidFill>
                  <a:srgbClr val="65A3FF"/>
                </a:solidFill>
              </a:defRPr>
            </a:lvl5pPr>
            <a:lvl6pPr>
              <a:defRPr sz="1100" b="0">
                <a:solidFill>
                  <a:srgbClr val="65A3FF"/>
                </a:solidFill>
              </a:defRPr>
            </a:lvl6pPr>
            <a:lvl7pPr>
              <a:defRPr sz="1100" b="0">
                <a:solidFill>
                  <a:srgbClr val="65A3FF"/>
                </a:solidFill>
              </a:defRPr>
            </a:lvl7pPr>
            <a:lvl8pPr>
              <a:defRPr sz="1100" b="0">
                <a:solidFill>
                  <a:srgbClr val="65A3FF"/>
                </a:solidFill>
              </a:defRPr>
            </a:lvl8pPr>
            <a:lvl9pPr>
              <a:defRPr sz="1100" b="0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0">
                <a:solidFill>
                  <a:srgbClr val="65A3FF"/>
                </a:solidFill>
              </a:defRPr>
            </a:pPr>
            <a:r>
              <a:rPr sz="1100" b="0">
                <a:solidFill>
                  <a:srgbClr val="65A3FF"/>
                </a:solidFill>
              </a:rPr>
              <a:t>DEMO/2026 · Esempio, non certificazione</a:t>
            </a:r>
          </a:p>
        </p:txBody>
      </p:sp>
    </p:spTree>
    <p:extLst>
      <p:ext uri="{BB962C8B-B14F-4D97-AF65-F5344CB8AC3E}">
        <p14:creationId xmlns:p14="http://schemas.microsoft.com/office/powerpoint/2010/main" val="3633981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E3C742-5A09-4DCE-BC16-B686E6E0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1">
                <a:solidFill>
                  <a:srgbClr val="65A3FF"/>
                </a:solidFill>
              </a:defRPr>
            </a:defPPr>
            <a:lvl1pPr>
              <a:defRPr sz="1100" b="1">
                <a:solidFill>
                  <a:srgbClr val="65A3FF"/>
                </a:solidFill>
              </a:defRPr>
            </a:lvl1pPr>
            <a:lvl2pPr>
              <a:defRPr sz="1100" b="1">
                <a:solidFill>
                  <a:srgbClr val="65A3FF"/>
                </a:solidFill>
              </a:defRPr>
            </a:lvl2pPr>
            <a:lvl3pPr>
              <a:defRPr sz="1100" b="1">
                <a:solidFill>
                  <a:srgbClr val="65A3FF"/>
                </a:solidFill>
              </a:defRPr>
            </a:lvl3pPr>
            <a:lvl4pPr>
              <a:defRPr sz="1100" b="1">
                <a:solidFill>
                  <a:srgbClr val="65A3FF"/>
                </a:solidFill>
              </a:defRPr>
            </a:lvl4pPr>
            <a:lvl5pPr>
              <a:defRPr sz="1100" b="1">
                <a:solidFill>
                  <a:srgbClr val="65A3FF"/>
                </a:solidFill>
              </a:defRPr>
            </a:lvl5pPr>
            <a:lvl6pPr>
              <a:defRPr sz="1100" b="1">
                <a:solidFill>
                  <a:srgbClr val="65A3FF"/>
                </a:solidFill>
              </a:defRPr>
            </a:lvl6pPr>
            <a:lvl7pPr>
              <a:defRPr sz="1100" b="1">
                <a:solidFill>
                  <a:srgbClr val="65A3FF"/>
                </a:solidFill>
              </a:defRPr>
            </a:lvl7pPr>
            <a:lvl8pPr>
              <a:defRPr sz="1100" b="1">
                <a:solidFill>
                  <a:srgbClr val="65A3FF"/>
                </a:solidFill>
              </a:defRPr>
            </a:lvl8pPr>
            <a:lvl9pPr>
              <a:defRPr sz="1100" b="1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65A3FF"/>
                </a:solidFill>
              </a:defRPr>
            </a:pPr>
            <a:r>
              <a:rPr sz="1100" b="1">
                <a:solidFill>
                  <a:srgbClr val="65A3FF"/>
                </a:solidFill>
              </a:rPr>
              <a:t>GUARDIAN 1.1.0 / VERIFICA E CORREZIONI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BD71D3-C63E-4D9B-B1EC-273B7266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7400"/>
            <a:ext cx="11277600" cy="104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00" b="1">
                <a:solidFill>
                  <a:srgbClr val="F6F8FC"/>
                </a:solidFill>
              </a:defRPr>
            </a:defPPr>
            <a:lvl1pPr>
              <a:defRPr sz="3100" b="1">
                <a:solidFill>
                  <a:srgbClr val="F6F8FC"/>
                </a:solidFill>
              </a:defRPr>
            </a:lvl1pPr>
            <a:lvl2pPr>
              <a:defRPr sz="3100" b="1">
                <a:solidFill>
                  <a:srgbClr val="F6F8FC"/>
                </a:solidFill>
              </a:defRPr>
            </a:lvl2pPr>
            <a:lvl3pPr>
              <a:defRPr sz="3100" b="1">
                <a:solidFill>
                  <a:srgbClr val="F6F8FC"/>
                </a:solidFill>
              </a:defRPr>
            </a:lvl3pPr>
            <a:lvl4pPr>
              <a:defRPr sz="3100" b="1">
                <a:solidFill>
                  <a:srgbClr val="F6F8FC"/>
                </a:solidFill>
              </a:defRPr>
            </a:lvl4pPr>
            <a:lvl5pPr>
              <a:defRPr sz="3100" b="1">
                <a:solidFill>
                  <a:srgbClr val="F6F8FC"/>
                </a:solidFill>
              </a:defRPr>
            </a:lvl5pPr>
            <a:lvl6pPr>
              <a:defRPr sz="3100" b="1">
                <a:solidFill>
                  <a:srgbClr val="F6F8FC"/>
                </a:solidFill>
              </a:defRPr>
            </a:lvl6pPr>
            <a:lvl7pPr>
              <a:defRPr sz="3100" b="1">
                <a:solidFill>
                  <a:srgbClr val="F6F8FC"/>
                </a:solidFill>
              </a:defRPr>
            </a:lvl7pPr>
            <a:lvl8pPr>
              <a:defRPr sz="3100" b="1">
                <a:solidFill>
                  <a:srgbClr val="F6F8FC"/>
                </a:solidFill>
              </a:defRPr>
            </a:lvl8pPr>
            <a:lvl9pPr>
              <a:defRPr sz="3100" b="1">
                <a:solidFill>
                  <a:srgbClr val="F6F8FC"/>
                </a:solidFill>
              </a:defRPr>
            </a:lvl9pPr>
          </a:lstStyle>
          <a:p xmlns:a="http://schemas.openxmlformats.org/drawingml/2006/main">
            <a:pPr>
              <a:defRPr sz="3100" b="1">
                <a:solidFill>
                  <a:srgbClr val="F6F8FC"/>
                </a:solidFill>
              </a:defRPr>
            </a:pPr>
            <a:r>
              <a:rPr sz="3100" b="1">
                <a:solidFill>
                  <a:srgbClr val="F6F8FC"/>
                </a:solidFill>
              </a:rPr>
              <a:t>Accesso tecnico: PIN a sei cifre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197619-0F65-402C-A7F7-7A3666A10C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8249b303e7499f"/>
          <a:stretch xmlns:a="http://schemas.openxmlformats.org/drawingml/2006/main"/>
        </p:blipFill>
        <p:spPr>
          <a:xfrm xmlns:a="http://schemas.openxmlformats.org/drawingml/2006/main">
            <a:off x="459317" y="1955797"/>
            <a:ext cx="6853767" cy="4114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C0B49-020A-4CB4-BFEB-77049D51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955800"/>
            <a:ext cx="3937000" cy="463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D7E1EE"/>
                </a:solidFill>
              </a:defRPr>
            </a:defPPr>
            <a:lvl1pPr>
              <a:defRPr sz="1800" b="0">
                <a:solidFill>
                  <a:srgbClr val="D7E1EE"/>
                </a:solidFill>
              </a:defRPr>
            </a:lvl1pPr>
            <a:lvl2pPr>
              <a:defRPr sz="1800" b="0">
                <a:solidFill>
                  <a:srgbClr val="D7E1EE"/>
                </a:solidFill>
              </a:defRPr>
            </a:lvl2pPr>
            <a:lvl3pPr>
              <a:defRPr sz="1800" b="0">
                <a:solidFill>
                  <a:srgbClr val="D7E1EE"/>
                </a:solidFill>
              </a:defRPr>
            </a:lvl3pPr>
            <a:lvl4pPr>
              <a:defRPr sz="1800" b="0">
                <a:solidFill>
                  <a:srgbClr val="D7E1EE"/>
                </a:solidFill>
              </a:defRPr>
            </a:lvl4pPr>
            <a:lvl5pPr>
              <a:defRPr sz="1800" b="0">
                <a:solidFill>
                  <a:srgbClr val="D7E1EE"/>
                </a:solidFill>
              </a:defRPr>
            </a:lvl5pPr>
            <a:lvl6pPr>
              <a:defRPr sz="1800" b="0">
                <a:solidFill>
                  <a:srgbClr val="D7E1EE"/>
                </a:solidFill>
              </a:defRPr>
            </a:lvl6pPr>
            <a:lvl7pPr>
              <a:defRPr sz="1800" b="0">
                <a:solidFill>
                  <a:srgbClr val="D7E1EE"/>
                </a:solidFill>
              </a:defRPr>
            </a:lvl7pPr>
            <a:lvl8pPr>
              <a:defRPr sz="1800" b="0">
                <a:solidFill>
                  <a:srgbClr val="D7E1EE"/>
                </a:solidFill>
              </a:defRPr>
            </a:lvl8pPr>
            <a:lvl9pPr>
              <a:defRPr sz="1800" b="0">
                <a:solidFill>
                  <a:srgbClr val="D7E1EE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Al primo accesso scegliere un PIN di sei cifre e inserirlo due volte.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Dopo cinque tentativi errati attendere 60 secondi prima di riprovare.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Il PIN limita le modifiche dall’interfaccia: non cifra la memoria e non abilita Secure Boot.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0EA0FC-EF1E-4870-A763-1F156C95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6858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00" b="0">
                <a:solidFill>
                  <a:srgbClr val="B9C4D3"/>
                </a:solidFill>
              </a:defRPr>
            </a:defPPr>
            <a:lvl1pPr>
              <a:defRPr sz="1000" b="0">
                <a:solidFill>
                  <a:srgbClr val="B9C4D3"/>
                </a:solidFill>
              </a:defRPr>
            </a:lvl1pPr>
            <a:lvl2pPr>
              <a:defRPr sz="1000" b="0">
                <a:solidFill>
                  <a:srgbClr val="B9C4D3"/>
                </a:solidFill>
              </a:defRPr>
            </a:lvl2pPr>
            <a:lvl3pPr>
              <a:defRPr sz="1000" b="0">
                <a:solidFill>
                  <a:srgbClr val="B9C4D3"/>
                </a:solidFill>
              </a:defRPr>
            </a:lvl3pPr>
            <a:lvl4pPr>
              <a:defRPr sz="1000" b="0">
                <a:solidFill>
                  <a:srgbClr val="B9C4D3"/>
                </a:solidFill>
              </a:defRPr>
            </a:lvl4pPr>
            <a:lvl5pPr>
              <a:defRPr sz="1000" b="0">
                <a:solidFill>
                  <a:srgbClr val="B9C4D3"/>
                </a:solidFill>
              </a:defRPr>
            </a:lvl5pPr>
            <a:lvl6pPr>
              <a:defRPr sz="1000" b="0">
                <a:solidFill>
                  <a:srgbClr val="B9C4D3"/>
                </a:solidFill>
              </a:defRPr>
            </a:lvl6pPr>
            <a:lvl7pPr>
              <a:defRPr sz="1000" b="0">
                <a:solidFill>
                  <a:srgbClr val="B9C4D3"/>
                </a:solidFill>
              </a:defRPr>
            </a:lvl7pPr>
            <a:lvl8pPr>
              <a:defRPr sz="1000" b="0">
                <a:solidFill>
                  <a:srgbClr val="B9C4D3"/>
                </a:solidFill>
              </a:defRPr>
            </a:lvl8pPr>
            <a:lvl9pPr>
              <a:defRPr sz="1000" b="0">
                <a:solidFill>
                  <a:srgbClr val="B9C4D3"/>
                </a:solidFill>
              </a:defRPr>
            </a:lvl9pPr>
          </a:lstStyle>
          <a:p xmlns:a="http://schemas.openxmlformats.org/drawingml/2006/main">
            <a:pPr>
              <a:defRPr sz="1000" b="0">
                <a:solidFill>
                  <a:srgbClr val="B9C4D3"/>
                </a:solidFill>
              </a:defRPr>
            </a:pPr>
            <a:r>
              <a:rPr sz="1000" b="0">
                <a:solidFill>
                  <a:srgbClr val="B9C4D3"/>
                </a:solidFill>
              </a:rPr>
              <a:t>Schermata dimostrativa ripulita da fotografia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957C3-FC0A-46E1-A77F-C31D194C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34200"/>
            <a:ext cx="1111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0">
                <a:solidFill>
                  <a:srgbClr val="65A3FF"/>
                </a:solidFill>
              </a:defRPr>
            </a:defPPr>
            <a:lvl1pPr>
              <a:defRPr sz="1100" b="0">
                <a:solidFill>
                  <a:srgbClr val="65A3FF"/>
                </a:solidFill>
              </a:defRPr>
            </a:lvl1pPr>
            <a:lvl2pPr>
              <a:defRPr sz="1100" b="0">
                <a:solidFill>
                  <a:srgbClr val="65A3FF"/>
                </a:solidFill>
              </a:defRPr>
            </a:lvl2pPr>
            <a:lvl3pPr>
              <a:defRPr sz="1100" b="0">
                <a:solidFill>
                  <a:srgbClr val="65A3FF"/>
                </a:solidFill>
              </a:defRPr>
            </a:lvl3pPr>
            <a:lvl4pPr>
              <a:defRPr sz="1100" b="0">
                <a:solidFill>
                  <a:srgbClr val="65A3FF"/>
                </a:solidFill>
              </a:defRPr>
            </a:lvl4pPr>
            <a:lvl5pPr>
              <a:defRPr sz="1100" b="0">
                <a:solidFill>
                  <a:srgbClr val="65A3FF"/>
                </a:solidFill>
              </a:defRPr>
            </a:lvl5pPr>
            <a:lvl6pPr>
              <a:defRPr sz="1100" b="0">
                <a:solidFill>
                  <a:srgbClr val="65A3FF"/>
                </a:solidFill>
              </a:defRPr>
            </a:lvl6pPr>
            <a:lvl7pPr>
              <a:defRPr sz="1100" b="0">
                <a:solidFill>
                  <a:srgbClr val="65A3FF"/>
                </a:solidFill>
              </a:defRPr>
            </a:lvl7pPr>
            <a:lvl8pPr>
              <a:defRPr sz="1100" b="0">
                <a:solidFill>
                  <a:srgbClr val="65A3FF"/>
                </a:solidFill>
              </a:defRPr>
            </a:lvl8pPr>
            <a:lvl9pPr>
              <a:defRPr sz="1100" b="0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0">
                <a:solidFill>
                  <a:srgbClr val="65A3FF"/>
                </a:solidFill>
              </a:defRPr>
            </a:pPr>
            <a:r>
              <a:rPr sz="1100" b="0">
                <a:solidFill>
                  <a:srgbClr val="65A3FF"/>
                </a:solidFill>
              </a:rPr>
              <a:t>DEMO/2026 · Esempio, non certificazione</a:t>
            </a:r>
          </a:p>
        </p:txBody>
      </p:sp>
    </p:spTree>
    <p:extLst>
      <p:ext uri="{BB962C8B-B14F-4D97-AF65-F5344CB8AC3E}">
        <p14:creationId xmlns:p14="http://schemas.microsoft.com/office/powerpoint/2010/main" val="39489025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802B5D-E541-43B1-B898-247ACDE6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1">
                <a:solidFill>
                  <a:srgbClr val="65A3FF"/>
                </a:solidFill>
              </a:defRPr>
            </a:defPPr>
            <a:lvl1pPr>
              <a:defRPr sz="1100" b="1">
                <a:solidFill>
                  <a:srgbClr val="65A3FF"/>
                </a:solidFill>
              </a:defRPr>
            </a:lvl1pPr>
            <a:lvl2pPr>
              <a:defRPr sz="1100" b="1">
                <a:solidFill>
                  <a:srgbClr val="65A3FF"/>
                </a:solidFill>
              </a:defRPr>
            </a:lvl2pPr>
            <a:lvl3pPr>
              <a:defRPr sz="1100" b="1">
                <a:solidFill>
                  <a:srgbClr val="65A3FF"/>
                </a:solidFill>
              </a:defRPr>
            </a:lvl3pPr>
            <a:lvl4pPr>
              <a:defRPr sz="1100" b="1">
                <a:solidFill>
                  <a:srgbClr val="65A3FF"/>
                </a:solidFill>
              </a:defRPr>
            </a:lvl4pPr>
            <a:lvl5pPr>
              <a:defRPr sz="1100" b="1">
                <a:solidFill>
                  <a:srgbClr val="65A3FF"/>
                </a:solidFill>
              </a:defRPr>
            </a:lvl5pPr>
            <a:lvl6pPr>
              <a:defRPr sz="1100" b="1">
                <a:solidFill>
                  <a:srgbClr val="65A3FF"/>
                </a:solidFill>
              </a:defRPr>
            </a:lvl6pPr>
            <a:lvl7pPr>
              <a:defRPr sz="1100" b="1">
                <a:solidFill>
                  <a:srgbClr val="65A3FF"/>
                </a:solidFill>
              </a:defRPr>
            </a:lvl7pPr>
            <a:lvl8pPr>
              <a:defRPr sz="1100" b="1">
                <a:solidFill>
                  <a:srgbClr val="65A3FF"/>
                </a:solidFill>
              </a:defRPr>
            </a:lvl8pPr>
            <a:lvl9pPr>
              <a:defRPr sz="1100" b="1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65A3FF"/>
                </a:solidFill>
              </a:defRPr>
            </a:pPr>
            <a:r>
              <a:rPr sz="1100" b="1">
                <a:solidFill>
                  <a:srgbClr val="65A3FF"/>
                </a:solidFill>
              </a:rPr>
              <a:t>GUARDIAN 1.1.0 / VERIFICA E CORREZIONI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0801F1-4EEF-4F3B-849E-0E493C62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7400"/>
            <a:ext cx="11277600" cy="104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00" b="1">
                <a:solidFill>
                  <a:srgbClr val="F6F8FC"/>
                </a:solidFill>
              </a:defRPr>
            </a:defPPr>
            <a:lvl1pPr>
              <a:defRPr sz="3100" b="1">
                <a:solidFill>
                  <a:srgbClr val="F6F8FC"/>
                </a:solidFill>
              </a:defRPr>
            </a:lvl1pPr>
            <a:lvl2pPr>
              <a:defRPr sz="3100" b="1">
                <a:solidFill>
                  <a:srgbClr val="F6F8FC"/>
                </a:solidFill>
              </a:defRPr>
            </a:lvl2pPr>
            <a:lvl3pPr>
              <a:defRPr sz="3100" b="1">
                <a:solidFill>
                  <a:srgbClr val="F6F8FC"/>
                </a:solidFill>
              </a:defRPr>
            </a:lvl3pPr>
            <a:lvl4pPr>
              <a:defRPr sz="3100" b="1">
                <a:solidFill>
                  <a:srgbClr val="F6F8FC"/>
                </a:solidFill>
              </a:defRPr>
            </a:lvl4pPr>
            <a:lvl5pPr>
              <a:defRPr sz="3100" b="1">
                <a:solidFill>
                  <a:srgbClr val="F6F8FC"/>
                </a:solidFill>
              </a:defRPr>
            </a:lvl5pPr>
            <a:lvl6pPr>
              <a:defRPr sz="3100" b="1">
                <a:solidFill>
                  <a:srgbClr val="F6F8FC"/>
                </a:solidFill>
              </a:defRPr>
            </a:lvl6pPr>
            <a:lvl7pPr>
              <a:defRPr sz="3100" b="1">
                <a:solidFill>
                  <a:srgbClr val="F6F8FC"/>
                </a:solidFill>
              </a:defRPr>
            </a:lvl7pPr>
            <a:lvl8pPr>
              <a:defRPr sz="3100" b="1">
                <a:solidFill>
                  <a:srgbClr val="F6F8FC"/>
                </a:solidFill>
              </a:defRPr>
            </a:lvl8pPr>
            <a:lvl9pPr>
              <a:defRPr sz="3100" b="1">
                <a:solidFill>
                  <a:srgbClr val="F6F8FC"/>
                </a:solidFill>
              </a:defRPr>
            </a:lvl9pPr>
          </a:lstStyle>
          <a:p xmlns:a="http://schemas.openxmlformats.org/drawingml/2006/main">
            <a:pPr>
              <a:defRPr sz="3100" b="1">
                <a:solidFill>
                  <a:srgbClr val="F6F8FC"/>
                </a:solidFill>
              </a:defRPr>
            </a:pPr>
            <a:r>
              <a:rPr sz="3100" b="1">
                <a:solidFill>
                  <a:srgbClr val="F6F8FC"/>
                </a:solidFill>
              </a:rPr>
              <a:t>Quali parametri si possono correggere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3612F1-5627-4DF6-9FEC-8F8902BBF6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af5829a6274f93"/>
          <a:stretch xmlns:a="http://schemas.openxmlformats.org/drawingml/2006/main"/>
        </p:blipFill>
        <p:spPr>
          <a:xfrm xmlns:a="http://schemas.openxmlformats.org/drawingml/2006/main">
            <a:off x="457200" y="1956644"/>
            <a:ext cx="6858000" cy="4113106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9DA84A-B924-481B-B6B5-7748C188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955800"/>
            <a:ext cx="3937000" cy="463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D7E1EE"/>
                </a:solidFill>
              </a:defRPr>
            </a:defPPr>
            <a:lvl1pPr>
              <a:defRPr sz="1800" b="0">
                <a:solidFill>
                  <a:srgbClr val="D7E1EE"/>
                </a:solidFill>
              </a:defRPr>
            </a:lvl1pPr>
            <a:lvl2pPr>
              <a:defRPr sz="1800" b="0">
                <a:solidFill>
                  <a:srgbClr val="D7E1EE"/>
                </a:solidFill>
              </a:defRPr>
            </a:lvl2pPr>
            <a:lvl3pPr>
              <a:defRPr sz="1800" b="0">
                <a:solidFill>
                  <a:srgbClr val="D7E1EE"/>
                </a:solidFill>
              </a:defRPr>
            </a:lvl3pPr>
            <a:lvl4pPr>
              <a:defRPr sz="1800" b="0">
                <a:solidFill>
                  <a:srgbClr val="D7E1EE"/>
                </a:solidFill>
              </a:defRPr>
            </a:lvl4pPr>
            <a:lvl5pPr>
              <a:defRPr sz="1800" b="0">
                <a:solidFill>
                  <a:srgbClr val="D7E1EE"/>
                </a:solidFill>
              </a:defRPr>
            </a:lvl5pPr>
            <a:lvl6pPr>
              <a:defRPr sz="1800" b="0">
                <a:solidFill>
                  <a:srgbClr val="D7E1EE"/>
                </a:solidFill>
              </a:defRPr>
            </a:lvl6pPr>
            <a:lvl7pPr>
              <a:defRPr sz="1800" b="0">
                <a:solidFill>
                  <a:srgbClr val="D7E1EE"/>
                </a:solidFill>
              </a:defRPr>
            </a:lvl7pPr>
            <a:lvl8pPr>
              <a:defRPr sz="1800" b="0">
                <a:solidFill>
                  <a:srgbClr val="D7E1EE"/>
                </a:solidFill>
              </a:defRPr>
            </a:lvl8pPr>
            <a:lvl9pPr>
              <a:defRPr sz="1800" b="0">
                <a:solidFill>
                  <a:srgbClr val="D7E1EE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Sono disponibili PM1, PM2.5, PM4, PM10, temperatura, umidità relativa, HCHO e CO2.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Ogni parametro ha un proprio profilo: confronti, coefficiente o scostamento, intervallo valido e riferimento del rapporto.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Per il particolato si applica un fattore moltiplicativo; per gli altri parametri uno scostamento additivo.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E4A73-9572-45FF-967E-EA1A1853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6858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00" b="0">
                <a:solidFill>
                  <a:srgbClr val="B9C4D3"/>
                </a:solidFill>
              </a:defRPr>
            </a:defPPr>
            <a:lvl1pPr>
              <a:defRPr sz="1000" b="0">
                <a:solidFill>
                  <a:srgbClr val="B9C4D3"/>
                </a:solidFill>
              </a:defRPr>
            </a:lvl1pPr>
            <a:lvl2pPr>
              <a:defRPr sz="1000" b="0">
                <a:solidFill>
                  <a:srgbClr val="B9C4D3"/>
                </a:solidFill>
              </a:defRPr>
            </a:lvl2pPr>
            <a:lvl3pPr>
              <a:defRPr sz="1000" b="0">
                <a:solidFill>
                  <a:srgbClr val="B9C4D3"/>
                </a:solidFill>
              </a:defRPr>
            </a:lvl3pPr>
            <a:lvl4pPr>
              <a:defRPr sz="1000" b="0">
                <a:solidFill>
                  <a:srgbClr val="B9C4D3"/>
                </a:solidFill>
              </a:defRPr>
            </a:lvl4pPr>
            <a:lvl5pPr>
              <a:defRPr sz="1000" b="0">
                <a:solidFill>
                  <a:srgbClr val="B9C4D3"/>
                </a:solidFill>
              </a:defRPr>
            </a:lvl5pPr>
            <a:lvl6pPr>
              <a:defRPr sz="1000" b="0">
                <a:solidFill>
                  <a:srgbClr val="B9C4D3"/>
                </a:solidFill>
              </a:defRPr>
            </a:lvl6pPr>
            <a:lvl7pPr>
              <a:defRPr sz="1000" b="0">
                <a:solidFill>
                  <a:srgbClr val="B9C4D3"/>
                </a:solidFill>
              </a:defRPr>
            </a:lvl7pPr>
            <a:lvl8pPr>
              <a:defRPr sz="1000" b="0">
                <a:solidFill>
                  <a:srgbClr val="B9C4D3"/>
                </a:solidFill>
              </a:defRPr>
            </a:lvl8pPr>
            <a:lvl9pPr>
              <a:defRPr sz="1000" b="0">
                <a:solidFill>
                  <a:srgbClr val="B9C4D3"/>
                </a:solidFill>
              </a:defRPr>
            </a:lvl9pPr>
          </a:lstStyle>
          <a:p xmlns:a="http://schemas.openxmlformats.org/drawingml/2006/main">
            <a:pPr>
              <a:defRPr sz="1000" b="0">
                <a:solidFill>
                  <a:srgbClr val="B9C4D3"/>
                </a:solidFill>
              </a:defRPr>
            </a:pPr>
            <a:r>
              <a:rPr sz="1000" b="0">
                <a:solidFill>
                  <a:srgbClr val="B9C4D3"/>
                </a:solidFill>
              </a:rPr>
              <a:t>Schermata dimostrativa ripulita da fotografia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225345-0FAC-4C69-BDF3-187D859A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34200"/>
            <a:ext cx="1111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0">
                <a:solidFill>
                  <a:srgbClr val="65A3FF"/>
                </a:solidFill>
              </a:defRPr>
            </a:defPPr>
            <a:lvl1pPr>
              <a:defRPr sz="1100" b="0">
                <a:solidFill>
                  <a:srgbClr val="65A3FF"/>
                </a:solidFill>
              </a:defRPr>
            </a:lvl1pPr>
            <a:lvl2pPr>
              <a:defRPr sz="1100" b="0">
                <a:solidFill>
                  <a:srgbClr val="65A3FF"/>
                </a:solidFill>
              </a:defRPr>
            </a:lvl2pPr>
            <a:lvl3pPr>
              <a:defRPr sz="1100" b="0">
                <a:solidFill>
                  <a:srgbClr val="65A3FF"/>
                </a:solidFill>
              </a:defRPr>
            </a:lvl3pPr>
            <a:lvl4pPr>
              <a:defRPr sz="1100" b="0">
                <a:solidFill>
                  <a:srgbClr val="65A3FF"/>
                </a:solidFill>
              </a:defRPr>
            </a:lvl4pPr>
            <a:lvl5pPr>
              <a:defRPr sz="1100" b="0">
                <a:solidFill>
                  <a:srgbClr val="65A3FF"/>
                </a:solidFill>
              </a:defRPr>
            </a:lvl5pPr>
            <a:lvl6pPr>
              <a:defRPr sz="1100" b="0">
                <a:solidFill>
                  <a:srgbClr val="65A3FF"/>
                </a:solidFill>
              </a:defRPr>
            </a:lvl6pPr>
            <a:lvl7pPr>
              <a:defRPr sz="1100" b="0">
                <a:solidFill>
                  <a:srgbClr val="65A3FF"/>
                </a:solidFill>
              </a:defRPr>
            </a:lvl7pPr>
            <a:lvl8pPr>
              <a:defRPr sz="1100" b="0">
                <a:solidFill>
                  <a:srgbClr val="65A3FF"/>
                </a:solidFill>
              </a:defRPr>
            </a:lvl8pPr>
            <a:lvl9pPr>
              <a:defRPr sz="1100" b="0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0">
                <a:solidFill>
                  <a:srgbClr val="65A3FF"/>
                </a:solidFill>
              </a:defRPr>
            </a:pPr>
            <a:r>
              <a:rPr sz="1100" b="0">
                <a:solidFill>
                  <a:srgbClr val="65A3FF"/>
                </a:solidFill>
              </a:rPr>
              <a:t>DEMO/2026 · Esempio, non certificazione</a:t>
            </a:r>
          </a:p>
        </p:txBody>
      </p:sp>
    </p:spTree>
    <p:extLst>
      <p:ext uri="{BB962C8B-B14F-4D97-AF65-F5344CB8AC3E}">
        <p14:creationId xmlns:p14="http://schemas.microsoft.com/office/powerpoint/2010/main" val="501641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2668D5-640D-4C63-964E-C1FE3368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1">
                <a:solidFill>
                  <a:srgbClr val="65A3FF"/>
                </a:solidFill>
              </a:defRPr>
            </a:defPPr>
            <a:lvl1pPr>
              <a:defRPr sz="1100" b="1">
                <a:solidFill>
                  <a:srgbClr val="65A3FF"/>
                </a:solidFill>
              </a:defRPr>
            </a:lvl1pPr>
            <a:lvl2pPr>
              <a:defRPr sz="1100" b="1">
                <a:solidFill>
                  <a:srgbClr val="65A3FF"/>
                </a:solidFill>
              </a:defRPr>
            </a:lvl2pPr>
            <a:lvl3pPr>
              <a:defRPr sz="1100" b="1">
                <a:solidFill>
                  <a:srgbClr val="65A3FF"/>
                </a:solidFill>
              </a:defRPr>
            </a:lvl3pPr>
            <a:lvl4pPr>
              <a:defRPr sz="1100" b="1">
                <a:solidFill>
                  <a:srgbClr val="65A3FF"/>
                </a:solidFill>
              </a:defRPr>
            </a:lvl4pPr>
            <a:lvl5pPr>
              <a:defRPr sz="1100" b="1">
                <a:solidFill>
                  <a:srgbClr val="65A3FF"/>
                </a:solidFill>
              </a:defRPr>
            </a:lvl5pPr>
            <a:lvl6pPr>
              <a:defRPr sz="1100" b="1">
                <a:solidFill>
                  <a:srgbClr val="65A3FF"/>
                </a:solidFill>
              </a:defRPr>
            </a:lvl6pPr>
            <a:lvl7pPr>
              <a:defRPr sz="1100" b="1">
                <a:solidFill>
                  <a:srgbClr val="65A3FF"/>
                </a:solidFill>
              </a:defRPr>
            </a:lvl7pPr>
            <a:lvl8pPr>
              <a:defRPr sz="1100" b="1">
                <a:solidFill>
                  <a:srgbClr val="65A3FF"/>
                </a:solidFill>
              </a:defRPr>
            </a:lvl8pPr>
            <a:lvl9pPr>
              <a:defRPr sz="1100" b="1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65A3FF"/>
                </a:solidFill>
              </a:defRPr>
            </a:pPr>
            <a:r>
              <a:rPr sz="1100" b="1">
                <a:solidFill>
                  <a:srgbClr val="65A3FF"/>
                </a:solidFill>
              </a:rPr>
              <a:t>GUARDIAN 1.1.0 / VERIFICA E CORREZIONI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D124A-28E5-48AF-BEBC-D648DE90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7400"/>
            <a:ext cx="11277600" cy="104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00" b="1">
                <a:solidFill>
                  <a:srgbClr val="F6F8FC"/>
                </a:solidFill>
              </a:defRPr>
            </a:defPPr>
            <a:lvl1pPr>
              <a:defRPr sz="3100" b="1">
                <a:solidFill>
                  <a:srgbClr val="F6F8FC"/>
                </a:solidFill>
              </a:defRPr>
            </a:lvl1pPr>
            <a:lvl2pPr>
              <a:defRPr sz="3100" b="1">
                <a:solidFill>
                  <a:srgbClr val="F6F8FC"/>
                </a:solidFill>
              </a:defRPr>
            </a:lvl2pPr>
            <a:lvl3pPr>
              <a:defRPr sz="3100" b="1">
                <a:solidFill>
                  <a:srgbClr val="F6F8FC"/>
                </a:solidFill>
              </a:defRPr>
            </a:lvl3pPr>
            <a:lvl4pPr>
              <a:defRPr sz="3100" b="1">
                <a:solidFill>
                  <a:srgbClr val="F6F8FC"/>
                </a:solidFill>
              </a:defRPr>
            </a:lvl4pPr>
            <a:lvl5pPr>
              <a:defRPr sz="3100" b="1">
                <a:solidFill>
                  <a:srgbClr val="F6F8FC"/>
                </a:solidFill>
              </a:defRPr>
            </a:lvl5pPr>
            <a:lvl6pPr>
              <a:defRPr sz="3100" b="1">
                <a:solidFill>
                  <a:srgbClr val="F6F8FC"/>
                </a:solidFill>
              </a:defRPr>
            </a:lvl6pPr>
            <a:lvl7pPr>
              <a:defRPr sz="3100" b="1">
                <a:solidFill>
                  <a:srgbClr val="F6F8FC"/>
                </a:solidFill>
              </a:defRPr>
            </a:lvl7pPr>
            <a:lvl8pPr>
              <a:defRPr sz="3100" b="1">
                <a:solidFill>
                  <a:srgbClr val="F6F8FC"/>
                </a:solidFill>
              </a:defRPr>
            </a:lvl8pPr>
            <a:lvl9pPr>
              <a:defRPr sz="3100" b="1">
                <a:solidFill>
                  <a:srgbClr val="F6F8FC"/>
                </a:solidFill>
              </a:defRPr>
            </a:lvl9pPr>
          </a:lstStyle>
          <a:p xmlns:a="http://schemas.openxmlformats.org/drawingml/2006/main">
            <a:pPr>
              <a:defRPr sz="3100" b="1">
                <a:solidFill>
                  <a:srgbClr val="F6F8FC"/>
                </a:solidFill>
              </a:defRPr>
            </a:pPr>
            <a:r>
              <a:rPr sz="3100" b="1">
                <a:solidFill>
                  <a:srgbClr val="F6F8FC"/>
                </a:solidFill>
              </a:rPr>
              <a:t>Profilo: abilitazione e intervallo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D23E40-B7B3-468B-95BA-DAA42161DC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89fac1f78949a7"/>
          <a:stretch xmlns:a="http://schemas.openxmlformats.org/drawingml/2006/main"/>
        </p:blipFill>
        <p:spPr>
          <a:xfrm xmlns:a="http://schemas.openxmlformats.org/drawingml/2006/main">
            <a:off x="457200" y="1956644"/>
            <a:ext cx="6858000" cy="4113106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F491E-EFFE-4A7A-9614-D558AB81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955800"/>
            <a:ext cx="3937000" cy="463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D7E1EE"/>
                </a:solidFill>
              </a:defRPr>
            </a:defPPr>
            <a:lvl1pPr>
              <a:defRPr sz="1800" b="0">
                <a:solidFill>
                  <a:srgbClr val="D7E1EE"/>
                </a:solidFill>
              </a:defRPr>
            </a:lvl1pPr>
            <a:lvl2pPr>
              <a:defRPr sz="1800" b="0">
                <a:solidFill>
                  <a:srgbClr val="D7E1EE"/>
                </a:solidFill>
              </a:defRPr>
            </a:lvl2pPr>
            <a:lvl3pPr>
              <a:defRPr sz="1800" b="0">
                <a:solidFill>
                  <a:srgbClr val="D7E1EE"/>
                </a:solidFill>
              </a:defRPr>
            </a:lvl3pPr>
            <a:lvl4pPr>
              <a:defRPr sz="1800" b="0">
                <a:solidFill>
                  <a:srgbClr val="D7E1EE"/>
                </a:solidFill>
              </a:defRPr>
            </a:lvl4pPr>
            <a:lvl5pPr>
              <a:defRPr sz="1800" b="0">
                <a:solidFill>
                  <a:srgbClr val="D7E1EE"/>
                </a:solidFill>
              </a:defRPr>
            </a:lvl5pPr>
            <a:lvl6pPr>
              <a:defRPr sz="1800" b="0">
                <a:solidFill>
                  <a:srgbClr val="D7E1EE"/>
                </a:solidFill>
              </a:defRPr>
            </a:lvl6pPr>
            <a:lvl7pPr>
              <a:defRPr sz="1800" b="0">
                <a:solidFill>
                  <a:srgbClr val="D7E1EE"/>
                </a:solidFill>
              </a:defRPr>
            </a:lvl7pPr>
            <a:lvl8pPr>
              <a:defRPr sz="1800" b="0">
                <a:solidFill>
                  <a:srgbClr val="D7E1EE"/>
                </a:solidFill>
              </a:defRPr>
            </a:lvl8pPr>
            <a:lvl9pPr>
              <a:defRPr sz="1800" b="0">
                <a:solidFill>
                  <a:srgbClr val="D7E1EE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Per attivare una correzione servono almeno tre valori originali distinti, un identificativo del rapporto e la conferma della verifica indipendente.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La correzione viene applicata soltanto nell’intervallo dei valori originali confrontati.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DISATTIVA conserva i confronti ma sospende la correzione.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1C523-1313-4AC0-8BFC-6BD7B661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6858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00" b="0">
                <a:solidFill>
                  <a:srgbClr val="B9C4D3"/>
                </a:solidFill>
              </a:defRPr>
            </a:defPPr>
            <a:lvl1pPr>
              <a:defRPr sz="1000" b="0">
                <a:solidFill>
                  <a:srgbClr val="B9C4D3"/>
                </a:solidFill>
              </a:defRPr>
            </a:lvl1pPr>
            <a:lvl2pPr>
              <a:defRPr sz="1000" b="0">
                <a:solidFill>
                  <a:srgbClr val="B9C4D3"/>
                </a:solidFill>
              </a:defRPr>
            </a:lvl2pPr>
            <a:lvl3pPr>
              <a:defRPr sz="1000" b="0">
                <a:solidFill>
                  <a:srgbClr val="B9C4D3"/>
                </a:solidFill>
              </a:defRPr>
            </a:lvl3pPr>
            <a:lvl4pPr>
              <a:defRPr sz="1000" b="0">
                <a:solidFill>
                  <a:srgbClr val="B9C4D3"/>
                </a:solidFill>
              </a:defRPr>
            </a:lvl4pPr>
            <a:lvl5pPr>
              <a:defRPr sz="1000" b="0">
                <a:solidFill>
                  <a:srgbClr val="B9C4D3"/>
                </a:solidFill>
              </a:defRPr>
            </a:lvl5pPr>
            <a:lvl6pPr>
              <a:defRPr sz="1000" b="0">
                <a:solidFill>
                  <a:srgbClr val="B9C4D3"/>
                </a:solidFill>
              </a:defRPr>
            </a:lvl6pPr>
            <a:lvl7pPr>
              <a:defRPr sz="1000" b="0">
                <a:solidFill>
                  <a:srgbClr val="B9C4D3"/>
                </a:solidFill>
              </a:defRPr>
            </a:lvl7pPr>
            <a:lvl8pPr>
              <a:defRPr sz="1000" b="0">
                <a:solidFill>
                  <a:srgbClr val="B9C4D3"/>
                </a:solidFill>
              </a:defRPr>
            </a:lvl8pPr>
            <a:lvl9pPr>
              <a:defRPr sz="1000" b="0">
                <a:solidFill>
                  <a:srgbClr val="B9C4D3"/>
                </a:solidFill>
              </a:defRPr>
            </a:lvl9pPr>
          </a:lstStyle>
          <a:p xmlns:a="http://schemas.openxmlformats.org/drawingml/2006/main">
            <a:pPr>
              <a:defRPr sz="1000" b="0">
                <a:solidFill>
                  <a:srgbClr val="B9C4D3"/>
                </a:solidFill>
              </a:defRPr>
            </a:pPr>
            <a:r>
              <a:rPr sz="1000" b="0">
                <a:solidFill>
                  <a:srgbClr val="B9C4D3"/>
                </a:solidFill>
              </a:rPr>
              <a:t>Schermata dimostrativa ripulita da fotografia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7AE82-5ABE-47B4-8D69-5E8BD24C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34200"/>
            <a:ext cx="1111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0">
                <a:solidFill>
                  <a:srgbClr val="65A3FF"/>
                </a:solidFill>
              </a:defRPr>
            </a:defPPr>
            <a:lvl1pPr>
              <a:defRPr sz="1100" b="0">
                <a:solidFill>
                  <a:srgbClr val="65A3FF"/>
                </a:solidFill>
              </a:defRPr>
            </a:lvl1pPr>
            <a:lvl2pPr>
              <a:defRPr sz="1100" b="0">
                <a:solidFill>
                  <a:srgbClr val="65A3FF"/>
                </a:solidFill>
              </a:defRPr>
            </a:lvl2pPr>
            <a:lvl3pPr>
              <a:defRPr sz="1100" b="0">
                <a:solidFill>
                  <a:srgbClr val="65A3FF"/>
                </a:solidFill>
              </a:defRPr>
            </a:lvl3pPr>
            <a:lvl4pPr>
              <a:defRPr sz="1100" b="0">
                <a:solidFill>
                  <a:srgbClr val="65A3FF"/>
                </a:solidFill>
              </a:defRPr>
            </a:lvl4pPr>
            <a:lvl5pPr>
              <a:defRPr sz="1100" b="0">
                <a:solidFill>
                  <a:srgbClr val="65A3FF"/>
                </a:solidFill>
              </a:defRPr>
            </a:lvl5pPr>
            <a:lvl6pPr>
              <a:defRPr sz="1100" b="0">
                <a:solidFill>
                  <a:srgbClr val="65A3FF"/>
                </a:solidFill>
              </a:defRPr>
            </a:lvl6pPr>
            <a:lvl7pPr>
              <a:defRPr sz="1100" b="0">
                <a:solidFill>
                  <a:srgbClr val="65A3FF"/>
                </a:solidFill>
              </a:defRPr>
            </a:lvl7pPr>
            <a:lvl8pPr>
              <a:defRPr sz="1100" b="0">
                <a:solidFill>
                  <a:srgbClr val="65A3FF"/>
                </a:solidFill>
              </a:defRPr>
            </a:lvl8pPr>
            <a:lvl9pPr>
              <a:defRPr sz="1100" b="0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0">
                <a:solidFill>
                  <a:srgbClr val="65A3FF"/>
                </a:solidFill>
              </a:defRPr>
            </a:pPr>
            <a:r>
              <a:rPr sz="1100" b="0">
                <a:solidFill>
                  <a:srgbClr val="65A3FF"/>
                </a:solidFill>
              </a:rPr>
              <a:t>DEMO/2026 · Esempio, non certificazione</a:t>
            </a:r>
          </a:p>
        </p:txBody>
      </p:sp>
    </p:spTree>
    <p:extLst>
      <p:ext uri="{BB962C8B-B14F-4D97-AF65-F5344CB8AC3E}">
        <p14:creationId xmlns:p14="http://schemas.microsoft.com/office/powerpoint/2010/main" val="100870282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DEC582-6FA7-4B51-8FFF-D76B413A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1">
                <a:solidFill>
                  <a:srgbClr val="65A3FF"/>
                </a:solidFill>
              </a:defRPr>
            </a:defPPr>
            <a:lvl1pPr>
              <a:defRPr sz="1100" b="1">
                <a:solidFill>
                  <a:srgbClr val="65A3FF"/>
                </a:solidFill>
              </a:defRPr>
            </a:lvl1pPr>
            <a:lvl2pPr>
              <a:defRPr sz="1100" b="1">
                <a:solidFill>
                  <a:srgbClr val="65A3FF"/>
                </a:solidFill>
              </a:defRPr>
            </a:lvl2pPr>
            <a:lvl3pPr>
              <a:defRPr sz="1100" b="1">
                <a:solidFill>
                  <a:srgbClr val="65A3FF"/>
                </a:solidFill>
              </a:defRPr>
            </a:lvl3pPr>
            <a:lvl4pPr>
              <a:defRPr sz="1100" b="1">
                <a:solidFill>
                  <a:srgbClr val="65A3FF"/>
                </a:solidFill>
              </a:defRPr>
            </a:lvl4pPr>
            <a:lvl5pPr>
              <a:defRPr sz="1100" b="1">
                <a:solidFill>
                  <a:srgbClr val="65A3FF"/>
                </a:solidFill>
              </a:defRPr>
            </a:lvl5pPr>
            <a:lvl6pPr>
              <a:defRPr sz="1100" b="1">
                <a:solidFill>
                  <a:srgbClr val="65A3FF"/>
                </a:solidFill>
              </a:defRPr>
            </a:lvl6pPr>
            <a:lvl7pPr>
              <a:defRPr sz="1100" b="1">
                <a:solidFill>
                  <a:srgbClr val="65A3FF"/>
                </a:solidFill>
              </a:defRPr>
            </a:lvl7pPr>
            <a:lvl8pPr>
              <a:defRPr sz="1100" b="1">
                <a:solidFill>
                  <a:srgbClr val="65A3FF"/>
                </a:solidFill>
              </a:defRPr>
            </a:lvl8pPr>
            <a:lvl9pPr>
              <a:defRPr sz="1100" b="1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65A3FF"/>
                </a:solidFill>
              </a:defRPr>
            </a:pPr>
            <a:r>
              <a:rPr sz="1100" b="1">
                <a:solidFill>
                  <a:srgbClr val="65A3FF"/>
                </a:solidFill>
              </a:rPr>
              <a:t>GUARDIAN 1.1.0 / VERIFICA E CORREZIONI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9274F1-056E-407B-8C24-20ACD43B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7400"/>
            <a:ext cx="11277600" cy="104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00" b="1">
                <a:solidFill>
                  <a:srgbClr val="F6F8FC"/>
                </a:solidFill>
              </a:defRPr>
            </a:defPPr>
            <a:lvl1pPr>
              <a:defRPr sz="3100" b="1">
                <a:solidFill>
                  <a:srgbClr val="F6F8FC"/>
                </a:solidFill>
              </a:defRPr>
            </a:lvl1pPr>
            <a:lvl2pPr>
              <a:defRPr sz="3100" b="1">
                <a:solidFill>
                  <a:srgbClr val="F6F8FC"/>
                </a:solidFill>
              </a:defRPr>
            </a:lvl2pPr>
            <a:lvl3pPr>
              <a:defRPr sz="3100" b="1">
                <a:solidFill>
                  <a:srgbClr val="F6F8FC"/>
                </a:solidFill>
              </a:defRPr>
            </a:lvl3pPr>
            <a:lvl4pPr>
              <a:defRPr sz="3100" b="1">
                <a:solidFill>
                  <a:srgbClr val="F6F8FC"/>
                </a:solidFill>
              </a:defRPr>
            </a:lvl4pPr>
            <a:lvl5pPr>
              <a:defRPr sz="3100" b="1">
                <a:solidFill>
                  <a:srgbClr val="F6F8FC"/>
                </a:solidFill>
              </a:defRPr>
            </a:lvl5pPr>
            <a:lvl6pPr>
              <a:defRPr sz="3100" b="1">
                <a:solidFill>
                  <a:srgbClr val="F6F8FC"/>
                </a:solidFill>
              </a:defRPr>
            </a:lvl6pPr>
            <a:lvl7pPr>
              <a:defRPr sz="3100" b="1">
                <a:solidFill>
                  <a:srgbClr val="F6F8FC"/>
                </a:solidFill>
              </a:defRPr>
            </a:lvl7pPr>
            <a:lvl8pPr>
              <a:defRPr sz="3100" b="1">
                <a:solidFill>
                  <a:srgbClr val="F6F8FC"/>
                </a:solidFill>
              </a:defRPr>
            </a:lvl8pPr>
            <a:lvl9pPr>
              <a:defRPr sz="3100" b="1">
                <a:solidFill>
                  <a:srgbClr val="F6F8FC"/>
                </a:solidFill>
              </a:defRPr>
            </a:lvl9pPr>
          </a:lstStyle>
          <a:p xmlns:a="http://schemas.openxmlformats.org/drawingml/2006/main">
            <a:pPr>
              <a:defRPr sz="3100" b="1">
                <a:solidFill>
                  <a:srgbClr val="F6F8FC"/>
                </a:solidFill>
              </a:defRPr>
            </a:pPr>
            <a:r>
              <a:rPr sz="3100" b="1">
                <a:solidFill>
                  <a:srgbClr val="F6F8FC"/>
                </a:solidFill>
              </a:rPr>
              <a:t>Nuovo confronto: originale e riferimento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45E447-0F9C-4F08-AAEB-FC4A943F79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ca6dbb1ec4006"/>
          <a:stretch xmlns:a="http://schemas.openxmlformats.org/drawingml/2006/main"/>
        </p:blipFill>
        <p:spPr>
          <a:xfrm xmlns:a="http://schemas.openxmlformats.org/drawingml/2006/main">
            <a:off x="457200" y="1956644"/>
            <a:ext cx="6858000" cy="4113106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47DD17-0AD3-4FF9-8D55-52BEB26C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955800"/>
            <a:ext cx="3937000" cy="463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D7E1EE"/>
                </a:solidFill>
              </a:defRPr>
            </a:defPPr>
            <a:lvl1pPr>
              <a:defRPr sz="1800" b="0">
                <a:solidFill>
                  <a:srgbClr val="D7E1EE"/>
                </a:solidFill>
              </a:defRPr>
            </a:lvl1pPr>
            <a:lvl2pPr>
              <a:defRPr sz="1800" b="0">
                <a:solidFill>
                  <a:srgbClr val="D7E1EE"/>
                </a:solidFill>
              </a:defRPr>
            </a:lvl2pPr>
            <a:lvl3pPr>
              <a:defRPr sz="1800" b="0">
                <a:solidFill>
                  <a:srgbClr val="D7E1EE"/>
                </a:solidFill>
              </a:defRPr>
            </a:lvl3pPr>
            <a:lvl4pPr>
              <a:defRPr sz="1800" b="0">
                <a:solidFill>
                  <a:srgbClr val="D7E1EE"/>
                </a:solidFill>
              </a:defRPr>
            </a:lvl4pPr>
            <a:lvl5pPr>
              <a:defRPr sz="1800" b="0">
                <a:solidFill>
                  <a:srgbClr val="D7E1EE"/>
                </a:solidFill>
              </a:defRPr>
            </a:lvl5pPr>
            <a:lvl6pPr>
              <a:defRPr sz="1800" b="0">
                <a:solidFill>
                  <a:srgbClr val="D7E1EE"/>
                </a:solidFill>
              </a:defRPr>
            </a:lvl6pPr>
            <a:lvl7pPr>
              <a:defRPr sz="1800" b="0">
                <a:solidFill>
                  <a:srgbClr val="D7E1EE"/>
                </a:solidFill>
              </a:defRPr>
            </a:lvl7pPr>
            <a:lvl8pPr>
              <a:defRPr sz="1800" b="0">
                <a:solidFill>
                  <a:srgbClr val="D7E1EE"/>
                </a:solidFill>
              </a:defRPr>
            </a:lvl8pPr>
            <a:lvl9pPr>
              <a:defRPr sz="1800" b="0">
                <a:solidFill>
                  <a:srgbClr val="D7E1EE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GUARDIAN ORIGINALE mostra la lettura corrente prima della correzione software GUARDIAN.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Acquisire il valore nel campo del confronto, quindi inserire la lettura dello strumento di riferimento nelle stesse unità.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Il rapporto accetta anche la barra /, per esempio DEMO/2026.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CBC060-CA1F-4698-ADD0-4A90B9DE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6858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00" b="0">
                <a:solidFill>
                  <a:srgbClr val="B9C4D3"/>
                </a:solidFill>
              </a:defRPr>
            </a:defPPr>
            <a:lvl1pPr>
              <a:defRPr sz="1000" b="0">
                <a:solidFill>
                  <a:srgbClr val="B9C4D3"/>
                </a:solidFill>
              </a:defRPr>
            </a:lvl1pPr>
            <a:lvl2pPr>
              <a:defRPr sz="1000" b="0">
                <a:solidFill>
                  <a:srgbClr val="B9C4D3"/>
                </a:solidFill>
              </a:defRPr>
            </a:lvl2pPr>
            <a:lvl3pPr>
              <a:defRPr sz="1000" b="0">
                <a:solidFill>
                  <a:srgbClr val="B9C4D3"/>
                </a:solidFill>
              </a:defRPr>
            </a:lvl3pPr>
            <a:lvl4pPr>
              <a:defRPr sz="1000" b="0">
                <a:solidFill>
                  <a:srgbClr val="B9C4D3"/>
                </a:solidFill>
              </a:defRPr>
            </a:lvl4pPr>
            <a:lvl5pPr>
              <a:defRPr sz="1000" b="0">
                <a:solidFill>
                  <a:srgbClr val="B9C4D3"/>
                </a:solidFill>
              </a:defRPr>
            </a:lvl5pPr>
            <a:lvl6pPr>
              <a:defRPr sz="1000" b="0">
                <a:solidFill>
                  <a:srgbClr val="B9C4D3"/>
                </a:solidFill>
              </a:defRPr>
            </a:lvl6pPr>
            <a:lvl7pPr>
              <a:defRPr sz="1000" b="0">
                <a:solidFill>
                  <a:srgbClr val="B9C4D3"/>
                </a:solidFill>
              </a:defRPr>
            </a:lvl7pPr>
            <a:lvl8pPr>
              <a:defRPr sz="1000" b="0">
                <a:solidFill>
                  <a:srgbClr val="B9C4D3"/>
                </a:solidFill>
              </a:defRPr>
            </a:lvl8pPr>
            <a:lvl9pPr>
              <a:defRPr sz="1000" b="0">
                <a:solidFill>
                  <a:srgbClr val="B9C4D3"/>
                </a:solidFill>
              </a:defRPr>
            </a:lvl9pPr>
          </a:lstStyle>
          <a:p xmlns:a="http://schemas.openxmlformats.org/drawingml/2006/main">
            <a:pPr>
              <a:defRPr sz="1000" b="0">
                <a:solidFill>
                  <a:srgbClr val="B9C4D3"/>
                </a:solidFill>
              </a:defRPr>
            </a:pPr>
            <a:r>
              <a:rPr sz="1000" b="0">
                <a:solidFill>
                  <a:srgbClr val="B9C4D3"/>
                </a:solidFill>
              </a:rPr>
              <a:t>Schermata dimostrativa ripulita da fotografia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65D54C-1BD8-4AD9-8A02-DFB43995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34200"/>
            <a:ext cx="1111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0">
                <a:solidFill>
                  <a:srgbClr val="65A3FF"/>
                </a:solidFill>
              </a:defRPr>
            </a:defPPr>
            <a:lvl1pPr>
              <a:defRPr sz="1100" b="0">
                <a:solidFill>
                  <a:srgbClr val="65A3FF"/>
                </a:solidFill>
              </a:defRPr>
            </a:lvl1pPr>
            <a:lvl2pPr>
              <a:defRPr sz="1100" b="0">
                <a:solidFill>
                  <a:srgbClr val="65A3FF"/>
                </a:solidFill>
              </a:defRPr>
            </a:lvl2pPr>
            <a:lvl3pPr>
              <a:defRPr sz="1100" b="0">
                <a:solidFill>
                  <a:srgbClr val="65A3FF"/>
                </a:solidFill>
              </a:defRPr>
            </a:lvl3pPr>
            <a:lvl4pPr>
              <a:defRPr sz="1100" b="0">
                <a:solidFill>
                  <a:srgbClr val="65A3FF"/>
                </a:solidFill>
              </a:defRPr>
            </a:lvl4pPr>
            <a:lvl5pPr>
              <a:defRPr sz="1100" b="0">
                <a:solidFill>
                  <a:srgbClr val="65A3FF"/>
                </a:solidFill>
              </a:defRPr>
            </a:lvl5pPr>
            <a:lvl6pPr>
              <a:defRPr sz="1100" b="0">
                <a:solidFill>
                  <a:srgbClr val="65A3FF"/>
                </a:solidFill>
              </a:defRPr>
            </a:lvl6pPr>
            <a:lvl7pPr>
              <a:defRPr sz="1100" b="0">
                <a:solidFill>
                  <a:srgbClr val="65A3FF"/>
                </a:solidFill>
              </a:defRPr>
            </a:lvl7pPr>
            <a:lvl8pPr>
              <a:defRPr sz="1100" b="0">
                <a:solidFill>
                  <a:srgbClr val="65A3FF"/>
                </a:solidFill>
              </a:defRPr>
            </a:lvl8pPr>
            <a:lvl9pPr>
              <a:defRPr sz="1100" b="0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0">
                <a:solidFill>
                  <a:srgbClr val="65A3FF"/>
                </a:solidFill>
              </a:defRPr>
            </a:pPr>
            <a:r>
              <a:rPr sz="1100" b="0">
                <a:solidFill>
                  <a:srgbClr val="65A3FF"/>
                </a:solidFill>
              </a:rPr>
              <a:t>DEMO/2026 · Esempio, non certificazione</a:t>
            </a:r>
          </a:p>
        </p:txBody>
      </p:sp>
    </p:spTree>
    <p:extLst>
      <p:ext uri="{BB962C8B-B14F-4D97-AF65-F5344CB8AC3E}">
        <p14:creationId xmlns:p14="http://schemas.microsoft.com/office/powerpoint/2010/main" val="563744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565C53-AFD6-4D4D-84D6-D53578509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1">
                <a:solidFill>
                  <a:srgbClr val="65A3FF"/>
                </a:solidFill>
              </a:defRPr>
            </a:defPPr>
            <a:lvl1pPr>
              <a:defRPr sz="1100" b="1">
                <a:solidFill>
                  <a:srgbClr val="65A3FF"/>
                </a:solidFill>
              </a:defRPr>
            </a:lvl1pPr>
            <a:lvl2pPr>
              <a:defRPr sz="1100" b="1">
                <a:solidFill>
                  <a:srgbClr val="65A3FF"/>
                </a:solidFill>
              </a:defRPr>
            </a:lvl2pPr>
            <a:lvl3pPr>
              <a:defRPr sz="1100" b="1">
                <a:solidFill>
                  <a:srgbClr val="65A3FF"/>
                </a:solidFill>
              </a:defRPr>
            </a:lvl3pPr>
            <a:lvl4pPr>
              <a:defRPr sz="1100" b="1">
                <a:solidFill>
                  <a:srgbClr val="65A3FF"/>
                </a:solidFill>
              </a:defRPr>
            </a:lvl4pPr>
            <a:lvl5pPr>
              <a:defRPr sz="1100" b="1">
                <a:solidFill>
                  <a:srgbClr val="65A3FF"/>
                </a:solidFill>
              </a:defRPr>
            </a:lvl5pPr>
            <a:lvl6pPr>
              <a:defRPr sz="1100" b="1">
                <a:solidFill>
                  <a:srgbClr val="65A3FF"/>
                </a:solidFill>
              </a:defRPr>
            </a:lvl6pPr>
            <a:lvl7pPr>
              <a:defRPr sz="1100" b="1">
                <a:solidFill>
                  <a:srgbClr val="65A3FF"/>
                </a:solidFill>
              </a:defRPr>
            </a:lvl7pPr>
            <a:lvl8pPr>
              <a:defRPr sz="1100" b="1">
                <a:solidFill>
                  <a:srgbClr val="65A3FF"/>
                </a:solidFill>
              </a:defRPr>
            </a:lvl8pPr>
            <a:lvl9pPr>
              <a:defRPr sz="1100" b="1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65A3FF"/>
                </a:solidFill>
              </a:defRPr>
            </a:pPr>
            <a:r>
              <a:rPr sz="1100" b="1">
                <a:solidFill>
                  <a:srgbClr val="65A3FF"/>
                </a:solidFill>
              </a:rPr>
              <a:t>GUARDIAN 1.1.0 / VERIFICA E CORREZIONI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75E0A-C881-4F15-9E2D-40F82D52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7400"/>
            <a:ext cx="11277600" cy="104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00" b="1">
                <a:solidFill>
                  <a:srgbClr val="F6F8FC"/>
                </a:solidFill>
              </a:defRPr>
            </a:defPPr>
            <a:lvl1pPr>
              <a:defRPr sz="3100" b="1">
                <a:solidFill>
                  <a:srgbClr val="F6F8FC"/>
                </a:solidFill>
              </a:defRPr>
            </a:lvl1pPr>
            <a:lvl2pPr>
              <a:defRPr sz="3100" b="1">
                <a:solidFill>
                  <a:srgbClr val="F6F8FC"/>
                </a:solidFill>
              </a:defRPr>
            </a:lvl2pPr>
            <a:lvl3pPr>
              <a:defRPr sz="3100" b="1">
                <a:solidFill>
                  <a:srgbClr val="F6F8FC"/>
                </a:solidFill>
              </a:defRPr>
            </a:lvl3pPr>
            <a:lvl4pPr>
              <a:defRPr sz="3100" b="1">
                <a:solidFill>
                  <a:srgbClr val="F6F8FC"/>
                </a:solidFill>
              </a:defRPr>
            </a:lvl4pPr>
            <a:lvl5pPr>
              <a:defRPr sz="3100" b="1">
                <a:solidFill>
                  <a:srgbClr val="F6F8FC"/>
                </a:solidFill>
              </a:defRPr>
            </a:lvl5pPr>
            <a:lvl6pPr>
              <a:defRPr sz="3100" b="1">
                <a:solidFill>
                  <a:srgbClr val="F6F8FC"/>
                </a:solidFill>
              </a:defRPr>
            </a:lvl6pPr>
            <a:lvl7pPr>
              <a:defRPr sz="3100" b="1">
                <a:solidFill>
                  <a:srgbClr val="F6F8FC"/>
                </a:solidFill>
              </a:defRPr>
            </a:lvl7pPr>
            <a:lvl8pPr>
              <a:defRPr sz="3100" b="1">
                <a:solidFill>
                  <a:srgbClr val="F6F8FC"/>
                </a:solidFill>
              </a:defRPr>
            </a:lvl8pPr>
            <a:lvl9pPr>
              <a:defRPr sz="3100" b="1">
                <a:solidFill>
                  <a:srgbClr val="F6F8FC"/>
                </a:solidFill>
              </a:defRPr>
            </a:lvl9pPr>
          </a:lstStyle>
          <a:p xmlns:a="http://schemas.openxmlformats.org/drawingml/2006/main">
            <a:pPr>
              <a:defRPr sz="3100" b="1">
                <a:solidFill>
                  <a:srgbClr val="F6F8FC"/>
                </a:solidFill>
              </a:defRPr>
            </a:pPr>
            <a:r>
              <a:rPr sz="3100" b="1">
                <a:solidFill>
                  <a:srgbClr val="F6F8FC"/>
                </a:solidFill>
              </a:rPr>
              <a:t>CO2: due operazioni diverse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A6C9DD-D0AD-46D9-879D-BFD9B71DC3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8495d6d436442d"/>
          <a:stretch xmlns:a="http://schemas.openxmlformats.org/drawingml/2006/main"/>
        </p:blipFill>
        <p:spPr>
          <a:xfrm xmlns:a="http://schemas.openxmlformats.org/drawingml/2006/main">
            <a:off x="457200" y="1956644"/>
            <a:ext cx="6858000" cy="4113106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92AB49-93E5-4187-A50E-B862F09C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955800"/>
            <a:ext cx="3937000" cy="463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D7E1EE"/>
                </a:solidFill>
              </a:defRPr>
            </a:defPPr>
            <a:lvl1pPr>
              <a:defRPr sz="1800" b="0">
                <a:solidFill>
                  <a:srgbClr val="D7E1EE"/>
                </a:solidFill>
              </a:defRPr>
            </a:lvl1pPr>
            <a:lvl2pPr>
              <a:defRPr sz="1800" b="0">
                <a:solidFill>
                  <a:srgbClr val="D7E1EE"/>
                </a:solidFill>
              </a:defRPr>
            </a:lvl2pPr>
            <a:lvl3pPr>
              <a:defRPr sz="1800" b="0">
                <a:solidFill>
                  <a:srgbClr val="D7E1EE"/>
                </a:solidFill>
              </a:defRPr>
            </a:lvl3pPr>
            <a:lvl4pPr>
              <a:defRPr sz="1800" b="0">
                <a:solidFill>
                  <a:srgbClr val="D7E1EE"/>
                </a:solidFill>
              </a:defRPr>
            </a:lvl4pPr>
            <a:lvl5pPr>
              <a:defRPr sz="1800" b="0">
                <a:solidFill>
                  <a:srgbClr val="D7E1EE"/>
                </a:solidFill>
              </a:defRPr>
            </a:lvl5pPr>
            <a:lvl6pPr>
              <a:defRPr sz="1800" b="0">
                <a:solidFill>
                  <a:srgbClr val="D7E1EE"/>
                </a:solidFill>
              </a:defRPr>
            </a:lvl6pPr>
            <a:lvl7pPr>
              <a:defRPr sz="1800" b="0">
                <a:solidFill>
                  <a:srgbClr val="D7E1EE"/>
                </a:solidFill>
              </a:defRPr>
            </a:lvl7pPr>
            <a:lvl8pPr>
              <a:defRPr sz="1800" b="0">
                <a:solidFill>
                  <a:srgbClr val="D7E1EE"/>
                </a:solidFill>
              </a:defRPr>
            </a:lvl8pPr>
            <a:lvl9pPr>
              <a:defRPr sz="1800" b="0">
                <a:solidFill>
                  <a:srgbClr val="D7E1EE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La voce CO2 riunisce il profilo di correzione software e le operazioni interne del sensore.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La correzione software aggiunge uno scostamento alle letture nell’intervallo verificato ed è disattivabile.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Non sovrapporre le due operazioni: prima della calibrazione interna disabilitare la correzione software CO2.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5536F2-D6EE-4156-B795-356B250F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6858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00" b="0">
                <a:solidFill>
                  <a:srgbClr val="B9C4D3"/>
                </a:solidFill>
              </a:defRPr>
            </a:defPPr>
            <a:lvl1pPr>
              <a:defRPr sz="1000" b="0">
                <a:solidFill>
                  <a:srgbClr val="B9C4D3"/>
                </a:solidFill>
              </a:defRPr>
            </a:lvl1pPr>
            <a:lvl2pPr>
              <a:defRPr sz="1000" b="0">
                <a:solidFill>
                  <a:srgbClr val="B9C4D3"/>
                </a:solidFill>
              </a:defRPr>
            </a:lvl2pPr>
            <a:lvl3pPr>
              <a:defRPr sz="1000" b="0">
                <a:solidFill>
                  <a:srgbClr val="B9C4D3"/>
                </a:solidFill>
              </a:defRPr>
            </a:lvl3pPr>
            <a:lvl4pPr>
              <a:defRPr sz="1000" b="0">
                <a:solidFill>
                  <a:srgbClr val="B9C4D3"/>
                </a:solidFill>
              </a:defRPr>
            </a:lvl4pPr>
            <a:lvl5pPr>
              <a:defRPr sz="1000" b="0">
                <a:solidFill>
                  <a:srgbClr val="B9C4D3"/>
                </a:solidFill>
              </a:defRPr>
            </a:lvl5pPr>
            <a:lvl6pPr>
              <a:defRPr sz="1000" b="0">
                <a:solidFill>
                  <a:srgbClr val="B9C4D3"/>
                </a:solidFill>
              </a:defRPr>
            </a:lvl6pPr>
            <a:lvl7pPr>
              <a:defRPr sz="1000" b="0">
                <a:solidFill>
                  <a:srgbClr val="B9C4D3"/>
                </a:solidFill>
              </a:defRPr>
            </a:lvl7pPr>
            <a:lvl8pPr>
              <a:defRPr sz="1000" b="0">
                <a:solidFill>
                  <a:srgbClr val="B9C4D3"/>
                </a:solidFill>
              </a:defRPr>
            </a:lvl8pPr>
            <a:lvl9pPr>
              <a:defRPr sz="1000" b="0">
                <a:solidFill>
                  <a:srgbClr val="B9C4D3"/>
                </a:solidFill>
              </a:defRPr>
            </a:lvl9pPr>
          </a:lstStyle>
          <a:p xmlns:a="http://schemas.openxmlformats.org/drawingml/2006/main">
            <a:pPr>
              <a:defRPr sz="1000" b="0">
                <a:solidFill>
                  <a:srgbClr val="B9C4D3"/>
                </a:solidFill>
              </a:defRPr>
            </a:pPr>
            <a:r>
              <a:rPr sz="1000" b="0">
                <a:solidFill>
                  <a:srgbClr val="B9C4D3"/>
                </a:solidFill>
              </a:rPr>
              <a:t>Schermata dimostrativa ripulita da fotografia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E368EE-BE59-42CE-9618-8A37D89B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34200"/>
            <a:ext cx="1111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0">
                <a:solidFill>
                  <a:srgbClr val="65A3FF"/>
                </a:solidFill>
              </a:defRPr>
            </a:defPPr>
            <a:lvl1pPr>
              <a:defRPr sz="1100" b="0">
                <a:solidFill>
                  <a:srgbClr val="65A3FF"/>
                </a:solidFill>
              </a:defRPr>
            </a:lvl1pPr>
            <a:lvl2pPr>
              <a:defRPr sz="1100" b="0">
                <a:solidFill>
                  <a:srgbClr val="65A3FF"/>
                </a:solidFill>
              </a:defRPr>
            </a:lvl2pPr>
            <a:lvl3pPr>
              <a:defRPr sz="1100" b="0">
                <a:solidFill>
                  <a:srgbClr val="65A3FF"/>
                </a:solidFill>
              </a:defRPr>
            </a:lvl3pPr>
            <a:lvl4pPr>
              <a:defRPr sz="1100" b="0">
                <a:solidFill>
                  <a:srgbClr val="65A3FF"/>
                </a:solidFill>
              </a:defRPr>
            </a:lvl4pPr>
            <a:lvl5pPr>
              <a:defRPr sz="1100" b="0">
                <a:solidFill>
                  <a:srgbClr val="65A3FF"/>
                </a:solidFill>
              </a:defRPr>
            </a:lvl5pPr>
            <a:lvl6pPr>
              <a:defRPr sz="1100" b="0">
                <a:solidFill>
                  <a:srgbClr val="65A3FF"/>
                </a:solidFill>
              </a:defRPr>
            </a:lvl6pPr>
            <a:lvl7pPr>
              <a:defRPr sz="1100" b="0">
                <a:solidFill>
                  <a:srgbClr val="65A3FF"/>
                </a:solidFill>
              </a:defRPr>
            </a:lvl7pPr>
            <a:lvl8pPr>
              <a:defRPr sz="1100" b="0">
                <a:solidFill>
                  <a:srgbClr val="65A3FF"/>
                </a:solidFill>
              </a:defRPr>
            </a:lvl8pPr>
            <a:lvl9pPr>
              <a:defRPr sz="1100" b="0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0">
                <a:solidFill>
                  <a:srgbClr val="65A3FF"/>
                </a:solidFill>
              </a:defRPr>
            </a:pPr>
            <a:r>
              <a:rPr sz="1100" b="0">
                <a:solidFill>
                  <a:srgbClr val="65A3FF"/>
                </a:solidFill>
              </a:rPr>
              <a:t>DEMO/2026 · Esempio, non certificazione</a:t>
            </a:r>
          </a:p>
        </p:txBody>
      </p:sp>
    </p:spTree>
    <p:extLst>
      <p:ext uri="{BB962C8B-B14F-4D97-AF65-F5344CB8AC3E}">
        <p14:creationId xmlns:p14="http://schemas.microsoft.com/office/powerpoint/2010/main" val="122850941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3D1E8-A2A8-4701-A46E-C2447900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1">
                <a:solidFill>
                  <a:srgbClr val="65A3FF"/>
                </a:solidFill>
              </a:defRPr>
            </a:defPPr>
            <a:lvl1pPr>
              <a:defRPr sz="1100" b="1">
                <a:solidFill>
                  <a:srgbClr val="65A3FF"/>
                </a:solidFill>
              </a:defRPr>
            </a:lvl1pPr>
            <a:lvl2pPr>
              <a:defRPr sz="1100" b="1">
                <a:solidFill>
                  <a:srgbClr val="65A3FF"/>
                </a:solidFill>
              </a:defRPr>
            </a:lvl2pPr>
            <a:lvl3pPr>
              <a:defRPr sz="1100" b="1">
                <a:solidFill>
                  <a:srgbClr val="65A3FF"/>
                </a:solidFill>
              </a:defRPr>
            </a:lvl3pPr>
            <a:lvl4pPr>
              <a:defRPr sz="1100" b="1">
                <a:solidFill>
                  <a:srgbClr val="65A3FF"/>
                </a:solidFill>
              </a:defRPr>
            </a:lvl4pPr>
            <a:lvl5pPr>
              <a:defRPr sz="1100" b="1">
                <a:solidFill>
                  <a:srgbClr val="65A3FF"/>
                </a:solidFill>
              </a:defRPr>
            </a:lvl5pPr>
            <a:lvl6pPr>
              <a:defRPr sz="1100" b="1">
                <a:solidFill>
                  <a:srgbClr val="65A3FF"/>
                </a:solidFill>
              </a:defRPr>
            </a:lvl6pPr>
            <a:lvl7pPr>
              <a:defRPr sz="1100" b="1">
                <a:solidFill>
                  <a:srgbClr val="65A3FF"/>
                </a:solidFill>
              </a:defRPr>
            </a:lvl7pPr>
            <a:lvl8pPr>
              <a:defRPr sz="1100" b="1">
                <a:solidFill>
                  <a:srgbClr val="65A3FF"/>
                </a:solidFill>
              </a:defRPr>
            </a:lvl8pPr>
            <a:lvl9pPr>
              <a:defRPr sz="1100" b="1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65A3FF"/>
                </a:solidFill>
              </a:defRPr>
            </a:pPr>
            <a:r>
              <a:rPr sz="1100" b="1">
                <a:solidFill>
                  <a:srgbClr val="65A3FF"/>
                </a:solidFill>
              </a:rPr>
              <a:t>GUARDIAN 1.1.0 / VERIFICA E CORREZIONI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9D9D9-62A4-4B20-AE38-2820C3F5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7400"/>
            <a:ext cx="11277600" cy="104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00" b="1">
                <a:solidFill>
                  <a:srgbClr val="F6F8FC"/>
                </a:solidFill>
              </a:defRPr>
            </a:defPPr>
            <a:lvl1pPr>
              <a:defRPr sz="3100" b="1">
                <a:solidFill>
                  <a:srgbClr val="F6F8FC"/>
                </a:solidFill>
              </a:defRPr>
            </a:lvl1pPr>
            <a:lvl2pPr>
              <a:defRPr sz="3100" b="1">
                <a:solidFill>
                  <a:srgbClr val="F6F8FC"/>
                </a:solidFill>
              </a:defRPr>
            </a:lvl2pPr>
            <a:lvl3pPr>
              <a:defRPr sz="3100" b="1">
                <a:solidFill>
                  <a:srgbClr val="F6F8FC"/>
                </a:solidFill>
              </a:defRPr>
            </a:lvl3pPr>
            <a:lvl4pPr>
              <a:defRPr sz="3100" b="1">
                <a:solidFill>
                  <a:srgbClr val="F6F8FC"/>
                </a:solidFill>
              </a:defRPr>
            </a:lvl4pPr>
            <a:lvl5pPr>
              <a:defRPr sz="3100" b="1">
                <a:solidFill>
                  <a:srgbClr val="F6F8FC"/>
                </a:solidFill>
              </a:defRPr>
            </a:lvl5pPr>
            <a:lvl6pPr>
              <a:defRPr sz="3100" b="1">
                <a:solidFill>
                  <a:srgbClr val="F6F8FC"/>
                </a:solidFill>
              </a:defRPr>
            </a:lvl6pPr>
            <a:lvl7pPr>
              <a:defRPr sz="3100" b="1">
                <a:solidFill>
                  <a:srgbClr val="F6F8FC"/>
                </a:solidFill>
              </a:defRPr>
            </a:lvl7pPr>
            <a:lvl8pPr>
              <a:defRPr sz="3100" b="1">
                <a:solidFill>
                  <a:srgbClr val="F6F8FC"/>
                </a:solidFill>
              </a:defRPr>
            </a:lvl8pPr>
            <a:lvl9pPr>
              <a:defRPr sz="3100" b="1">
                <a:solidFill>
                  <a:srgbClr val="F6F8FC"/>
                </a:solidFill>
              </a:defRPr>
            </a:lvl9pPr>
          </a:lstStyle>
          <a:p xmlns:a="http://schemas.openxmlformats.org/drawingml/2006/main">
            <a:pPr>
              <a:defRPr sz="3100" b="1">
                <a:solidFill>
                  <a:srgbClr val="F6F8FC"/>
                </a:solidFill>
              </a:defRPr>
            </a:pPr>
            <a:r>
              <a:rPr sz="3100" b="1">
                <a:solidFill>
                  <a:srgbClr val="F6F8FC"/>
                </a:solidFill>
              </a:rPr>
              <a:t>Esempio CO2: un punto non basta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0EC33-7D9E-41A4-B3BD-7F78D9ADBC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e35d5639ce4eb9"/>
          <a:stretch xmlns:a="http://schemas.openxmlformats.org/drawingml/2006/main"/>
        </p:blipFill>
        <p:spPr>
          <a:xfrm xmlns:a="http://schemas.openxmlformats.org/drawingml/2006/main">
            <a:off x="459317" y="1955797"/>
            <a:ext cx="6853767" cy="4114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72EF3-39E8-4D36-AC6C-832DD4FA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955800"/>
            <a:ext cx="3937000" cy="463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D7E1EE"/>
                </a:solidFill>
              </a:defRPr>
            </a:defPPr>
            <a:lvl1pPr>
              <a:defRPr sz="1800" b="0">
                <a:solidFill>
                  <a:srgbClr val="D7E1EE"/>
                </a:solidFill>
              </a:defRPr>
            </a:lvl1pPr>
            <a:lvl2pPr>
              <a:defRPr sz="1800" b="0">
                <a:solidFill>
                  <a:srgbClr val="D7E1EE"/>
                </a:solidFill>
              </a:defRPr>
            </a:lvl2pPr>
            <a:lvl3pPr>
              <a:defRPr sz="1800" b="0">
                <a:solidFill>
                  <a:srgbClr val="D7E1EE"/>
                </a:solidFill>
              </a:defRPr>
            </a:lvl3pPr>
            <a:lvl4pPr>
              <a:defRPr sz="1800" b="0">
                <a:solidFill>
                  <a:srgbClr val="D7E1EE"/>
                </a:solidFill>
              </a:defRPr>
            </a:lvl4pPr>
            <a:lvl5pPr>
              <a:defRPr sz="1800" b="0">
                <a:solidFill>
                  <a:srgbClr val="D7E1EE"/>
                </a:solidFill>
              </a:defRPr>
            </a:lvl5pPr>
            <a:lvl6pPr>
              <a:defRPr sz="1800" b="0">
                <a:solidFill>
                  <a:srgbClr val="D7E1EE"/>
                </a:solidFill>
              </a:defRPr>
            </a:lvl6pPr>
            <a:lvl7pPr>
              <a:defRPr sz="1800" b="0">
                <a:solidFill>
                  <a:srgbClr val="D7E1EE"/>
                </a:solidFill>
              </a:defRPr>
            </a:lvl7pPr>
            <a:lvl8pPr>
              <a:defRPr sz="1800" b="0">
                <a:solidFill>
                  <a:srgbClr val="D7E1EE"/>
                </a:solidFill>
              </a:defRPr>
            </a:lvl8pPr>
            <a:lvl9pPr>
              <a:defRPr sz="1800" b="0">
                <a:solidFill>
                  <a:srgbClr val="D7E1EE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La schermata mostra un solo confronto: originale 887 ppm e scostamento calcolato +13 ppm.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Non è ancora possibile attivare una correzione validata dal controllo software.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Scegliere punti rappresentativi delle condizioni d’impiego con un piano di confronto adeguato.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C6CE6-66EA-4CAD-9B74-9EE1A139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6858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00" b="0">
                <a:solidFill>
                  <a:srgbClr val="B9C4D3"/>
                </a:solidFill>
              </a:defRPr>
            </a:defPPr>
            <a:lvl1pPr>
              <a:defRPr sz="1000" b="0">
                <a:solidFill>
                  <a:srgbClr val="B9C4D3"/>
                </a:solidFill>
              </a:defRPr>
            </a:lvl1pPr>
            <a:lvl2pPr>
              <a:defRPr sz="1000" b="0">
                <a:solidFill>
                  <a:srgbClr val="B9C4D3"/>
                </a:solidFill>
              </a:defRPr>
            </a:lvl2pPr>
            <a:lvl3pPr>
              <a:defRPr sz="1000" b="0">
                <a:solidFill>
                  <a:srgbClr val="B9C4D3"/>
                </a:solidFill>
              </a:defRPr>
            </a:lvl3pPr>
            <a:lvl4pPr>
              <a:defRPr sz="1000" b="0">
                <a:solidFill>
                  <a:srgbClr val="B9C4D3"/>
                </a:solidFill>
              </a:defRPr>
            </a:lvl4pPr>
            <a:lvl5pPr>
              <a:defRPr sz="1000" b="0">
                <a:solidFill>
                  <a:srgbClr val="B9C4D3"/>
                </a:solidFill>
              </a:defRPr>
            </a:lvl5pPr>
            <a:lvl6pPr>
              <a:defRPr sz="1000" b="0">
                <a:solidFill>
                  <a:srgbClr val="B9C4D3"/>
                </a:solidFill>
              </a:defRPr>
            </a:lvl6pPr>
            <a:lvl7pPr>
              <a:defRPr sz="1000" b="0">
                <a:solidFill>
                  <a:srgbClr val="B9C4D3"/>
                </a:solidFill>
              </a:defRPr>
            </a:lvl7pPr>
            <a:lvl8pPr>
              <a:defRPr sz="1000" b="0">
                <a:solidFill>
                  <a:srgbClr val="B9C4D3"/>
                </a:solidFill>
              </a:defRPr>
            </a:lvl8pPr>
            <a:lvl9pPr>
              <a:defRPr sz="1000" b="0">
                <a:solidFill>
                  <a:srgbClr val="B9C4D3"/>
                </a:solidFill>
              </a:defRPr>
            </a:lvl9pPr>
          </a:lstStyle>
          <a:p xmlns:a="http://schemas.openxmlformats.org/drawingml/2006/main">
            <a:pPr>
              <a:defRPr sz="1000" b="0">
                <a:solidFill>
                  <a:srgbClr val="B9C4D3"/>
                </a:solidFill>
              </a:defRPr>
            </a:pPr>
            <a:r>
              <a:rPr sz="1000" b="0">
                <a:solidFill>
                  <a:srgbClr val="B9C4D3"/>
                </a:solidFill>
              </a:rPr>
              <a:t>Schermata dimostrativa ripulita da fotografia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7D11FD-ABE1-4A96-8D67-BED110CE0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34200"/>
            <a:ext cx="1111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0">
                <a:solidFill>
                  <a:srgbClr val="65A3FF"/>
                </a:solidFill>
              </a:defRPr>
            </a:defPPr>
            <a:lvl1pPr>
              <a:defRPr sz="1100" b="0">
                <a:solidFill>
                  <a:srgbClr val="65A3FF"/>
                </a:solidFill>
              </a:defRPr>
            </a:lvl1pPr>
            <a:lvl2pPr>
              <a:defRPr sz="1100" b="0">
                <a:solidFill>
                  <a:srgbClr val="65A3FF"/>
                </a:solidFill>
              </a:defRPr>
            </a:lvl2pPr>
            <a:lvl3pPr>
              <a:defRPr sz="1100" b="0">
                <a:solidFill>
                  <a:srgbClr val="65A3FF"/>
                </a:solidFill>
              </a:defRPr>
            </a:lvl3pPr>
            <a:lvl4pPr>
              <a:defRPr sz="1100" b="0">
                <a:solidFill>
                  <a:srgbClr val="65A3FF"/>
                </a:solidFill>
              </a:defRPr>
            </a:lvl4pPr>
            <a:lvl5pPr>
              <a:defRPr sz="1100" b="0">
                <a:solidFill>
                  <a:srgbClr val="65A3FF"/>
                </a:solidFill>
              </a:defRPr>
            </a:lvl5pPr>
            <a:lvl6pPr>
              <a:defRPr sz="1100" b="0">
                <a:solidFill>
                  <a:srgbClr val="65A3FF"/>
                </a:solidFill>
              </a:defRPr>
            </a:lvl6pPr>
            <a:lvl7pPr>
              <a:defRPr sz="1100" b="0">
                <a:solidFill>
                  <a:srgbClr val="65A3FF"/>
                </a:solidFill>
              </a:defRPr>
            </a:lvl7pPr>
            <a:lvl8pPr>
              <a:defRPr sz="1100" b="0">
                <a:solidFill>
                  <a:srgbClr val="65A3FF"/>
                </a:solidFill>
              </a:defRPr>
            </a:lvl8pPr>
            <a:lvl9pPr>
              <a:defRPr sz="1100" b="0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0">
                <a:solidFill>
                  <a:srgbClr val="65A3FF"/>
                </a:solidFill>
              </a:defRPr>
            </a:pPr>
            <a:r>
              <a:rPr sz="1100" b="0">
                <a:solidFill>
                  <a:srgbClr val="65A3FF"/>
                </a:solidFill>
              </a:rPr>
              <a:t>DEMO/2026 · Esempio, non certificazione</a:t>
            </a:r>
          </a:p>
        </p:txBody>
      </p:sp>
    </p:spTree>
    <p:extLst>
      <p:ext uri="{BB962C8B-B14F-4D97-AF65-F5344CB8AC3E}">
        <p14:creationId xmlns:p14="http://schemas.microsoft.com/office/powerpoint/2010/main" val="11715095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4B59C-589C-47A0-96A9-71ABBA27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1">
                <a:solidFill>
                  <a:srgbClr val="65A3FF"/>
                </a:solidFill>
              </a:defRPr>
            </a:defPPr>
            <a:lvl1pPr>
              <a:defRPr sz="1100" b="1">
                <a:solidFill>
                  <a:srgbClr val="65A3FF"/>
                </a:solidFill>
              </a:defRPr>
            </a:lvl1pPr>
            <a:lvl2pPr>
              <a:defRPr sz="1100" b="1">
                <a:solidFill>
                  <a:srgbClr val="65A3FF"/>
                </a:solidFill>
              </a:defRPr>
            </a:lvl2pPr>
            <a:lvl3pPr>
              <a:defRPr sz="1100" b="1">
                <a:solidFill>
                  <a:srgbClr val="65A3FF"/>
                </a:solidFill>
              </a:defRPr>
            </a:lvl3pPr>
            <a:lvl4pPr>
              <a:defRPr sz="1100" b="1">
                <a:solidFill>
                  <a:srgbClr val="65A3FF"/>
                </a:solidFill>
              </a:defRPr>
            </a:lvl4pPr>
            <a:lvl5pPr>
              <a:defRPr sz="1100" b="1">
                <a:solidFill>
                  <a:srgbClr val="65A3FF"/>
                </a:solidFill>
              </a:defRPr>
            </a:lvl5pPr>
            <a:lvl6pPr>
              <a:defRPr sz="1100" b="1">
                <a:solidFill>
                  <a:srgbClr val="65A3FF"/>
                </a:solidFill>
              </a:defRPr>
            </a:lvl6pPr>
            <a:lvl7pPr>
              <a:defRPr sz="1100" b="1">
                <a:solidFill>
                  <a:srgbClr val="65A3FF"/>
                </a:solidFill>
              </a:defRPr>
            </a:lvl7pPr>
            <a:lvl8pPr>
              <a:defRPr sz="1100" b="1">
                <a:solidFill>
                  <a:srgbClr val="65A3FF"/>
                </a:solidFill>
              </a:defRPr>
            </a:lvl8pPr>
            <a:lvl9pPr>
              <a:defRPr sz="1100" b="1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65A3FF"/>
                </a:solidFill>
              </a:defRPr>
            </a:pPr>
            <a:r>
              <a:rPr sz="1100" b="1">
                <a:solidFill>
                  <a:srgbClr val="65A3FF"/>
                </a:solidFill>
              </a:rPr>
              <a:t>GUARDIAN 1.1.0 / VERIFICA E CORREZIONI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C45AE9-4F6B-43CF-BBC3-784B9622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7400"/>
            <a:ext cx="11277600" cy="104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00" b="1">
                <a:solidFill>
                  <a:srgbClr val="F6F8FC"/>
                </a:solidFill>
              </a:defRPr>
            </a:defPPr>
            <a:lvl1pPr>
              <a:defRPr sz="3100" b="1">
                <a:solidFill>
                  <a:srgbClr val="F6F8FC"/>
                </a:solidFill>
              </a:defRPr>
            </a:lvl1pPr>
            <a:lvl2pPr>
              <a:defRPr sz="3100" b="1">
                <a:solidFill>
                  <a:srgbClr val="F6F8FC"/>
                </a:solidFill>
              </a:defRPr>
            </a:lvl2pPr>
            <a:lvl3pPr>
              <a:defRPr sz="3100" b="1">
                <a:solidFill>
                  <a:srgbClr val="F6F8FC"/>
                </a:solidFill>
              </a:defRPr>
            </a:lvl3pPr>
            <a:lvl4pPr>
              <a:defRPr sz="3100" b="1">
                <a:solidFill>
                  <a:srgbClr val="F6F8FC"/>
                </a:solidFill>
              </a:defRPr>
            </a:lvl4pPr>
            <a:lvl5pPr>
              <a:defRPr sz="3100" b="1">
                <a:solidFill>
                  <a:srgbClr val="F6F8FC"/>
                </a:solidFill>
              </a:defRPr>
            </a:lvl5pPr>
            <a:lvl6pPr>
              <a:defRPr sz="3100" b="1">
                <a:solidFill>
                  <a:srgbClr val="F6F8FC"/>
                </a:solidFill>
              </a:defRPr>
            </a:lvl6pPr>
            <a:lvl7pPr>
              <a:defRPr sz="3100" b="1">
                <a:solidFill>
                  <a:srgbClr val="F6F8FC"/>
                </a:solidFill>
              </a:defRPr>
            </a:lvl7pPr>
            <a:lvl8pPr>
              <a:defRPr sz="3100" b="1">
                <a:solidFill>
                  <a:srgbClr val="F6F8FC"/>
                </a:solidFill>
              </a:defRPr>
            </a:lvl8pPr>
            <a:lvl9pPr>
              <a:defRPr sz="3100" b="1">
                <a:solidFill>
                  <a:srgbClr val="F6F8FC"/>
                </a:solidFill>
              </a:defRPr>
            </a:lvl9pPr>
          </a:lstStyle>
          <a:p xmlns:a="http://schemas.openxmlformats.org/drawingml/2006/main">
            <a:pPr>
              <a:defRPr sz="3100" b="1">
                <a:solidFill>
                  <a:srgbClr val="F6F8FC"/>
                </a:solidFill>
              </a:defRPr>
            </a:pPr>
            <a:r>
              <a:rPr sz="3100" b="1">
                <a:solidFill>
                  <a:srgbClr val="F6F8FC"/>
                </a:solidFill>
              </a:rPr>
              <a:t>Confronto CO2 e conservazione dei dati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5BD8E4-79A1-4E4A-A156-3D973014A1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120f8aca7f4d26"/>
          <a:stretch xmlns:a="http://schemas.openxmlformats.org/drawingml/2006/main"/>
        </p:blipFill>
        <p:spPr>
          <a:xfrm xmlns:a="http://schemas.openxmlformats.org/drawingml/2006/main">
            <a:off x="457200" y="1956644"/>
            <a:ext cx="6858000" cy="4113106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F899F2-66C0-4DBC-979C-9B9DF0DF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955800"/>
            <a:ext cx="3937000" cy="463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D7E1EE"/>
                </a:solidFill>
              </a:defRPr>
            </a:defPPr>
            <a:lvl1pPr>
              <a:defRPr sz="1800" b="0">
                <a:solidFill>
                  <a:srgbClr val="D7E1EE"/>
                </a:solidFill>
              </a:defRPr>
            </a:lvl1pPr>
            <a:lvl2pPr>
              <a:defRPr sz="1800" b="0">
                <a:solidFill>
                  <a:srgbClr val="D7E1EE"/>
                </a:solidFill>
              </a:defRPr>
            </a:lvl2pPr>
            <a:lvl3pPr>
              <a:defRPr sz="1800" b="0">
                <a:solidFill>
                  <a:srgbClr val="D7E1EE"/>
                </a:solidFill>
              </a:defRPr>
            </a:lvl3pPr>
            <a:lvl4pPr>
              <a:defRPr sz="1800" b="0">
                <a:solidFill>
                  <a:srgbClr val="D7E1EE"/>
                </a:solidFill>
              </a:defRPr>
            </a:lvl4pPr>
            <a:lvl5pPr>
              <a:defRPr sz="1800" b="0">
                <a:solidFill>
                  <a:srgbClr val="D7E1EE"/>
                </a:solidFill>
              </a:defRPr>
            </a:lvl5pPr>
            <a:lvl6pPr>
              <a:defRPr sz="1800" b="0">
                <a:solidFill>
                  <a:srgbClr val="D7E1EE"/>
                </a:solidFill>
              </a:defRPr>
            </a:lvl6pPr>
            <a:lvl7pPr>
              <a:defRPr sz="1800" b="0">
                <a:solidFill>
                  <a:srgbClr val="D7E1EE"/>
                </a:solidFill>
              </a:defRPr>
            </a:lvl7pPr>
            <a:lvl8pPr>
              <a:defRPr sz="1800" b="0">
                <a:solidFill>
                  <a:srgbClr val="D7E1EE"/>
                </a:solidFill>
              </a:defRPr>
            </a:lvl8pPr>
            <a:lvl9pPr>
              <a:defRPr sz="1800" b="0">
                <a:solidFill>
                  <a:srgbClr val="D7E1EE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La lettura originale continua ad aggiornarsi; il valore acquisito per il confronto resta quello selezionato.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I profili e il registro tecnico sono conservati sulla microSD.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Un riavvio conserva PIN e profili.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DBE1A-CE78-4B8A-9905-92114D22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6858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00" b="0">
                <a:solidFill>
                  <a:srgbClr val="B9C4D3"/>
                </a:solidFill>
              </a:defRPr>
            </a:defPPr>
            <a:lvl1pPr>
              <a:defRPr sz="1000" b="0">
                <a:solidFill>
                  <a:srgbClr val="B9C4D3"/>
                </a:solidFill>
              </a:defRPr>
            </a:lvl1pPr>
            <a:lvl2pPr>
              <a:defRPr sz="1000" b="0">
                <a:solidFill>
                  <a:srgbClr val="B9C4D3"/>
                </a:solidFill>
              </a:defRPr>
            </a:lvl2pPr>
            <a:lvl3pPr>
              <a:defRPr sz="1000" b="0">
                <a:solidFill>
                  <a:srgbClr val="B9C4D3"/>
                </a:solidFill>
              </a:defRPr>
            </a:lvl3pPr>
            <a:lvl4pPr>
              <a:defRPr sz="1000" b="0">
                <a:solidFill>
                  <a:srgbClr val="B9C4D3"/>
                </a:solidFill>
              </a:defRPr>
            </a:lvl4pPr>
            <a:lvl5pPr>
              <a:defRPr sz="1000" b="0">
                <a:solidFill>
                  <a:srgbClr val="B9C4D3"/>
                </a:solidFill>
              </a:defRPr>
            </a:lvl5pPr>
            <a:lvl6pPr>
              <a:defRPr sz="1000" b="0">
                <a:solidFill>
                  <a:srgbClr val="B9C4D3"/>
                </a:solidFill>
              </a:defRPr>
            </a:lvl6pPr>
            <a:lvl7pPr>
              <a:defRPr sz="1000" b="0">
                <a:solidFill>
                  <a:srgbClr val="B9C4D3"/>
                </a:solidFill>
              </a:defRPr>
            </a:lvl7pPr>
            <a:lvl8pPr>
              <a:defRPr sz="1000" b="0">
                <a:solidFill>
                  <a:srgbClr val="B9C4D3"/>
                </a:solidFill>
              </a:defRPr>
            </a:lvl8pPr>
            <a:lvl9pPr>
              <a:defRPr sz="1000" b="0">
                <a:solidFill>
                  <a:srgbClr val="B9C4D3"/>
                </a:solidFill>
              </a:defRPr>
            </a:lvl9pPr>
          </a:lstStyle>
          <a:p xmlns:a="http://schemas.openxmlformats.org/drawingml/2006/main">
            <a:pPr>
              <a:defRPr sz="1000" b="0">
                <a:solidFill>
                  <a:srgbClr val="B9C4D3"/>
                </a:solidFill>
              </a:defRPr>
            </a:pPr>
            <a:r>
              <a:rPr sz="1000" b="0">
                <a:solidFill>
                  <a:srgbClr val="B9C4D3"/>
                </a:solidFill>
              </a:rPr>
              <a:t>Schermata dimostrativa ripulita da fotografia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5DED5C-EA33-4EE9-B94A-9B1D94BD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34200"/>
            <a:ext cx="1111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0">
                <a:solidFill>
                  <a:srgbClr val="65A3FF"/>
                </a:solidFill>
              </a:defRPr>
            </a:defPPr>
            <a:lvl1pPr>
              <a:defRPr sz="1100" b="0">
                <a:solidFill>
                  <a:srgbClr val="65A3FF"/>
                </a:solidFill>
              </a:defRPr>
            </a:lvl1pPr>
            <a:lvl2pPr>
              <a:defRPr sz="1100" b="0">
                <a:solidFill>
                  <a:srgbClr val="65A3FF"/>
                </a:solidFill>
              </a:defRPr>
            </a:lvl2pPr>
            <a:lvl3pPr>
              <a:defRPr sz="1100" b="0">
                <a:solidFill>
                  <a:srgbClr val="65A3FF"/>
                </a:solidFill>
              </a:defRPr>
            </a:lvl3pPr>
            <a:lvl4pPr>
              <a:defRPr sz="1100" b="0">
                <a:solidFill>
                  <a:srgbClr val="65A3FF"/>
                </a:solidFill>
              </a:defRPr>
            </a:lvl4pPr>
            <a:lvl5pPr>
              <a:defRPr sz="1100" b="0">
                <a:solidFill>
                  <a:srgbClr val="65A3FF"/>
                </a:solidFill>
              </a:defRPr>
            </a:lvl5pPr>
            <a:lvl6pPr>
              <a:defRPr sz="1100" b="0">
                <a:solidFill>
                  <a:srgbClr val="65A3FF"/>
                </a:solidFill>
              </a:defRPr>
            </a:lvl6pPr>
            <a:lvl7pPr>
              <a:defRPr sz="1100" b="0">
                <a:solidFill>
                  <a:srgbClr val="65A3FF"/>
                </a:solidFill>
              </a:defRPr>
            </a:lvl7pPr>
            <a:lvl8pPr>
              <a:defRPr sz="1100" b="0">
                <a:solidFill>
                  <a:srgbClr val="65A3FF"/>
                </a:solidFill>
              </a:defRPr>
            </a:lvl8pPr>
            <a:lvl9pPr>
              <a:defRPr sz="1100" b="0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0">
                <a:solidFill>
                  <a:srgbClr val="65A3FF"/>
                </a:solidFill>
              </a:defRPr>
            </a:pPr>
            <a:r>
              <a:rPr sz="1100" b="0">
                <a:solidFill>
                  <a:srgbClr val="65A3FF"/>
                </a:solidFill>
              </a:rPr>
              <a:t>DEMO/2026 · Esempio, non certificazione</a:t>
            </a:r>
          </a:p>
        </p:txBody>
      </p:sp>
    </p:spTree>
    <p:extLst>
      <p:ext uri="{BB962C8B-B14F-4D97-AF65-F5344CB8AC3E}">
        <p14:creationId xmlns:p14="http://schemas.microsoft.com/office/powerpoint/2010/main" val="142686789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3AA256-609F-48C5-8DC5-C454B031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1">
                <a:solidFill>
                  <a:srgbClr val="65A3FF"/>
                </a:solidFill>
              </a:defRPr>
            </a:defPPr>
            <a:lvl1pPr>
              <a:defRPr sz="1100" b="1">
                <a:solidFill>
                  <a:srgbClr val="65A3FF"/>
                </a:solidFill>
              </a:defRPr>
            </a:lvl1pPr>
            <a:lvl2pPr>
              <a:defRPr sz="1100" b="1">
                <a:solidFill>
                  <a:srgbClr val="65A3FF"/>
                </a:solidFill>
              </a:defRPr>
            </a:lvl2pPr>
            <a:lvl3pPr>
              <a:defRPr sz="1100" b="1">
                <a:solidFill>
                  <a:srgbClr val="65A3FF"/>
                </a:solidFill>
              </a:defRPr>
            </a:lvl3pPr>
            <a:lvl4pPr>
              <a:defRPr sz="1100" b="1">
                <a:solidFill>
                  <a:srgbClr val="65A3FF"/>
                </a:solidFill>
              </a:defRPr>
            </a:lvl4pPr>
            <a:lvl5pPr>
              <a:defRPr sz="1100" b="1">
                <a:solidFill>
                  <a:srgbClr val="65A3FF"/>
                </a:solidFill>
              </a:defRPr>
            </a:lvl5pPr>
            <a:lvl6pPr>
              <a:defRPr sz="1100" b="1">
                <a:solidFill>
                  <a:srgbClr val="65A3FF"/>
                </a:solidFill>
              </a:defRPr>
            </a:lvl6pPr>
            <a:lvl7pPr>
              <a:defRPr sz="1100" b="1">
                <a:solidFill>
                  <a:srgbClr val="65A3FF"/>
                </a:solidFill>
              </a:defRPr>
            </a:lvl7pPr>
            <a:lvl8pPr>
              <a:defRPr sz="1100" b="1">
                <a:solidFill>
                  <a:srgbClr val="65A3FF"/>
                </a:solidFill>
              </a:defRPr>
            </a:lvl8pPr>
            <a:lvl9pPr>
              <a:defRPr sz="1100" b="1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65A3FF"/>
                </a:solidFill>
              </a:defRPr>
            </a:pPr>
            <a:r>
              <a:rPr sz="1100" b="1">
                <a:solidFill>
                  <a:srgbClr val="65A3FF"/>
                </a:solidFill>
              </a:rPr>
              <a:t>GUARDIAN 1.1.0 / VERIFICA E CORREZIONI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99830-7F6C-4436-B002-DA547C5D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7400"/>
            <a:ext cx="11277600" cy="104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00" b="1">
                <a:solidFill>
                  <a:srgbClr val="F6F8FC"/>
                </a:solidFill>
              </a:defRPr>
            </a:defPPr>
            <a:lvl1pPr>
              <a:defRPr sz="3100" b="1">
                <a:solidFill>
                  <a:srgbClr val="F6F8FC"/>
                </a:solidFill>
              </a:defRPr>
            </a:lvl1pPr>
            <a:lvl2pPr>
              <a:defRPr sz="3100" b="1">
                <a:solidFill>
                  <a:srgbClr val="F6F8FC"/>
                </a:solidFill>
              </a:defRPr>
            </a:lvl2pPr>
            <a:lvl3pPr>
              <a:defRPr sz="3100" b="1">
                <a:solidFill>
                  <a:srgbClr val="F6F8FC"/>
                </a:solidFill>
              </a:defRPr>
            </a:lvl3pPr>
            <a:lvl4pPr>
              <a:defRPr sz="3100" b="1">
                <a:solidFill>
                  <a:srgbClr val="F6F8FC"/>
                </a:solidFill>
              </a:defRPr>
            </a:lvl4pPr>
            <a:lvl5pPr>
              <a:defRPr sz="3100" b="1">
                <a:solidFill>
                  <a:srgbClr val="F6F8FC"/>
                </a:solidFill>
              </a:defRPr>
            </a:lvl5pPr>
            <a:lvl6pPr>
              <a:defRPr sz="3100" b="1">
                <a:solidFill>
                  <a:srgbClr val="F6F8FC"/>
                </a:solidFill>
              </a:defRPr>
            </a:lvl6pPr>
            <a:lvl7pPr>
              <a:defRPr sz="3100" b="1">
                <a:solidFill>
                  <a:srgbClr val="F6F8FC"/>
                </a:solidFill>
              </a:defRPr>
            </a:lvl7pPr>
            <a:lvl8pPr>
              <a:defRPr sz="3100" b="1">
                <a:solidFill>
                  <a:srgbClr val="F6F8FC"/>
                </a:solidFill>
              </a:defRPr>
            </a:lvl8pPr>
            <a:lvl9pPr>
              <a:defRPr sz="3100" b="1">
                <a:solidFill>
                  <a:srgbClr val="F6F8FC"/>
                </a:solidFill>
              </a:defRPr>
            </a:lvl9pPr>
          </a:lstStyle>
          <a:p xmlns:a="http://schemas.openxmlformats.org/drawingml/2006/main">
            <a:pPr>
              <a:defRPr sz="3100" b="1">
                <a:solidFill>
                  <a:srgbClr val="F6F8FC"/>
                </a:solidFill>
              </a:defRPr>
            </a:pPr>
            <a:r>
              <a:rPr sz="3100" b="1">
                <a:solidFill>
                  <a:srgbClr val="F6F8FC"/>
                </a:solidFill>
              </a:rPr>
              <a:t>Operazioni CO2: preparare e verificare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D85706-F0B3-4919-B2AC-401235B956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3adb4ea953468f"/>
          <a:stretch xmlns:a="http://schemas.openxmlformats.org/drawingml/2006/main"/>
        </p:blipFill>
        <p:spPr>
          <a:xfrm xmlns:a="http://schemas.openxmlformats.org/drawingml/2006/main">
            <a:off x="457200" y="1956644"/>
            <a:ext cx="6858000" cy="4113106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226061-9888-414D-BFF5-22E60261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955800"/>
            <a:ext cx="3937000" cy="463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D7E1EE"/>
                </a:solidFill>
              </a:defRPr>
            </a:defPPr>
            <a:lvl1pPr>
              <a:defRPr sz="1800" b="0">
                <a:solidFill>
                  <a:srgbClr val="D7E1EE"/>
                </a:solidFill>
              </a:defRPr>
            </a:lvl1pPr>
            <a:lvl2pPr>
              <a:defRPr sz="1800" b="0">
                <a:solidFill>
                  <a:srgbClr val="D7E1EE"/>
                </a:solidFill>
              </a:defRPr>
            </a:lvl2pPr>
            <a:lvl3pPr>
              <a:defRPr sz="1800" b="0">
                <a:solidFill>
                  <a:srgbClr val="D7E1EE"/>
                </a:solidFill>
              </a:defRPr>
            </a:lvl3pPr>
            <a:lvl4pPr>
              <a:defRPr sz="1800" b="0">
                <a:solidFill>
                  <a:srgbClr val="D7E1EE"/>
                </a:solidFill>
              </a:defRPr>
            </a:lvl4pPr>
            <a:lvl5pPr>
              <a:defRPr sz="1800" b="0">
                <a:solidFill>
                  <a:srgbClr val="D7E1EE"/>
                </a:solidFill>
              </a:defRPr>
            </a:lvl5pPr>
            <a:lvl6pPr>
              <a:defRPr sz="1800" b="0">
                <a:solidFill>
                  <a:srgbClr val="D7E1EE"/>
                </a:solidFill>
              </a:defRPr>
            </a:lvl6pPr>
            <a:lvl7pPr>
              <a:defRPr sz="1800" b="0">
                <a:solidFill>
                  <a:srgbClr val="D7E1EE"/>
                </a:solidFill>
              </a:defRPr>
            </a:lvl7pPr>
            <a:lvl8pPr>
              <a:defRPr sz="1800" b="0">
                <a:solidFill>
                  <a:srgbClr val="D7E1EE"/>
                </a:solidFill>
              </a:defRPr>
            </a:lvl8pPr>
            <a:lvl9pPr>
              <a:defRPr sz="1800" b="0">
                <a:solidFill>
                  <a:srgbClr val="D7E1EE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Usare un riferimento affidabile e noto, nell’intervallo ammesso 400–2000 ppm.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PREPARA avvia tre minuti di attesa.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RIPRISTINO CO2 riguarda il canale del sensore; non è il reset dell’intero GUARDIAN.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7F843-CC8B-49F9-AB94-55E95D0A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6858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00" b="0">
                <a:solidFill>
                  <a:srgbClr val="B9C4D3"/>
                </a:solidFill>
              </a:defRPr>
            </a:defPPr>
            <a:lvl1pPr>
              <a:defRPr sz="1000" b="0">
                <a:solidFill>
                  <a:srgbClr val="B9C4D3"/>
                </a:solidFill>
              </a:defRPr>
            </a:lvl1pPr>
            <a:lvl2pPr>
              <a:defRPr sz="1000" b="0">
                <a:solidFill>
                  <a:srgbClr val="B9C4D3"/>
                </a:solidFill>
              </a:defRPr>
            </a:lvl2pPr>
            <a:lvl3pPr>
              <a:defRPr sz="1000" b="0">
                <a:solidFill>
                  <a:srgbClr val="B9C4D3"/>
                </a:solidFill>
              </a:defRPr>
            </a:lvl3pPr>
            <a:lvl4pPr>
              <a:defRPr sz="1000" b="0">
                <a:solidFill>
                  <a:srgbClr val="B9C4D3"/>
                </a:solidFill>
              </a:defRPr>
            </a:lvl4pPr>
            <a:lvl5pPr>
              <a:defRPr sz="1000" b="0">
                <a:solidFill>
                  <a:srgbClr val="B9C4D3"/>
                </a:solidFill>
              </a:defRPr>
            </a:lvl5pPr>
            <a:lvl6pPr>
              <a:defRPr sz="1000" b="0">
                <a:solidFill>
                  <a:srgbClr val="B9C4D3"/>
                </a:solidFill>
              </a:defRPr>
            </a:lvl6pPr>
            <a:lvl7pPr>
              <a:defRPr sz="1000" b="0">
                <a:solidFill>
                  <a:srgbClr val="B9C4D3"/>
                </a:solidFill>
              </a:defRPr>
            </a:lvl7pPr>
            <a:lvl8pPr>
              <a:defRPr sz="1000" b="0">
                <a:solidFill>
                  <a:srgbClr val="B9C4D3"/>
                </a:solidFill>
              </a:defRPr>
            </a:lvl8pPr>
            <a:lvl9pPr>
              <a:defRPr sz="1000" b="0">
                <a:solidFill>
                  <a:srgbClr val="B9C4D3"/>
                </a:solidFill>
              </a:defRPr>
            </a:lvl9pPr>
          </a:lstStyle>
          <a:p xmlns:a="http://schemas.openxmlformats.org/drawingml/2006/main">
            <a:pPr>
              <a:defRPr sz="1000" b="0">
                <a:solidFill>
                  <a:srgbClr val="B9C4D3"/>
                </a:solidFill>
              </a:defRPr>
            </a:pPr>
            <a:r>
              <a:rPr sz="1000" b="0">
                <a:solidFill>
                  <a:srgbClr val="B9C4D3"/>
                </a:solidFill>
              </a:rPr>
              <a:t>Schermata dimostrativa ripulita da fotografia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A2648D-2341-482E-B203-82C3D827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34200"/>
            <a:ext cx="1111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0">
                <a:solidFill>
                  <a:srgbClr val="65A3FF"/>
                </a:solidFill>
              </a:defRPr>
            </a:defPPr>
            <a:lvl1pPr>
              <a:defRPr sz="1100" b="0">
                <a:solidFill>
                  <a:srgbClr val="65A3FF"/>
                </a:solidFill>
              </a:defRPr>
            </a:lvl1pPr>
            <a:lvl2pPr>
              <a:defRPr sz="1100" b="0">
                <a:solidFill>
                  <a:srgbClr val="65A3FF"/>
                </a:solidFill>
              </a:defRPr>
            </a:lvl2pPr>
            <a:lvl3pPr>
              <a:defRPr sz="1100" b="0">
                <a:solidFill>
                  <a:srgbClr val="65A3FF"/>
                </a:solidFill>
              </a:defRPr>
            </a:lvl3pPr>
            <a:lvl4pPr>
              <a:defRPr sz="1100" b="0">
                <a:solidFill>
                  <a:srgbClr val="65A3FF"/>
                </a:solidFill>
              </a:defRPr>
            </a:lvl4pPr>
            <a:lvl5pPr>
              <a:defRPr sz="1100" b="0">
                <a:solidFill>
                  <a:srgbClr val="65A3FF"/>
                </a:solidFill>
              </a:defRPr>
            </a:lvl5pPr>
            <a:lvl6pPr>
              <a:defRPr sz="1100" b="0">
                <a:solidFill>
                  <a:srgbClr val="65A3FF"/>
                </a:solidFill>
              </a:defRPr>
            </a:lvl6pPr>
            <a:lvl7pPr>
              <a:defRPr sz="1100" b="0">
                <a:solidFill>
                  <a:srgbClr val="65A3FF"/>
                </a:solidFill>
              </a:defRPr>
            </a:lvl7pPr>
            <a:lvl8pPr>
              <a:defRPr sz="1100" b="0">
                <a:solidFill>
                  <a:srgbClr val="65A3FF"/>
                </a:solidFill>
              </a:defRPr>
            </a:lvl8pPr>
            <a:lvl9pPr>
              <a:defRPr sz="1100" b="0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0">
                <a:solidFill>
                  <a:srgbClr val="65A3FF"/>
                </a:solidFill>
              </a:defRPr>
            </a:pPr>
            <a:r>
              <a:rPr sz="1100" b="0">
                <a:solidFill>
                  <a:srgbClr val="65A3FF"/>
                </a:solidFill>
              </a:rPr>
              <a:t>DEMO/2026 · Esempio, non certificazione</a:t>
            </a:r>
          </a:p>
        </p:txBody>
      </p:sp>
    </p:spTree>
    <p:extLst>
      <p:ext uri="{BB962C8B-B14F-4D97-AF65-F5344CB8AC3E}">
        <p14:creationId xmlns:p14="http://schemas.microsoft.com/office/powerpoint/2010/main" val="20664376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A598F1-715B-4626-8C67-9D5DA97F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1">
                <a:solidFill>
                  <a:srgbClr val="65A3FF"/>
                </a:solidFill>
              </a:defRPr>
            </a:defPPr>
            <a:lvl1pPr>
              <a:defRPr sz="1100" b="1">
                <a:solidFill>
                  <a:srgbClr val="65A3FF"/>
                </a:solidFill>
              </a:defRPr>
            </a:lvl1pPr>
            <a:lvl2pPr>
              <a:defRPr sz="1100" b="1">
                <a:solidFill>
                  <a:srgbClr val="65A3FF"/>
                </a:solidFill>
              </a:defRPr>
            </a:lvl2pPr>
            <a:lvl3pPr>
              <a:defRPr sz="1100" b="1">
                <a:solidFill>
                  <a:srgbClr val="65A3FF"/>
                </a:solidFill>
              </a:defRPr>
            </a:lvl3pPr>
            <a:lvl4pPr>
              <a:defRPr sz="1100" b="1">
                <a:solidFill>
                  <a:srgbClr val="65A3FF"/>
                </a:solidFill>
              </a:defRPr>
            </a:lvl4pPr>
            <a:lvl5pPr>
              <a:defRPr sz="1100" b="1">
                <a:solidFill>
                  <a:srgbClr val="65A3FF"/>
                </a:solidFill>
              </a:defRPr>
            </a:lvl5pPr>
            <a:lvl6pPr>
              <a:defRPr sz="1100" b="1">
                <a:solidFill>
                  <a:srgbClr val="65A3FF"/>
                </a:solidFill>
              </a:defRPr>
            </a:lvl6pPr>
            <a:lvl7pPr>
              <a:defRPr sz="1100" b="1">
                <a:solidFill>
                  <a:srgbClr val="65A3FF"/>
                </a:solidFill>
              </a:defRPr>
            </a:lvl7pPr>
            <a:lvl8pPr>
              <a:defRPr sz="1100" b="1">
                <a:solidFill>
                  <a:srgbClr val="65A3FF"/>
                </a:solidFill>
              </a:defRPr>
            </a:lvl8pPr>
            <a:lvl9pPr>
              <a:defRPr sz="1100" b="1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65A3FF"/>
                </a:solidFill>
              </a:defRPr>
            </a:pPr>
            <a:r>
              <a:rPr sz="1100" b="1">
                <a:solidFill>
                  <a:srgbClr val="65A3FF"/>
                </a:solidFill>
              </a:rPr>
              <a:t>GUARDIAN 1.1.0 / VERIFICA E CORREZIONI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6F91A3-DFDE-43DD-AEEF-B1765CC8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7400"/>
            <a:ext cx="11277600" cy="104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00" b="1">
                <a:solidFill>
                  <a:srgbClr val="F6F8FC"/>
                </a:solidFill>
              </a:defRPr>
            </a:defPPr>
            <a:lvl1pPr>
              <a:defRPr sz="3100" b="1">
                <a:solidFill>
                  <a:srgbClr val="F6F8FC"/>
                </a:solidFill>
              </a:defRPr>
            </a:lvl1pPr>
            <a:lvl2pPr>
              <a:defRPr sz="3100" b="1">
                <a:solidFill>
                  <a:srgbClr val="F6F8FC"/>
                </a:solidFill>
              </a:defRPr>
            </a:lvl2pPr>
            <a:lvl3pPr>
              <a:defRPr sz="3100" b="1">
                <a:solidFill>
                  <a:srgbClr val="F6F8FC"/>
                </a:solidFill>
              </a:defRPr>
            </a:lvl3pPr>
            <a:lvl4pPr>
              <a:defRPr sz="3100" b="1">
                <a:solidFill>
                  <a:srgbClr val="F6F8FC"/>
                </a:solidFill>
              </a:defRPr>
            </a:lvl4pPr>
            <a:lvl5pPr>
              <a:defRPr sz="3100" b="1">
                <a:solidFill>
                  <a:srgbClr val="F6F8FC"/>
                </a:solidFill>
              </a:defRPr>
            </a:lvl5pPr>
            <a:lvl6pPr>
              <a:defRPr sz="3100" b="1">
                <a:solidFill>
                  <a:srgbClr val="F6F8FC"/>
                </a:solidFill>
              </a:defRPr>
            </a:lvl6pPr>
            <a:lvl7pPr>
              <a:defRPr sz="3100" b="1">
                <a:solidFill>
                  <a:srgbClr val="F6F8FC"/>
                </a:solidFill>
              </a:defRPr>
            </a:lvl7pPr>
            <a:lvl8pPr>
              <a:defRPr sz="3100" b="1">
                <a:solidFill>
                  <a:srgbClr val="F6F8FC"/>
                </a:solidFill>
              </a:defRPr>
            </a:lvl8pPr>
            <a:lvl9pPr>
              <a:defRPr sz="3100" b="1">
                <a:solidFill>
                  <a:srgbClr val="F6F8FC"/>
                </a:solidFill>
              </a:defRPr>
            </a:lvl9pPr>
          </a:lstStyle>
          <a:p xmlns:a="http://schemas.openxmlformats.org/drawingml/2006/main">
            <a:pPr>
              <a:defRPr sz="3100" b="1">
                <a:solidFill>
                  <a:srgbClr val="F6F8FC"/>
                </a:solidFill>
              </a:defRPr>
            </a:pPr>
            <a:r>
              <a:rPr sz="3100" b="1">
                <a:solidFill>
                  <a:srgbClr val="F6F8FC"/>
                </a:solidFill>
              </a:rPr>
              <a:t>Registro tecnico e tracciabilità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503250-4F25-422B-B277-EB7DD2109A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a33b0a22b4c52"/>
          <a:stretch xmlns:a="http://schemas.openxmlformats.org/drawingml/2006/main"/>
        </p:blipFill>
        <p:spPr>
          <a:xfrm xmlns:a="http://schemas.openxmlformats.org/drawingml/2006/main">
            <a:off x="1143000" y="1955797"/>
            <a:ext cx="5486400" cy="4114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F8145-19B5-4E1E-A530-90108CF6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448" y="5301440"/>
            <a:ext cx="4736188" cy="1477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E53BC-4BAC-4103-8EE9-8B465590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181" y="5305229"/>
            <a:ext cx="4736188" cy="1477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895" b="0">
                <a:solidFill>
                  <a:srgbClr val="111111"/>
                </a:solidFill>
              </a:defRPr>
            </a:defPPr>
            <a:lvl1pPr>
              <a:defRPr sz="895" b="0">
                <a:solidFill>
                  <a:srgbClr val="111111"/>
                </a:solidFill>
              </a:defRPr>
            </a:lvl1pPr>
            <a:lvl2pPr>
              <a:defRPr sz="895" b="0">
                <a:solidFill>
                  <a:srgbClr val="111111"/>
                </a:solidFill>
              </a:defRPr>
            </a:lvl2pPr>
            <a:lvl3pPr>
              <a:defRPr sz="895" b="0">
                <a:solidFill>
                  <a:srgbClr val="111111"/>
                </a:solidFill>
              </a:defRPr>
            </a:lvl3pPr>
            <a:lvl4pPr>
              <a:defRPr sz="895" b="0">
                <a:solidFill>
                  <a:srgbClr val="111111"/>
                </a:solidFill>
              </a:defRPr>
            </a:lvl4pPr>
            <a:lvl5pPr>
              <a:defRPr sz="895" b="0">
                <a:solidFill>
                  <a:srgbClr val="111111"/>
                </a:solidFill>
              </a:defRPr>
            </a:lvl5pPr>
            <a:lvl6pPr>
              <a:defRPr sz="895" b="0">
                <a:solidFill>
                  <a:srgbClr val="111111"/>
                </a:solidFill>
              </a:defRPr>
            </a:lvl6pPr>
            <a:lvl7pPr>
              <a:defRPr sz="895" b="0">
                <a:solidFill>
                  <a:srgbClr val="111111"/>
                </a:solidFill>
              </a:defRPr>
            </a:lvl7pPr>
            <a:lvl8pPr>
              <a:defRPr sz="895" b="0">
                <a:solidFill>
                  <a:srgbClr val="111111"/>
                </a:solidFill>
              </a:defRPr>
            </a:lvl8pPr>
            <a:lvl9pPr>
              <a:defRPr sz="895" b="0">
                <a:solidFill>
                  <a:srgbClr val="111111"/>
                </a:solidFill>
              </a:defRPr>
            </a:lvl9pPr>
          </a:lstStyle>
          <a:p xmlns:a="http://schemas.openxmlformats.org/drawingml/2006/main">
            <a:pPr>
              <a:defRPr sz="895" b="0">
                <a:solidFill>
                  <a:srgbClr val="111111"/>
                </a:solidFill>
              </a:defRPr>
            </a:pPr>
            <a:r>
              <a:rPr sz="895" b="0">
                <a:solidFill>
                  <a:srgbClr val="111111"/>
                </a:solidFill>
              </a:rPr>
              <a:t>17;1793117537;517423;2;clear;display;0.00000;0.00000;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E8C019-B8F2-459A-B88B-74F0E0919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1955800"/>
            <a:ext cx="3937000" cy="463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D7E1EE"/>
                </a:solidFill>
              </a:defRPr>
            </a:defPPr>
            <a:lvl1pPr>
              <a:defRPr sz="1800" b="0">
                <a:solidFill>
                  <a:srgbClr val="D7E1EE"/>
                </a:solidFill>
              </a:defRPr>
            </a:lvl1pPr>
            <a:lvl2pPr>
              <a:defRPr sz="1800" b="0">
                <a:solidFill>
                  <a:srgbClr val="D7E1EE"/>
                </a:solidFill>
              </a:defRPr>
            </a:lvl2pPr>
            <a:lvl3pPr>
              <a:defRPr sz="1800" b="0">
                <a:solidFill>
                  <a:srgbClr val="D7E1EE"/>
                </a:solidFill>
              </a:defRPr>
            </a:lvl3pPr>
            <a:lvl4pPr>
              <a:defRPr sz="1800" b="0">
                <a:solidFill>
                  <a:srgbClr val="D7E1EE"/>
                </a:solidFill>
              </a:defRPr>
            </a:lvl4pPr>
            <a:lvl5pPr>
              <a:defRPr sz="1800" b="0">
                <a:solidFill>
                  <a:srgbClr val="D7E1EE"/>
                </a:solidFill>
              </a:defRPr>
            </a:lvl5pPr>
            <a:lvl6pPr>
              <a:defRPr sz="1800" b="0">
                <a:solidFill>
                  <a:srgbClr val="D7E1EE"/>
                </a:solidFill>
              </a:defRPr>
            </a:lvl6pPr>
            <a:lvl7pPr>
              <a:defRPr sz="1800" b="0">
                <a:solidFill>
                  <a:srgbClr val="D7E1EE"/>
                </a:solidFill>
              </a:defRPr>
            </a:lvl7pPr>
            <a:lvl8pPr>
              <a:defRPr sz="1800" b="0">
                <a:solidFill>
                  <a:srgbClr val="D7E1EE"/>
                </a:solidFill>
              </a:defRPr>
            </a:lvl8pPr>
            <a:lvl9pPr>
              <a:defRPr sz="1800" b="0">
                <a:solidFill>
                  <a:srgbClr val="D7E1EE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Il registro conserva gli ultimi 48 eventi: aggiunta di confronti, attivazione, disattivazione e cancellazione dei profili.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Per esportare: aprire il browser sulla stessa rete, MANUTENZIONE &gt; Verifica e correzioni (PIN).</a:t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D7E1EE"/>
                </a:solidFill>
              </a:defRPr>
            </a:pPr>
            <a:r>
              <a:rPr sz="1800" b="0">
                <a:solidFill>
                  <a:srgbClr val="D7E1EE"/>
                </a:solidFill>
              </a:rPr>
              <a:t>Le colonne riportano sequenza, UTC, tempo dall’avvio, parametro, azione, origine, prima/dopo e rapporto.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5C500-96DD-4BA9-86EE-166AD764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6858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00" b="0">
                <a:solidFill>
                  <a:srgbClr val="B9C4D3"/>
                </a:solidFill>
              </a:defRPr>
            </a:defPPr>
            <a:lvl1pPr>
              <a:defRPr sz="1000" b="0">
                <a:solidFill>
                  <a:srgbClr val="B9C4D3"/>
                </a:solidFill>
              </a:defRPr>
            </a:lvl1pPr>
            <a:lvl2pPr>
              <a:defRPr sz="1000" b="0">
                <a:solidFill>
                  <a:srgbClr val="B9C4D3"/>
                </a:solidFill>
              </a:defRPr>
            </a:lvl2pPr>
            <a:lvl3pPr>
              <a:defRPr sz="1000" b="0">
                <a:solidFill>
                  <a:srgbClr val="B9C4D3"/>
                </a:solidFill>
              </a:defRPr>
            </a:lvl3pPr>
            <a:lvl4pPr>
              <a:defRPr sz="1000" b="0">
                <a:solidFill>
                  <a:srgbClr val="B9C4D3"/>
                </a:solidFill>
              </a:defRPr>
            </a:lvl4pPr>
            <a:lvl5pPr>
              <a:defRPr sz="1000" b="0">
                <a:solidFill>
                  <a:srgbClr val="B9C4D3"/>
                </a:solidFill>
              </a:defRPr>
            </a:lvl5pPr>
            <a:lvl6pPr>
              <a:defRPr sz="1000" b="0">
                <a:solidFill>
                  <a:srgbClr val="B9C4D3"/>
                </a:solidFill>
              </a:defRPr>
            </a:lvl6pPr>
            <a:lvl7pPr>
              <a:defRPr sz="1000" b="0">
                <a:solidFill>
                  <a:srgbClr val="B9C4D3"/>
                </a:solidFill>
              </a:defRPr>
            </a:lvl7pPr>
            <a:lvl8pPr>
              <a:defRPr sz="1000" b="0">
                <a:solidFill>
                  <a:srgbClr val="B9C4D3"/>
                </a:solidFill>
              </a:defRPr>
            </a:lvl8pPr>
            <a:lvl9pPr>
              <a:defRPr sz="1000" b="0">
                <a:solidFill>
                  <a:srgbClr val="B9C4D3"/>
                </a:solidFill>
              </a:defRPr>
            </a:lvl9pPr>
          </a:lstStyle>
          <a:p xmlns:a="http://schemas.openxmlformats.org/drawingml/2006/main">
            <a:pPr>
              <a:defRPr sz="1000" b="0">
                <a:solidFill>
                  <a:srgbClr val="B9C4D3"/>
                </a:solidFill>
              </a:defRPr>
            </a:pPr>
            <a:r>
              <a:rPr sz="1000" b="0">
                <a:solidFill>
                  <a:srgbClr val="B9C4D3"/>
                </a:solidFill>
              </a:rPr>
              <a:t>Registro: nuova foto ottimizzata.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CCD6C9-8A37-4C2C-A858-8DD126DA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34200"/>
            <a:ext cx="1111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00" b="0">
                <a:solidFill>
                  <a:srgbClr val="65A3FF"/>
                </a:solidFill>
              </a:defRPr>
            </a:defPPr>
            <a:lvl1pPr>
              <a:defRPr sz="1100" b="0">
                <a:solidFill>
                  <a:srgbClr val="65A3FF"/>
                </a:solidFill>
              </a:defRPr>
            </a:lvl1pPr>
            <a:lvl2pPr>
              <a:defRPr sz="1100" b="0">
                <a:solidFill>
                  <a:srgbClr val="65A3FF"/>
                </a:solidFill>
              </a:defRPr>
            </a:lvl2pPr>
            <a:lvl3pPr>
              <a:defRPr sz="1100" b="0">
                <a:solidFill>
                  <a:srgbClr val="65A3FF"/>
                </a:solidFill>
              </a:defRPr>
            </a:lvl3pPr>
            <a:lvl4pPr>
              <a:defRPr sz="1100" b="0">
                <a:solidFill>
                  <a:srgbClr val="65A3FF"/>
                </a:solidFill>
              </a:defRPr>
            </a:lvl4pPr>
            <a:lvl5pPr>
              <a:defRPr sz="1100" b="0">
                <a:solidFill>
                  <a:srgbClr val="65A3FF"/>
                </a:solidFill>
              </a:defRPr>
            </a:lvl5pPr>
            <a:lvl6pPr>
              <a:defRPr sz="1100" b="0">
                <a:solidFill>
                  <a:srgbClr val="65A3FF"/>
                </a:solidFill>
              </a:defRPr>
            </a:lvl6pPr>
            <a:lvl7pPr>
              <a:defRPr sz="1100" b="0">
                <a:solidFill>
                  <a:srgbClr val="65A3FF"/>
                </a:solidFill>
              </a:defRPr>
            </a:lvl7pPr>
            <a:lvl8pPr>
              <a:defRPr sz="1100" b="0">
                <a:solidFill>
                  <a:srgbClr val="65A3FF"/>
                </a:solidFill>
              </a:defRPr>
            </a:lvl8pPr>
            <a:lvl9pPr>
              <a:defRPr sz="1100" b="0">
                <a:solidFill>
                  <a:srgbClr val="65A3FF"/>
                </a:solidFill>
              </a:defRPr>
            </a:lvl9pPr>
          </a:lstStyle>
          <a:p xmlns:a="http://schemas.openxmlformats.org/drawingml/2006/main">
            <a:pPr>
              <a:defRPr sz="1100" b="0">
                <a:solidFill>
                  <a:srgbClr val="65A3FF"/>
                </a:solidFill>
              </a:defRPr>
            </a:pPr>
            <a:r>
              <a:rPr sz="1100" b="0">
                <a:solidFill>
                  <a:srgbClr val="65A3FF"/>
                </a:solidFill>
              </a:rPr>
              <a:t>DEMO/2026 · Esempio, non certificazione</a:t>
            </a:r>
          </a:p>
        </p:txBody>
      </p:sp>
    </p:spTree>
    <p:extLst>
      <p:ext uri="{BB962C8B-B14F-4D97-AF65-F5344CB8AC3E}">
        <p14:creationId xmlns:p14="http://schemas.microsoft.com/office/powerpoint/2010/main" val="167425470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700CEA-2E90-430C-A143-57B036CC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REALIZZAZIONE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2EF8C-3668-40CD-976D-3D9F9FB9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Accessibile e manutenibile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0764F4-015A-4941-BC02-41E78BB8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8266D-8F68-4336-8B53-3593A3AB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6172B-A90D-4268-AF82-4AF05F5A77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22d361a2564fb1"/>
          <a:stretch xmlns:a="http://schemas.openxmlformats.org/drawingml/2006/main"/>
        </p:blipFill>
        <p:spPr>
          <a:xfrm xmlns:a="http://schemas.openxmlformats.org/drawingml/2006/main">
            <a:off x="901700" y="1397000"/>
            <a:ext cx="4572000" cy="34290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350C1B-20D1-4F4A-A823-E8508A49BF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0636314da04019"/>
          <a:stretch xmlns:a="http://schemas.openxmlformats.org/drawingml/2006/main"/>
        </p:blipFill>
        <p:spPr>
          <a:xfrm xmlns:a="http://schemas.openxmlformats.org/drawingml/2006/main">
            <a:off x="6756400" y="1397000"/>
            <a:ext cx="4572000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343959-1AA1-4F63-AE11-16D5397F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45100"/>
            <a:ext cx="1127760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Due accessi USB-C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1DD4C-7757-4C0E-93AB-39AA95B3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5140"/>
            <a:ext cx="11277600" cy="248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Presa posteriore per alimentazione; laterale per programmazione, protetta da tappo in TPU.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FB872D-BBFE-4064-9585-5CD983E7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91860"/>
            <a:ext cx="1127760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Sensore e vano elettronica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2A89FD-9427-432D-B5EC-53D0BF40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11900"/>
            <a:ext cx="11277600" cy="248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SEN69C sul retro, supporto rimovibile e pannello separatore interno. Mantenere liberi e distinti i percorsi dell’aria.</a:t>
            </a:r>
          </a:p>
        </p:txBody>
      </p:sp>
    </p:spTree>
    <p:extLst>
      <p:ext uri="{BB962C8B-B14F-4D97-AF65-F5344CB8AC3E}">
        <p14:creationId xmlns:p14="http://schemas.microsoft.com/office/powerpoint/2010/main" val="961857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C2CC6-C9FE-4FAC-815C-00D98E9A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MISURE, MEDIE E LIMITI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35C7D8-7165-42B6-8D97-F42A1FCC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Come leggere i riferimenti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8CD185-21FB-4508-8750-F5B7BCBD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B552E-8470-4788-8F10-ADAC8931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83FB8-F5E4-4347-8D4D-30760945BFF4}"/>
              </a:ext>
            </a:extLst>
          </p:cNvPr>
          <p:cNvGraphicFramePr/>
          <p:nvPr/>
        </p:nvGraphicFramePr>
        <p:xfrm>
          <a:off xmlns:a="http://schemas.openxmlformats.org/drawingml/2006/main" x="457200" y="1587500"/>
          <a:ext xmlns:a="http://schemas.openxmlformats.org/drawingml/2006/main" cx="11277600" cy="200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87500"/>
                <a:gridCol w="3365500"/>
                <a:gridCol w="6324600"/>
              </a:tblGrid>
              <a:tr h="401320"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1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Indicazione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263B59"/>
                      </a:solidFill>
                      <a:prstDash val="solid"/>
                    </a:lnL>
                    <a:lnR w="4763">
                      <a:solidFill>
                        <a:srgbClr val="263B59"/>
                      </a:solidFill>
                      <a:prstDash val="solid"/>
                    </a:lnR>
                    <a:lnT w="4763">
                      <a:solidFill>
                        <a:srgbClr val="263B59"/>
                      </a:solidFill>
                      <a:prstDash val="solid"/>
                    </a:lnT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63B59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1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Riferimento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T w="4763">
                      <a:solidFill>
                        <a:srgbClr val="263B59"/>
                      </a:solidFill>
                      <a:prstDash val="solid"/>
                    </a:lnT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63B59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1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Uso corretto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T w="4763">
                      <a:solidFill>
                        <a:srgbClr val="263B59"/>
                      </a:solidFill>
                      <a:prstDash val="solid"/>
                    </a:lnT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63B59"/>
                    </a:solidFill>
                  </a:tcPr>
                </a:tc>
              </a:tr>
              <a:tr h="401320"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PM2.5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263B59"/>
                      </a:solidFill>
                      <a:prstDash val="solid"/>
                    </a:lnL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OMS 2021: 15 µg/m³ / 24 h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Media completa dopo 24 ore di registrazione valida; prima è parziale.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</a:tr>
              <a:tr h="401320"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PM10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263B59"/>
                      </a:solidFill>
                      <a:prstDash val="solid"/>
                    </a:lnL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02C3D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OMS 2021: 45 µg/m³ / 24 h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02C3D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Media completa dopo 24 ore di registrazione valida; prima è parziale.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02C3D"/>
                    </a:solidFill>
                  </a:tcPr>
                </a:tc>
              </a:tr>
              <a:tr h="401320"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HCHO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263B59"/>
                      </a:solidFill>
                      <a:prstDash val="solid"/>
                    </a:lnL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OMS 2010: 0,1 mg/m³ / 30 min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Circa 81 ppb a 25 °C e 1 atm; la conversione dipende dalle condizioni.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1A2331"/>
                    </a:solidFill>
                  </a:tcPr>
                </a:tc>
              </a:tr>
              <a:tr h="401320"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CO2, VOC, NOx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263B59"/>
                      </a:solidFill>
                      <a:prstDash val="solid"/>
                    </a:lnL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02C3D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Ventilazione / indici relativi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02C3D"/>
                    </a:solidFill>
                  </a:tcPr>
                </a:tc>
                <a:tc>
                  <a:txBody>
                    <a:bodyPr lIns="114300" tIns="76200" rIns="114300" bIns="76200">
                      <a:noAutofit/>
                    </a:bodyPr>
                    <a:lstStyle/>
                    <a:p>
                      <a:r>
                        <a:rPr sz="1200" b="0">
                          <a:solidFill>
                            <a:srgbClr val="F6F8FC"/>
                          </a:solidFill>
                          <a:latin typeface="Arial"/>
                          <a:ea typeface="Arial"/>
                          <a:cs typeface="Arial"/>
                        </a:rPr>
                        <a:t>Non rilevano tutti gli inquinanti e non garantiscono da soli aria sicura.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263B59"/>
                      </a:solidFill>
                      <a:prstDash val="solid"/>
                    </a:lnR>
                    <a:lnB w="4763">
                      <a:solidFill>
                        <a:srgbClr val="263B59"/>
                      </a:solidFill>
                      <a:prstDash val="solid"/>
                    </a:lnB>
                    <a:solidFill>
                      <a:srgbClr val="202C3D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BE43C-6038-4B7D-A25C-2FEA9995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78500"/>
            <a:ext cx="112776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S6, S7, S10. Le linee guida OMS non certificano GUARDIAN e non sostituiscono la valutazione dell’esposizione professionale.</a:t>
            </a:r>
          </a:p>
        </p:txBody>
      </p:sp>
    </p:spTree>
    <p:extLst>
      <p:ext uri="{BB962C8B-B14F-4D97-AF65-F5344CB8AC3E}">
        <p14:creationId xmlns:p14="http://schemas.microsoft.com/office/powerpoint/2010/main" val="56509065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1ABEEC-8E3E-4B64-A8CF-02C92FC2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IMPIEGO E LIMITI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8E835E-969A-4B1E-B1FF-18849768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Interpretare correttamente le misure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1B2D03-8C5B-4197-AE8A-E865C399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F6E12C-7252-436B-B22F-3E003746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062EF7-A40B-40A6-B151-594403E0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1000"/>
            <a:ext cx="112776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Monitoraggio continuo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F0DE0D-588E-41F9-A840-8A2DF195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20570"/>
            <a:ext cx="11277600" cy="5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GUARDIAN riunisce letture ambientali, storico, registrazione su microSD, consultazione web e informazioni della stampante in</a:t>
            </a:r>
          </a:p>
          <a:p xmlns:a="http://schemas.openxmlformats.org/drawingml/2006/main">
            <a: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un’unica interfaccia.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52B37-1773-4573-8D34-099F1434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4470"/>
            <a:ext cx="112776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Accuratezza e condizioni di utilizzo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1BD154-7410-491C-B70C-2FBCB5CC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4040"/>
            <a:ext cx="11277600" cy="5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Le letture dipendono anche dal posizionamento, dai ricambi d’aria e dalle condizioni termiche. Non è disponibile una validazione</a:t>
            </a:r>
          </a:p>
          <a:p xmlns:a="http://schemas.openxmlformats.org/drawingml/2006/main">
            <a: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metrologica indipendente del dispositivo completo.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9203B8-DAC4-425E-A98F-8009824A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37940"/>
            <a:ext cx="112776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Limiti da mantenere visibili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4BBCF4-DEB4-4D64-AD53-A90F4BC8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7510"/>
            <a:ext cx="11277600" cy="5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Il PM ottico non misura direttamente l’intera frazione ultrafine. Gli indici gas non identificano ogni composto. Valori bassi non</a:t>
            </a:r>
          </a:p>
          <a:p xmlns:a="http://schemas.openxmlformats.org/drawingml/2006/main">
            <a:pPr>
              <a:buNone/>
              <a:defRPr sz="15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equivalgono automaticamente ad aria sicura. [S1, S8, S9]</a:t>
            </a:r>
          </a:p>
        </p:txBody>
      </p:sp>
    </p:spTree>
    <p:extLst>
      <p:ext uri="{BB962C8B-B14F-4D97-AF65-F5344CB8AC3E}">
        <p14:creationId xmlns:p14="http://schemas.microsoft.com/office/powerpoint/2010/main" val="99713362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D645C-54A5-4667-9821-68D77559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DOCUMENTAZIONE TECNICA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290BF7-4133-4375-9296-43828927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Calibrazione e conformità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C68AEC-AE1F-49D2-ADBE-869629BB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20D86A-0405-412A-AFBF-215F8743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C97B09-D706-4513-8112-F867A9BE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100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Dichiarazione Sensirion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8FB0B-83CC-4CD4-A7FC-4E3371E0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4060"/>
            <a:ext cx="11277600" cy="744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Sensirion dichiara che ogni dispositivo delle famiglie elencate, incluso SEN69C, viene collaudato singolarmente dopo la calibrazione. La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dichiarazione riguarda i sensori di particolato SEN5x/SEN6x; il documento originale è allegato al manuale. Non è un rapporto di taratura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individuale di GUARDIAN né una certificazione di tutti i suoi canali. [S2]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059321-80FD-4F33-8420-2D331968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Prodotto completo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6E3CD-63AF-43A7-825C-12D54DF3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79140"/>
            <a:ext cx="11277600" cy="51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La documentazione REACH/RoHS dei componenti è un elemento del fascicolo tecnico, non una dichiarazione di conformità dell’intero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dispositivo. [S16]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ABFB2B-ADC2-49E9-BF84-EC9ABF58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7002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Prima di un’eventuale commercializzazione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522BC7-3286-4F03-9BA6-174896AD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23080"/>
            <a:ext cx="11277600" cy="51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Andranno definiti gli obblighi applicabili al prodotto finito e verificate sicurezza, radio/compatibilità elettromagnetica e documentazione. RED,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RoHS, RAEE e REACH sono riferimenti da valutare: qui non si dichiara una certificazione ottenuta. [S11-S15]</a:t>
            </a:r>
          </a:p>
        </p:txBody>
      </p:sp>
    </p:spTree>
    <p:extLst>
      <p:ext uri="{BB962C8B-B14F-4D97-AF65-F5344CB8AC3E}">
        <p14:creationId xmlns:p14="http://schemas.microsoft.com/office/powerpoint/2010/main" val="162626221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13F1B4-E8FF-4DA4-BCA4-21FD034F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EDIZIONE OTTOBRE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3C09-71CE-4B94-A30D-DF3BFBB6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Illuminazione: aggiornamento collaudato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2923CE-DFD1-4E72-A35E-FA3BF813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C9EE8-9739-42E0-8D5F-0C2547E5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9EC82-A5C7-49D6-ADE3-A6A0E4F3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100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PWM della retroilluminazione a 25 kHz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3ECB46-DEF6-4743-A53C-257FC9CA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4060"/>
            <a:ext cx="11277600" cy="51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Il proprietario ha confermato la scomparsa del sibilo a 5 kHz dopo il passaggio a 25 kHz. Verificate con esito positivo la luminosità manuale e la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programmazione giorno/notte.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FF073-39B4-4226-AB08-1D80F648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494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Identificazione della versione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75E36B-8060-4ED8-AEEA-E380900B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0"/>
            <a:ext cx="11277600" cy="51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Questa edizione descrive GUARDIAN bilingue con la modifica a 25 kHz. Lo sketch collaudato riporta 1.0.0-rc3-pwm25-test1: questa sigla può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ancora comparire sul dispositivo e nel browser.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DEFF07-DD47-4454-B26F-61577D43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3888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Impostazioni e aggiornamenti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368C8D-DDF9-4EF3-868B-E9EC9D7E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1940"/>
            <a:ext cx="1127760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La luminosità resta regolabile da display e browser. Questa modifica non richiede ripristino di fabbrica né formattazione della microSD.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439B3D-BC16-4B56-96B1-F5527ECC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5168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Ambito del collaudo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91E34A-46F8-4672-A16C-4F2E0967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04740"/>
            <a:ext cx="11277600" cy="51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La verifica funzionale sul prototipo del proprietario consente di mantenere questa impostazione. Non costituisce validazione metrologica o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certificazione del prodotto completo.</a:t>
            </a:r>
          </a:p>
        </p:txBody>
      </p:sp>
    </p:spTree>
    <p:extLst>
      <p:ext uri="{BB962C8B-B14F-4D97-AF65-F5344CB8AC3E}">
        <p14:creationId xmlns:p14="http://schemas.microsoft.com/office/powerpoint/2010/main" val="54685146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4CF9E3-A854-469F-8CDB-1CB9A1CA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COMANDI SUL DISPLAY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1294D1-625B-420E-9396-93B83509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Il menu ALTRO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7C3C4-13D7-43F3-8474-6408FAF8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DCFF0-2FF6-43CB-82FB-7A305B3E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1B36D-23B1-4EDE-9059-19D4221EE4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cc4fa427440d1"/>
          <a:stretch xmlns:a="http://schemas.openxmlformats.org/drawingml/2006/main"/>
        </p:blipFill>
        <p:spPr>
          <a:xfrm xmlns:a="http://schemas.openxmlformats.org/drawingml/2006/main">
            <a:off x="2707938" y="1333500"/>
            <a:ext cx="6776124" cy="4064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997CB3-BAE2-464C-B659-81C59965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78500"/>
            <a:ext cx="11277600" cy="265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Selezionare SISTEMA per scegliere la lingua oppure accedere a riavvio e ripristino.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CFBAAF-EFAC-40F3-B9D7-618CFEC0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794500"/>
            <a:ext cx="112776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Immagine ripulita dalla fotografia fornita: riflessi rimossi e prospettiva corretta. Testi e comandi mantenuti.</a:t>
            </a:r>
          </a:p>
        </p:txBody>
      </p:sp>
    </p:spTree>
    <p:extLst>
      <p:ext uri="{BB962C8B-B14F-4D97-AF65-F5344CB8AC3E}">
        <p14:creationId xmlns:p14="http://schemas.microsoft.com/office/powerpoint/2010/main" val="51193286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886DFB-2E82-44D7-AFA8-BC50D613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COMANDI SUL DISPLAY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1FE11A-3B46-47BC-9848-0F264975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Sistema e lingua dell’interfaccia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E00007-29ED-4C89-9C83-56311BE4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92EA6D-4D3A-4DDF-A1CE-92BB5182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746AC2-EA60-44BE-86B2-3CF7E8359F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9ea0e33844654"/>
          <a:stretch xmlns:a="http://schemas.openxmlformats.org/drawingml/2006/main"/>
        </p:blipFill>
        <p:spPr>
          <a:xfrm xmlns:a="http://schemas.openxmlformats.org/drawingml/2006/main">
            <a:off x="2707938" y="1333500"/>
            <a:ext cx="6776124" cy="4064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44B6F0-644B-460A-AD21-AF2B3E18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78500"/>
            <a:ext cx="11277600" cy="480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Scegliere Italiano o English: la lingua viene salvata senza riavvio. RIAVVIA conserva le impostazioni; RIPRISTINO cancella impostazioni GUARDIAN e</a:t>
            </a:r>
          </a:p>
          <a:p xmlns:a="http://schemas.openxmlformats.org/drawingml/2006/main">
            <a:pPr>
              <a:buNone/>
              <a:defRPr sz="13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accesso web. I CSV restano sulla microSD.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FBC181-3239-4C92-A96F-A6DBD7E0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794500"/>
            <a:ext cx="112776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Immagine ripulita dalla fotografia fornita: riflessi rimossi e prospettiva corretta. Testi e comandi mantenuti.</a:t>
            </a:r>
          </a:p>
        </p:txBody>
      </p:sp>
    </p:spTree>
    <p:extLst>
      <p:ext uri="{BB962C8B-B14F-4D97-AF65-F5344CB8AC3E}">
        <p14:creationId xmlns:p14="http://schemas.microsoft.com/office/powerpoint/2010/main" val="174304888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85AD6E-FD68-4B94-9875-20F4F4E7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LINGUA DELL’INTERFACCIA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567B9B-958C-43F2-9EF2-DDF9757D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Italiano e English sullo stesso dispositivo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BA82C-9019-4E24-B236-10F37F50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61E9F9-5A26-4EF5-A207-0F0D7B64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6D786D-2E54-4FED-9246-4F72B641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100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Scelta sul display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B3A41-19C0-483F-9B05-22C21494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4060"/>
            <a:ext cx="11277600" cy="51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ALTRO → SISTEMA: scegliere Italiano o English. La scelta viene memorizzata senza riavvio. Al primo avvio senza preferenze salvate viene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usato l’italiano.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C7D217-97AC-4809-AE6A-01291BA9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494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PC e smartphone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3052F1-49F6-49E3-968A-481A2831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0"/>
            <a:ext cx="11277600" cy="51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Seguono la lingua del display ricaricando la pagina entro circa 3 secondi quando raggiungibile. Salvare i moduli aperti prima di cambiare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lingua.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B795C1-C41B-4B4A-9CF6-A7F5DAF3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0774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Dopo il riavvio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7A6AAA-7200-42E1-9EF3-42C58EC0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60800"/>
            <a:ext cx="1127760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La scelta resta salvata. Il ripristino GUARDIAN riporta all’italiano. Nomi lavori, dati inseriti e formato CSV rimangono invariati.</a:t>
            </a:r>
          </a:p>
        </p:txBody>
      </p:sp>
    </p:spTree>
    <p:extLst>
      <p:ext uri="{BB962C8B-B14F-4D97-AF65-F5344CB8AC3E}">
        <p14:creationId xmlns:p14="http://schemas.microsoft.com/office/powerpoint/2010/main" val="6570085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B5F87E-6698-4142-A4F3-5BA1E26B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CONTESTO DELLE IMMAGINI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2876A8-7DC8-4FF0-A79E-73E884CB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Misure reali e compatibilità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82DEE9-A45F-44C7-BB01-451F7AE2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92CE9-D65E-41FE-B9DB-60B3A4DB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F2C72D-C017-46CE-96A4-D07F6045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100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24 ore per la media completa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C1CC2-6879-4A9D-BC29-20A258E7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4060"/>
            <a:ext cx="11277600" cy="51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La media completa PM2.5 / PM10 richiede 24 ore di registrazione con dati validi. Prima del completamento riguarda solo il periodo disponibile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ed è parziale. HCHO usa un periodo distinto di 30 minuti.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529E23-C319-4174-ADB3-82AF2B07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494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Fotografie e dimostrazioni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F1B255-8E85-4A8B-AD21-08367FFE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0"/>
            <a:ext cx="11277600" cy="51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Le fotografie delle schermate mostrano letture reali raccolte su tempi parziali, non medie complete di 24 ore. Rete e credenziali sono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dimostrative. Le schermate ricostruite dal firmware sono indicate separatamente.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7EC23E-0BFC-4237-92C9-DCAE7E94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3888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Stampante usata nel collaudo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4AEB14-22D9-4A13-AF97-64B06F0F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1940"/>
            <a:ext cx="11277600" cy="51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Collaudo: Bambu Lab A1; connettività X1 Carbon verificata. GUARDIAN utilizza i protocolli Bambu Lab; altri modelli richiedono verifica. Per altri marchi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occorrono verifica e possibile adattamento.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B1C09F-D343-41E6-A6E2-108C49DB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8282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Edizione bilingue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EA07EA-A92F-49BC-B69D-F64E0B94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35880"/>
            <a:ext cx="11277600" cy="51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Questa documentazione descrive l’interfaccia italiana e inglese. Il primo collaudo funzionale ha dato esito positivo secondo il proprietario; il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collaudo software non costituisce validazione metrologica.</a:t>
            </a:r>
          </a:p>
        </p:txBody>
      </p:sp>
    </p:spTree>
    <p:extLst>
      <p:ext uri="{BB962C8B-B14F-4D97-AF65-F5344CB8AC3E}">
        <p14:creationId xmlns:p14="http://schemas.microsoft.com/office/powerpoint/2010/main" val="84666257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BEA9B6-653D-4382-A0E4-300BA64C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ATLANTE DELLE SCHERMATE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980486-E5B3-4047-85D3-16B700D5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Le altre schermate di servizio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F8D30-BF11-4247-9894-E4CFED2A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D92289-FB2F-45A0-AE56-7F9BD5E1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A8FFC-5FB4-4917-B243-CEF94A4E13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c76b8ab5bb4230"/>
          <a:stretch xmlns:a="http://schemas.openxmlformats.org/drawingml/2006/main"/>
        </p:blipFill>
        <p:spPr>
          <a:xfrm xmlns:a="http://schemas.openxmlformats.org/drawingml/2006/main">
            <a:off x="1673673" y="1587500"/>
            <a:ext cx="2964554" cy="1778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C5686A-FFC5-4BCB-866B-E7E662F8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1700"/>
            <a:ext cx="11480800" cy="19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ALTRO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193BA0-605E-4561-8692-18279FAD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21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Accesso alle funzioni complementari.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CA5AF5-0EE8-4B4D-B689-E79A73EB13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022a1337694d35"/>
          <a:stretch xmlns:a="http://schemas.openxmlformats.org/drawingml/2006/main"/>
        </p:blipFill>
        <p:spPr>
          <a:xfrm xmlns:a="http://schemas.openxmlformats.org/drawingml/2006/main">
            <a:off x="7850717" y="1587500"/>
            <a:ext cx="2370667" cy="1778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6624B-B4DD-43F9-B2E6-04E7CA08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3441700"/>
            <a:ext cx="5600700" cy="19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SENSORE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6BA12A-D87C-44BB-861B-284DBFEF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3721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Presenza del modulo e informazioni di stato.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104D7C-1883-4305-A8EF-19F52EF14F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dcb94b21a439c"/>
          <a:stretch xmlns:a="http://schemas.openxmlformats.org/drawingml/2006/main"/>
        </p:blipFill>
        <p:spPr>
          <a:xfrm xmlns:a="http://schemas.openxmlformats.org/drawingml/2006/main">
            <a:off x="2057310" y="4254500"/>
            <a:ext cx="2197280" cy="1778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174C26-77F7-4995-9082-B53FABB1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08700"/>
            <a:ext cx="11480800" cy="19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DIAGNOSTICA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069D35-C8EF-471F-A01C-83F508B1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Accesso ai test display, touch e SD.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8043C1-A7E6-4C72-9EA7-49C339246D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4c0873d09740b3"/>
          <a:stretch xmlns:a="http://schemas.openxmlformats.org/drawingml/2006/main"/>
        </p:blipFill>
        <p:spPr>
          <a:xfrm xmlns:a="http://schemas.openxmlformats.org/drawingml/2006/main">
            <a:off x="7964112" y="4254500"/>
            <a:ext cx="2143876" cy="177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80BA8B-D861-4401-B754-552B43FA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6108700"/>
            <a:ext cx="5600700" cy="19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SCHEDA SD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B9D0BD-2E79-45A5-96ED-438B4E1B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6388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Stato di registrazione e comandi locali.</a:t>
            </a:r>
          </a:p>
        </p:txBody>
      </p:sp>
    </p:spTree>
    <p:extLst>
      <p:ext uri="{BB962C8B-B14F-4D97-AF65-F5344CB8AC3E}">
        <p14:creationId xmlns:p14="http://schemas.microsoft.com/office/powerpoint/2010/main" val="186768070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30D7B-B276-4535-9C55-114FF01E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ATLANTE DELLE SCHERMATE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256639-D3B9-49AF-B098-ADD80999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Controlli e configurazione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286DF-84FC-4B2F-BBB0-B52EF5F5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F9E28-9B9E-428C-98BD-9BC04310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91DD9E-D705-440A-893A-6346811E06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19ea07ce4344f3"/>
          <a:stretch xmlns:a="http://schemas.openxmlformats.org/drawingml/2006/main"/>
        </p:blipFill>
        <p:spPr>
          <a:xfrm xmlns:a="http://schemas.openxmlformats.org/drawingml/2006/main">
            <a:off x="2025513" y="1587500"/>
            <a:ext cx="2260874" cy="1778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A890B-0D13-4831-85AC-3D47FEBD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1700"/>
            <a:ext cx="11480800" cy="19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SOGLIA PARAMETRO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9268A6-F395-4342-9869-3385345C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21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Impostazione del limite operativo personale.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3A2AE2-F98B-46DD-A381-1BE19EE307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352185f87a40ad"/>
          <a:stretch xmlns:a="http://schemas.openxmlformats.org/drawingml/2006/main"/>
        </p:blipFill>
        <p:spPr>
          <a:xfrm xmlns:a="http://schemas.openxmlformats.org/drawingml/2006/main">
            <a:off x="7915448" y="1587500"/>
            <a:ext cx="2241203" cy="1778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5CA013-11C2-4745-8DC8-B9CC0C90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3441700"/>
            <a:ext cx="5600700" cy="19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ORA E FUSO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AD7099-75CC-4416-AEF1-AE207167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3721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Profilo geografico dell’orologio.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EF30DE-1867-421D-B8ED-EDF0BF9A0E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1bf2153bb545ab"/>
          <a:stretch xmlns:a="http://schemas.openxmlformats.org/drawingml/2006/main"/>
        </p:blipFill>
        <p:spPr>
          <a:xfrm xmlns:a="http://schemas.openxmlformats.org/drawingml/2006/main">
            <a:off x="1995716" y="4254500"/>
            <a:ext cx="2320468" cy="1778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82042-38DD-4C24-8A11-B7464B3A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08700"/>
            <a:ext cx="11480800" cy="19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RIPRISTINO CO2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096A15-D75D-4892-9FBD-1F0CD7D1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Conferma separata per il canale CO2.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8C8C5-60B6-404C-AB89-B90221578E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57282548414255"/>
          <a:stretch xmlns:a="http://schemas.openxmlformats.org/drawingml/2006/main"/>
        </p:blipFill>
        <p:spPr>
          <a:xfrm xmlns:a="http://schemas.openxmlformats.org/drawingml/2006/main">
            <a:off x="7553773" y="4254500"/>
            <a:ext cx="2964554" cy="177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ACB21B-40F1-4E02-832D-4F14E783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6108700"/>
            <a:ext cx="5600700" cy="19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SISTEMA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C7EBAF-DA7C-442F-B419-401FC662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6388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Riavvio o ripristino GUARDIAN.</a:t>
            </a:r>
          </a:p>
        </p:txBody>
      </p:sp>
    </p:spTree>
    <p:extLst>
      <p:ext uri="{BB962C8B-B14F-4D97-AF65-F5344CB8AC3E}">
        <p14:creationId xmlns:p14="http://schemas.microsoft.com/office/powerpoint/2010/main" val="11212739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3CBAF7-21CC-4BB0-9ABB-7E256B3F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ATLANTE DELLE SCHERMATE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E0895D-59D7-4A13-B803-F495619F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Riconoscere gli stati ambientali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F86E2A-CCB9-4071-B217-3AEAA750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A9C490-B613-43C4-A38D-6B676295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87A44D-2665-441E-9DA1-A093233531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b61400ff1a4d10"/>
          <a:stretch xmlns:a="http://schemas.openxmlformats.org/drawingml/2006/main"/>
        </p:blipFill>
        <p:spPr>
          <a:xfrm xmlns:a="http://schemas.openxmlformats.org/drawingml/2006/main">
            <a:off x="1972525" y="1587500"/>
            <a:ext cx="2366850" cy="1778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949782-2392-480B-8161-92119468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54400"/>
            <a:ext cx="114808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HOME: allarme CO2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FF5072-5098-4F0F-A2B4-7DF455F9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21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Il colore segnala la condizione rispetto alla soglia impostata.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86C75E-5061-47E7-A09B-2DC21581C0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fb2e24593d4448"/>
          <a:stretch xmlns:a="http://schemas.openxmlformats.org/drawingml/2006/main"/>
        </p:blipFill>
        <p:spPr>
          <a:xfrm xmlns:a="http://schemas.openxmlformats.org/drawingml/2006/main">
            <a:off x="7850717" y="1587500"/>
            <a:ext cx="2370667" cy="1778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838C5B-C8EF-4341-8C7E-CB30D0CD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3454400"/>
            <a:ext cx="56007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CENTRO ALLARMI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7A7681-E6B1-4DEF-B239-836A5852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3721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Leggere causa e dato corrente; un allarme è informativo.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4C58C0-F896-4AF0-8CD8-56FCF827A1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187f9db4d54600"/>
          <a:stretch xmlns:a="http://schemas.openxmlformats.org/drawingml/2006/main"/>
        </p:blipFill>
        <p:spPr>
          <a:xfrm xmlns:a="http://schemas.openxmlformats.org/drawingml/2006/main">
            <a:off x="2105944" y="4254500"/>
            <a:ext cx="2100012" cy="1778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3031EB-6846-4E56-B27B-2402340A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21400"/>
            <a:ext cx="114808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ANALISI: stampa conclusa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CDF92F-0FB6-4F90-9B71-751BD9DED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Riepilogo della sessione e dei campioni disponibili.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D7CCF6-229E-4DBD-9859-E91B027757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1c838787da44cd"/>
          <a:stretch xmlns:a="http://schemas.openxmlformats.org/drawingml/2006/main"/>
        </p:blipFill>
        <p:spPr>
          <a:xfrm xmlns:a="http://schemas.openxmlformats.org/drawingml/2006/main">
            <a:off x="7933090" y="4254500"/>
            <a:ext cx="2205920" cy="177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C29504-F76A-4767-8A35-856BFA5A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6121400"/>
            <a:ext cx="56007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FORMATTA: conferma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1D06A9-4621-494B-BA93-C3737E8D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6388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Cancella tutti i file della scheda; prima eseguire una copia.</a:t>
            </a:r>
          </a:p>
        </p:txBody>
      </p:sp>
    </p:spTree>
    <p:extLst>
      <p:ext uri="{BB962C8B-B14F-4D97-AF65-F5344CB8AC3E}">
        <p14:creationId xmlns:p14="http://schemas.microsoft.com/office/powerpoint/2010/main" val="164830966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21014-7A63-47DA-8130-278EC006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ATLANTE DELLE SCHERMATE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429F00-FF45-425D-8F93-B2DFCB87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Accesso e controlli locali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DF0893-256E-4DAF-A117-F71D53FD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6CE2D4-EC45-45C1-9ACF-FE4AFCC2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40D09-E469-4BAA-A36F-A251A37A6E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a2301413c4dab"/>
          <a:stretch xmlns:a="http://schemas.openxmlformats.org/drawingml/2006/main"/>
        </p:blipFill>
        <p:spPr>
          <a:xfrm xmlns:a="http://schemas.openxmlformats.org/drawingml/2006/main">
            <a:off x="1970617" y="1587500"/>
            <a:ext cx="2370667" cy="1778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29B868-8BCA-42EE-AD15-2DE68054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54400"/>
            <a:ext cx="114808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IMPOSTAZIONI STAMPANTE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65554-8230-4D65-A07A-B3240D95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21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IP, seriale e codice locale della propria stampante. Qui dati dimostrativi.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FC7699-DE96-4553-B1BE-141F15884B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9fe2f09d44165"/>
          <a:stretch xmlns:a="http://schemas.openxmlformats.org/drawingml/2006/main"/>
        </p:blipFill>
        <p:spPr>
          <a:xfrm xmlns:a="http://schemas.openxmlformats.org/drawingml/2006/main">
            <a:off x="7965828" y="1587500"/>
            <a:ext cx="2140444" cy="1778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E707CA-FD0E-4E51-B054-CDD943C9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3454400"/>
            <a:ext cx="56007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ACCESSO DAL BROWSER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D3ACBD-6D1C-47D8-8A33-2BED94D1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3721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Usare l’indirizzo del proprio monitor. QR qui sostituito.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297056-1511-4CFD-8104-B7CBAEB0C2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0e7fc4b1040ef"/>
          <a:stretch xmlns:a="http://schemas.openxmlformats.org/drawingml/2006/main"/>
        </p:blipFill>
        <p:spPr>
          <a:xfrm xmlns:a="http://schemas.openxmlformats.org/drawingml/2006/main">
            <a:off x="2041525" y="4254500"/>
            <a:ext cx="2228850" cy="1778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23EE25-9903-46E5-8A15-E171BCD0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21400"/>
            <a:ext cx="114808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TEST DISPLAY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FD39E7-92EE-4C85-BB50-4C01A531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88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Verificare uniformità e difetti persistenti.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B046F8-B891-4D21-9572-B3E38439A6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37c072399b462d"/>
          <a:stretch xmlns:a="http://schemas.openxmlformats.org/drawingml/2006/main"/>
        </p:blipFill>
        <p:spPr>
          <a:xfrm xmlns:a="http://schemas.openxmlformats.org/drawingml/2006/main">
            <a:off x="7886717" y="4254500"/>
            <a:ext cx="2298665" cy="177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C58028-A485-4159-92F8-E3E613EA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6121400"/>
            <a:ext cx="56007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TEST TOUCH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E6AC95-6A5C-407E-8DED-8444C898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6388100"/>
            <a:ext cx="5397500" cy="19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Controllare la risposta nei diversi punti dello schermo.</a:t>
            </a:r>
          </a:p>
        </p:txBody>
      </p:sp>
    </p:spTree>
    <p:extLst>
      <p:ext uri="{BB962C8B-B14F-4D97-AF65-F5344CB8AC3E}">
        <p14:creationId xmlns:p14="http://schemas.microsoft.com/office/powerpoint/2010/main" val="23924694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3236B4-E197-4EF9-AE23-2FBCC4AA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INTERFACCIA GUARDIAN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AF027-ADA3-4EF1-A682-5967D152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Regolare rapidamente le soglie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959A3A-764A-47F0-8AAF-ED1F8B54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3DCCB1-C73D-4642-BDB9-3AEAEFB4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036D0-5C68-4D83-AE31-F20B920EC0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fe55476d84a01"/>
          <a:stretch xmlns:a="http://schemas.openxmlformats.org/drawingml/2006/main"/>
        </p:blipFill>
        <p:spPr>
          <a:xfrm xmlns:a="http://schemas.openxmlformats.org/drawingml/2006/main">
            <a:off x="1142657" y="1435100"/>
            <a:ext cx="5652185" cy="4445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E1B6B-D6F3-470A-BEC7-B629121B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57480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Passi piccoli o grandi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6B44CC-93FB-4EB8-9C88-B593C9DB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91960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Tasti ±1, ±10 e ±100: per aumentare di 100 basta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un tocco su +100.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BF7754-C445-4480-B1E6-9562DAA5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593975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Pressione prolungata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89FADC-D9D7-4D13-A437-A6EE73DE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938780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Ripete la variazione; mantenendo ±1 premuto il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passo accelera.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51BF59-38E8-4F63-9AB2-1A7ACCFB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613150"/>
            <a:ext cx="3784600" cy="3067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5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Applicare e conservare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2DEC16-89BC-4DB3-A8FF-B3C4F5B8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957955"/>
            <a:ext cx="3784600" cy="496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Leggere l’esito del comando. Nel browser il</a:t>
            </a:r>
          </a:p>
          <a:p xmlns:a="http://schemas.openxmlformats.org/drawingml/2006/main">
            <a:pPr>
              <a:buNone/>
              <a:defRPr sz="135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valore si può inserire direttamente.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A55EE3-699F-4CF8-BC1D-DD620C1C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75400"/>
            <a:ext cx="112776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Soglie operative personali: non equivalgono a limiti sanitari certificati.</a:t>
            </a:r>
          </a:p>
        </p:txBody>
      </p:sp>
    </p:spTree>
    <p:extLst>
      <p:ext uri="{BB962C8B-B14F-4D97-AF65-F5344CB8AC3E}">
        <p14:creationId xmlns:p14="http://schemas.microsoft.com/office/powerpoint/2010/main" val="91939704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B33A7B-CF79-4089-A13F-F6599010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UTILIZZO QUOTIDIANO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4A11E4-E42A-4A6A-9DBF-093FE79C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Dal monitor al browser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7AEC4E-D391-40D2-B308-7BECDC70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E8E02F-A48F-4B65-A041-9969906A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57A53-989D-4E43-BFAE-4F89C015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100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Un percorso ordinato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EC6DA-C08B-4AB7-BBD8-76175A73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4060"/>
            <a:ext cx="1127760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ANDAMENTO AMBIENTALE → MEDIE AMBIENTALI; ANALISI STAMPA → STAMPA 3D nelle pagine PC e smartphone.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EE77B9-1D1C-4661-9A9C-1DF4B8BE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380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Nome del lavoro leggibile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9949F1-6CC3-4362-894A-2E55F711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16860"/>
            <a:ext cx="1127760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“tappo in tpu + tappo in tpu” compare come “tappo in tpu”. Nomi differenti restano visibili. Il file originale della stampa non viene rinominato.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802151-AE5C-47BC-BCC2-B444686A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7660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MANUTENZIONE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361949-48FD-4242-9446-BCA80369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29660"/>
            <a:ext cx="11277600" cy="281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Il menu usa la dicitura estesa. Preparazione CO2, calibrazione e pulizia restano procedure distinte.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1A937-8F98-43C0-B652-80C1EFBB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89400"/>
            <a:ext cx="11277600" cy="314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0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Dati e immagini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78D091-E094-4BBC-9CAC-19083813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42460"/>
            <a:ext cx="11277600" cy="51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L’anteprima del pezzo è disponibile sul monitor. Le schermate di questa guida sono esempi; rete, credenziali e seriali sono sostituiti con dati</a:t>
            </a:r>
          </a:p>
          <a:p xmlns:a="http://schemas.openxmlformats.org/drawingml/2006/main">
            <a:pPr>
              <a:buNone/>
              <a:defRPr sz="14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6F8FC"/>
                </a:solidFill>
                <a:latin typeface="Arial"/>
                <a:ea typeface="Arial"/>
                <a:cs typeface="Arial"/>
              </a:rPr>
              <a:t>dimostrativi.</a:t>
            </a:r>
          </a:p>
        </p:txBody>
      </p:sp>
    </p:spTree>
    <p:extLst>
      <p:ext uri="{BB962C8B-B14F-4D97-AF65-F5344CB8AC3E}">
        <p14:creationId xmlns:p14="http://schemas.microsoft.com/office/powerpoint/2010/main" val="204238656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62683D-D728-4ED3-8642-8495BD33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BIBLIOGRAFIA VERIFICABILE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9B067-4A8C-4537-BEF3-4DDC7217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Fonti e documenti di riferimento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8BB3B-C625-4126-B46C-A868BB95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740363-1C48-49BF-ABD5-68990A07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A8C3D7-E968-4D25-A15E-D7067646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240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50ac0dd65203461b"/>
              </a:rPr>
              <a:t>S1 · Sensirion - datasheet SEN6x (v1.0, ottobre 2026)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7305cd34a53b49c1"/>
              </a:rPr>
              <a:t>Apri il documento originale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149D8A-8179-4906-90C1-6F971AAA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7612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b01b2b5dae104d40"/>
              </a:rPr>
              <a:t>S2 · Sensirion - calibrazione di fabbrica SEN5x / SEN6x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d9b3e45a954f4fa0"/>
              </a:rPr>
              <a:t>Apri il documento originale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302F8B-8E1F-4440-B109-9630D1C3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2984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5d7de2ebe4d94436"/>
              </a:rPr>
              <a:t>S3 · Sensirion - integrazione meccanica SEN6x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0c9aba470aa34f1d"/>
              </a:rPr>
              <a:t>Apri il documento originale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A8C60-CB23-4386-9DDC-390C4A6A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8356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04e6ff636e87435e"/>
              </a:rPr>
              <a:t>S4 · Sensirion - dichiarazione sulle specifiche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e3d34566c9f14c8b"/>
              </a:rPr>
              <a:t>Apri il documento originale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B9DC01-4718-43AB-8875-F0ADF792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728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b07b5c1c5b2f4c70"/>
              </a:rPr>
              <a:t>S5 · Sensirion - compensazione termica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c69a7c4a7e6a423b"/>
              </a:rPr>
              <a:t>Apri il documento originale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248F67-FB3E-45D8-9D30-40CC63CA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e094f730e3e3417c"/>
              </a:rPr>
              <a:t>S6 · OMS - Global Air Quality Guidelines, 2021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8e6f4ce99a374876"/>
              </a:rPr>
              <a:t>Apri il documento originale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514ACB-EB68-4751-8F9F-98D9A501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4472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08041d327ca84e71"/>
              </a:rPr>
              <a:t>S7 · OMS - Indoor Air Quality: selected pollutants, 2010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bcad283677804c7e"/>
              </a:rPr>
              <a:t>Apri il documento originale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E43824-4E6C-45B4-99C2-0BB7062F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61940"/>
            <a:ext cx="11277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Consultazione: 13 ottobre 2026. I documenti dei componenti non certificano GUARDIAN completo. Le foto mostrano GUARDIAN: i numeri visualizzati sono esempi di letture, non risultati di validazione</a:t>
            </a:r>
          </a:p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metrologica.</a:t>
            </a:r>
          </a:p>
        </p:txBody>
      </p:sp>
    </p:spTree>
    <p:extLst>
      <p:ext uri="{BB962C8B-B14F-4D97-AF65-F5344CB8AC3E}">
        <p14:creationId xmlns:p14="http://schemas.microsoft.com/office/powerpoint/2010/main" val="50824541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ED1C09-88B0-4C01-8F02-72408699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BIBLIOGRAFIA VERIFICABILE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02901B-40AE-4D63-B1EA-CB6CE7E9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Fonti e documenti di riferimento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43D3A-941C-4B77-8AF8-1EF85B0C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1B5C6-7C3C-4412-9110-C3307058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7FFE48-D908-4286-8B0E-73FF34FE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240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16e9452bcf9e4aa7"/>
              </a:rPr>
              <a:t>S8 · EPA - ricerca sulle emissioni della stampa 3D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507a87ec86f748bd"/>
              </a:rPr>
              <a:t>Apri il documento originale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A99A8D-6493-4E20-9F23-832BB068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7612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84a9d44650474702"/>
              </a:rPr>
              <a:t>S9 · EPA - Air Sensor Toolbox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52387bb157444de8"/>
              </a:rPr>
              <a:t>Apri il documento originale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90ADD4-D384-4C54-8707-A5C35685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2984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7e438f36f88e4663"/>
              </a:rPr>
              <a:t>S10 · UBA - CO2 e ricambio d’aria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dfbe893968724732"/>
              </a:rPr>
              <a:t>Apri il documento originale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64219C-426F-44A2-A9E0-FD621552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8356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e3dce2b92d66405d"/>
              </a:rPr>
              <a:t>S11 · Direttiva RED 2014/53/UE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73925fe6e68d42e7"/>
              </a:rPr>
              <a:t>Apri il documento originale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58379-24DF-43C5-A796-B68BCE62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728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a3f08ced23e44ccb"/>
              </a:rPr>
              <a:t>S12 · Direttiva RoHS 2011/65/UE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ec0411f7f9e84181"/>
              </a:rPr>
              <a:t>Apri il documento originale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A9413-0D78-4522-B390-9F0AE008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28dd9e9ebf6e4120"/>
              </a:rPr>
              <a:t>S13 · Direttiva delegata (UE) 2015/863 - RoHS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8e271d0af4fb4405"/>
              </a:rPr>
              <a:t>Apri il documento originale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344052-5AA1-4C02-A7BB-0C43BB4C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4472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da6bf209ea0644b0"/>
              </a:rPr>
              <a:t>S14 · Direttiva RAEE 2012/19/UE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cf8e2e141dec4879"/>
              </a:rPr>
              <a:t>Apri il documento originale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F4C502-6080-42A9-990A-E54C6E5A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61940"/>
            <a:ext cx="11277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Consultazione: 13 ottobre 2026. I documenti dei componenti non certificano GUARDIAN completo. Le foto mostrano GUARDIAN: i numeri visualizzati sono esempi di letture, non risultati di validazione</a:t>
            </a:r>
          </a:p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metrologica.</a:t>
            </a:r>
          </a:p>
        </p:txBody>
      </p:sp>
    </p:spTree>
    <p:extLst>
      <p:ext uri="{BB962C8B-B14F-4D97-AF65-F5344CB8AC3E}">
        <p14:creationId xmlns:p14="http://schemas.microsoft.com/office/powerpoint/2010/main" val="160780273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1117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FF1B16-A8FA-4DBA-9ECA-4BEBE710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550"/>
            <a:ext cx="11480800" cy="151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50" b="1">
                <a:solidFill>
                  <a:srgbClr val="65A5FF"/>
                </a:solidFill>
                <a:latin typeface="Arial"/>
                <a:ea typeface="Arial"/>
                <a:cs typeface="Arial"/>
              </a:defRPr>
            </a:pPr>
            <a:r>
              <a:rPr sz="850" b="1">
                <a:solidFill>
                  <a:srgbClr val="65A5FF"/>
                </a:solidFill>
                <a:latin typeface="Arial"/>
                <a:ea typeface="Arial"/>
                <a:cs typeface="Arial"/>
              </a:rPr>
              <a:t>BIBLIOGRAFIA VERIFICABILE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001A1E-EB59-4EA6-B9F5-A5038822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1200"/>
            <a:ext cx="11277600" cy="529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900" b="1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F6F8FC"/>
                </a:solidFill>
                <a:latin typeface="Arial"/>
                <a:ea typeface="Arial"/>
                <a:cs typeface="Arial"/>
              </a:rPr>
              <a:t>Fonti e documenti di riferimento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A3948-301E-4805-952A-21E6513C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0"/>
            <a:ext cx="11480800" cy="14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GUARDIAN MAKERS     /    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78B9EE-0074-449C-B98B-9F024E9B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8900" y="7226300"/>
            <a:ext cx="419100" cy="160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9C4D3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2B043F-6051-486B-B134-BC98D6F5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240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4c8de0d4183049d4"/>
              </a:rPr>
              <a:t>S15 · Regolamento REACH (CE) 1907/2006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5937eec4d4df4cd5"/>
              </a:rPr>
              <a:t>Apri il documento originale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8EE64-7A87-4569-9991-ED11E83E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7612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1df7d848290e4639"/>
              </a:rPr>
              <a:t>S16 · Sensirion - dichiarazione REACH / RoHS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bc46d4e136a44b6e"/>
              </a:rPr>
              <a:t>Apri il documento originale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14C6E-BA75-46B8-B319-4F8F62540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2984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b09f6d429ed74ec8"/>
              </a:rPr>
              <a:t>S17 · Espressif - installazione Arduino ESP32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a04ce616d2dd4bc8"/>
              </a:rPr>
              <a:t>Apri il documento originale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EF4C6-1ACB-4A39-AEAB-A0E70A8F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8356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0d7bcdc7b5e643ac"/>
              </a:rPr>
              <a:t>S18 · Freenove - repository FNK0115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7bac46d038c84e5a"/>
              </a:rPr>
              <a:t>Apri il documento originale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77B14C-872F-4CEC-AA2B-06A08AA7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7280"/>
            <a:ext cx="11277600" cy="41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f846d421178549af"/>
              </a:rPr>
              <a:t>S19 · Sensirion - scheda prodotto SEN69C</a:t>
            </a:r>
          </a:p>
          <a:p xmlns:a="http://schemas.openxmlformats.org/drawingml/2006/main">
            <a:pPr>
              <a:buNone/>
              <a:defRPr sz="1100" b="0">
                <a:solidFill>
                  <a:srgbClr val="F6F8FC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6F8FC"/>
                </a:solidFill>
                <a:latin typeface="Arial"/>
                <a:ea typeface="Arial"/>
                <a:cs typeface="Arial"/>
                <a:hlinkClick xmlns:r="http://schemas.openxmlformats.org/officeDocument/2006/relationships" r:id="R2a5d1c48065e4855"/>
              </a:rPr>
              <a:t>Apri il documento originale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E3DEF2-0ACC-4FDF-A058-E2AD5C84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4500"/>
            <a:ext cx="11277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Consultazione: 13 ottobre 2026. I documenti dei componenti non certificano GUARDIAN completo. Le foto mostrano GUARDIAN: i numeri visualizzati sono esempi di letture, non risultati di validazione</a:t>
            </a:r>
          </a:p>
          <a:p xmlns:a="http://schemas.openxmlformats.org/drawingml/2006/main">
            <a:pPr>
              <a:buNone/>
              <a:defRPr sz="1000" b="0">
                <a:solidFill>
                  <a:srgbClr val="B9C4D3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B9C4D3"/>
                </a:solidFill>
                <a:latin typeface="Arial"/>
                <a:ea typeface="Arial"/>
                <a:cs typeface="Arial"/>
              </a:rPr>
              <a:t>metrologica.</a:t>
            </a:r>
          </a:p>
        </p:txBody>
      </p:sp>
    </p:spTree>
    <p:extLst>
      <p:ext uri="{BB962C8B-B14F-4D97-AF65-F5344CB8AC3E}">
        <p14:creationId xmlns:p14="http://schemas.microsoft.com/office/powerpoint/2010/main" val="6053321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2026-10-28T08:00:43.6900000Z</dcterms:created>
  <dcterms:modified xsi:type="dcterms:W3CDTF">2026-10-28T08:00:43.6900000Z</dcterms:modified>
</coreProperties>
</file>