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c4ae83640d4352" /><Relationship Type="http://schemas.openxmlformats.org/officeDocument/2006/relationships/extended-properties" Target="/docProps/app.xml" Id="Rd7c86e0ee3a44173" /><Relationship Type="http://schemas.openxmlformats.org/officeDocument/2006/relationships/officeDocument" Target="/ppt/presentation.xml" Id="R9932433354a24c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1a81e8e09c452e"/>
  </p:sldMasterIdLst>
  <p:notesMasterIdLst>
    <p:notesMasterId xmlns:r="http://schemas.openxmlformats.org/officeDocument/2006/relationships" r:id="Rfc3c1b263838455d"/>
  </p:notesMasterIdLst>
  <p:sldIdLst>
    <p:sldId xmlns:r="http://schemas.openxmlformats.org/officeDocument/2006/relationships" id="256" r:id="Rbc6f7ab825644cb1"/>
    <p:sldId xmlns:r="http://schemas.openxmlformats.org/officeDocument/2006/relationships" id="257" r:id="R53c715a00b254d54"/>
    <p:sldId xmlns:r="http://schemas.openxmlformats.org/officeDocument/2006/relationships" id="258" r:id="R334d677ff16b4989"/>
    <p:sldId xmlns:r="http://schemas.openxmlformats.org/officeDocument/2006/relationships" id="259" r:id="Re12f85ae2cd94f4e"/>
    <p:sldId xmlns:r="http://schemas.openxmlformats.org/officeDocument/2006/relationships" id="260" r:id="Rd43c9a55118c49ae"/>
    <p:sldId xmlns:r="http://schemas.openxmlformats.org/officeDocument/2006/relationships" id="261" r:id="R9a7460a3ddb94174"/>
    <p:sldId xmlns:r="http://schemas.openxmlformats.org/officeDocument/2006/relationships" id="262" r:id="Rb40271e4bdf14a36"/>
    <p:sldId xmlns:r="http://schemas.openxmlformats.org/officeDocument/2006/relationships" id="263" r:id="Rf9fd362dfb154be2"/>
    <p:sldId xmlns:r="http://schemas.openxmlformats.org/officeDocument/2006/relationships" id="264" r:id="R9d33920c650848c0"/>
    <p:sldId xmlns:r="http://schemas.openxmlformats.org/officeDocument/2006/relationships" id="265" r:id="R5283548ed2eb4b4b"/>
    <p:sldId xmlns:r="http://schemas.openxmlformats.org/officeDocument/2006/relationships" id="266" r:id="Rd8ba1870e39e4304"/>
    <p:sldId xmlns:r="http://schemas.openxmlformats.org/officeDocument/2006/relationships" id="267" r:id="R2a34862ec032424f"/>
    <p:sldId xmlns:r="http://schemas.openxmlformats.org/officeDocument/2006/relationships" id="268" r:id="R546299ceb9e14c8e"/>
    <p:sldId xmlns:r="http://schemas.openxmlformats.org/officeDocument/2006/relationships" id="269" r:id="Rc9a9b8f22a724df2"/>
    <p:sldId xmlns:r="http://schemas.openxmlformats.org/officeDocument/2006/relationships" id="270" r:id="Ra2d104b14008433d"/>
    <p:sldId xmlns:r="http://schemas.openxmlformats.org/officeDocument/2006/relationships" id="271" r:id="R3de078dbf94147d4"/>
    <p:sldId xmlns:r="http://schemas.openxmlformats.org/officeDocument/2006/relationships" id="272" r:id="Rf027618141db45a3"/>
    <p:sldId xmlns:r="http://schemas.openxmlformats.org/officeDocument/2006/relationships" id="273" r:id="R0ea1da9049294964"/>
    <p:sldId xmlns:r="http://schemas.openxmlformats.org/officeDocument/2006/relationships" id="274" r:id="R92eaba85f09e4561"/>
    <p:sldId xmlns:r="http://schemas.openxmlformats.org/officeDocument/2006/relationships" id="275" r:id="R98dceb54b0bd4526"/>
    <p:sldId xmlns:r="http://schemas.openxmlformats.org/officeDocument/2006/relationships" id="276" r:id="Rd8ef5bb77db040ef"/>
    <p:sldId xmlns:r="http://schemas.openxmlformats.org/officeDocument/2006/relationships" id="277" r:id="R574d51e79d124543"/>
    <p:sldId xmlns:r="http://schemas.openxmlformats.org/officeDocument/2006/relationships" id="278" r:id="Rbc319b6728dd4abd"/>
    <p:sldId xmlns:r="http://schemas.openxmlformats.org/officeDocument/2006/relationships" id="279" r:id="R8fcfa218e7c54ec1"/>
    <p:sldId xmlns:r="http://schemas.openxmlformats.org/officeDocument/2006/relationships" id="280" r:id="R6890f9b41c95405c"/>
    <p:sldId xmlns:r="http://schemas.openxmlformats.org/officeDocument/2006/relationships" id="281" r:id="Rbc5cf9c00fe0488c"/>
    <p:sldId xmlns:r="http://schemas.openxmlformats.org/officeDocument/2006/relationships" id="282" r:id="Rf7d379c50ccf40c3"/>
    <p:sldId xmlns:r="http://schemas.openxmlformats.org/officeDocument/2006/relationships" id="283" r:id="R0d9b441508944ae4"/>
    <p:sldId xmlns:r="http://schemas.openxmlformats.org/officeDocument/2006/relationships" id="284" r:id="Rd7390b49365d4d71"/>
    <p:sldId xmlns:r="http://schemas.openxmlformats.org/officeDocument/2006/relationships" id="285" r:id="R8bfb9bf5d0c744cb"/>
  </p:sldIdLst>
  <p:sldSz cx="121920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8058b18b534b72" /><Relationship Type="http://schemas.openxmlformats.org/officeDocument/2006/relationships/slideMaster" Target="/ppt/slideMasters/slideMaster1.xml" Id="R871a81e8e09c452e" /><Relationship Type="http://schemas.openxmlformats.org/officeDocument/2006/relationships/notesMaster" Target="/ppt/notesMasters/notesMaster1.xml" Id="Rfc3c1b263838455d" /><Relationship Type="http://schemas.openxmlformats.org/officeDocument/2006/relationships/presProps" Target="/ppt/presProps.xml" Id="Rfde503760bfa4a72" /><Relationship Type="http://schemas.openxmlformats.org/officeDocument/2006/relationships/tableStyles" Target="/ppt/tableStyles.xml" Id="R8d929555bd5f4e91" /><Relationship Type="http://schemas.openxmlformats.org/officeDocument/2006/relationships/slide" Target="/ppt/slides/slide1.xml" Id="Rbc6f7ab825644cb1" /><Relationship Type="http://schemas.openxmlformats.org/officeDocument/2006/relationships/slide" Target="/ppt/slides/slide2.xml" Id="R53c715a00b254d54" /><Relationship Type="http://schemas.openxmlformats.org/officeDocument/2006/relationships/slide" Target="/ppt/slides/slide3.xml" Id="R334d677ff16b4989" /><Relationship Type="http://schemas.openxmlformats.org/officeDocument/2006/relationships/slide" Target="/ppt/slides/slide4.xml" Id="Re12f85ae2cd94f4e" /><Relationship Type="http://schemas.openxmlformats.org/officeDocument/2006/relationships/slide" Target="/ppt/slides/slide5.xml" Id="Rd43c9a55118c49ae" /><Relationship Type="http://schemas.openxmlformats.org/officeDocument/2006/relationships/slide" Target="/ppt/slides/slide6.xml" Id="R9a7460a3ddb94174" /><Relationship Type="http://schemas.openxmlformats.org/officeDocument/2006/relationships/slide" Target="/ppt/slides/slide7.xml" Id="Rb40271e4bdf14a36" /><Relationship Type="http://schemas.openxmlformats.org/officeDocument/2006/relationships/slide" Target="/ppt/slides/slide8.xml" Id="Rf9fd362dfb154be2" /><Relationship Type="http://schemas.openxmlformats.org/officeDocument/2006/relationships/slide" Target="/ppt/slides/slide9.xml" Id="R9d33920c650848c0" /><Relationship Type="http://schemas.openxmlformats.org/officeDocument/2006/relationships/slide" Target="/ppt/slides/slide10.xml" Id="R5283548ed2eb4b4b" /><Relationship Type="http://schemas.openxmlformats.org/officeDocument/2006/relationships/slide" Target="/ppt/slides/slide11.xml" Id="Rd8ba1870e39e4304" /><Relationship Type="http://schemas.openxmlformats.org/officeDocument/2006/relationships/slide" Target="/ppt/slides/slide12.xml" Id="R2a34862ec032424f" /><Relationship Type="http://schemas.openxmlformats.org/officeDocument/2006/relationships/slide" Target="/ppt/slides/slide13.xml" Id="R546299ceb9e14c8e" /><Relationship Type="http://schemas.openxmlformats.org/officeDocument/2006/relationships/slide" Target="/ppt/slides/slide14.xml" Id="Rc9a9b8f22a724df2" /><Relationship Type="http://schemas.openxmlformats.org/officeDocument/2006/relationships/slide" Target="/ppt/slides/slide15.xml" Id="Ra2d104b14008433d" /><Relationship Type="http://schemas.openxmlformats.org/officeDocument/2006/relationships/slide" Target="/ppt/slides/slide16.xml" Id="R3de078dbf94147d4" /><Relationship Type="http://schemas.openxmlformats.org/officeDocument/2006/relationships/slide" Target="/ppt/slides/slide17.xml" Id="Rf027618141db45a3" /><Relationship Type="http://schemas.openxmlformats.org/officeDocument/2006/relationships/slide" Target="/ppt/slides/slide18.xml" Id="R0ea1da9049294964" /><Relationship Type="http://schemas.openxmlformats.org/officeDocument/2006/relationships/slide" Target="/ppt/slides/slide19.xml" Id="R92eaba85f09e4561" /><Relationship Type="http://schemas.openxmlformats.org/officeDocument/2006/relationships/slide" Target="/ppt/slides/slide20.xml" Id="R98dceb54b0bd4526" /><Relationship Type="http://schemas.openxmlformats.org/officeDocument/2006/relationships/slide" Target="/ppt/slides/slide21.xml" Id="Rd8ef5bb77db040ef" /><Relationship Type="http://schemas.openxmlformats.org/officeDocument/2006/relationships/slide" Target="/ppt/slides/slide22.xml" Id="R574d51e79d124543" /><Relationship Type="http://schemas.openxmlformats.org/officeDocument/2006/relationships/slide" Target="/ppt/slides/slide23.xml" Id="Rbc319b6728dd4abd" /><Relationship Type="http://schemas.openxmlformats.org/officeDocument/2006/relationships/slide" Target="/ppt/slides/slide24.xml" Id="R8fcfa218e7c54ec1" /><Relationship Type="http://schemas.openxmlformats.org/officeDocument/2006/relationships/slide" Target="/ppt/slides/slide25.xml" Id="R6890f9b41c95405c" /><Relationship Type="http://schemas.openxmlformats.org/officeDocument/2006/relationships/slide" Target="/ppt/slides/slide26.xml" Id="Rbc5cf9c00fe0488c" /><Relationship Type="http://schemas.openxmlformats.org/officeDocument/2006/relationships/slide" Target="/ppt/slides/slide27.xml" Id="Rf7d379c50ccf40c3" /><Relationship Type="http://schemas.openxmlformats.org/officeDocument/2006/relationships/slide" Target="/ppt/slides/slide28.xml" Id="R0d9b441508944ae4" /><Relationship Type="http://schemas.openxmlformats.org/officeDocument/2006/relationships/slide" Target="/ppt/slides/slide29.xml" Id="Rd7390b49365d4d71" /><Relationship Type="http://schemas.openxmlformats.org/officeDocument/2006/relationships/slide" Target="/ppt/slides/slide30.xml" Id="R8bfb9bf5d0c744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459d3b719a47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166ffebf034b30" /><Relationship Type="http://schemas.openxmlformats.org/officeDocument/2006/relationships/notesMaster" Target="/ppt/notesMasters/notesMaster1.xml" Id="R94236bbca8444c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8f75b2b8744b75" /><Relationship Type="http://schemas.openxmlformats.org/officeDocument/2006/relationships/notesMaster" Target="/ppt/notesMasters/notesMaster1.xml" Id="R94f000f5385447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4a87f7e52049ba" /><Relationship Type="http://schemas.openxmlformats.org/officeDocument/2006/relationships/notesMaster" Target="/ppt/notesMasters/notesMaster1.xml" Id="Ra176687a2e5442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758a20aa3347f4" /><Relationship Type="http://schemas.openxmlformats.org/officeDocument/2006/relationships/notesMaster" Target="/ppt/notesMasters/notesMaster1.xml" Id="R49119049323844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023d4220354e96" /><Relationship Type="http://schemas.openxmlformats.org/officeDocument/2006/relationships/notesMaster" Target="/ppt/notesMasters/notesMaster1.xml" Id="Rf26cdee6ffa943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335b339f1b4425" /><Relationship Type="http://schemas.openxmlformats.org/officeDocument/2006/relationships/notesMaster" Target="/ppt/notesMasters/notesMaster1.xml" Id="R4822f6c48fb04a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4ab1611ab945e4" /><Relationship Type="http://schemas.openxmlformats.org/officeDocument/2006/relationships/notesMaster" Target="/ppt/notesMasters/notesMaster1.xml" Id="R7ef72099f0ef41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279c35f7a241a7" /><Relationship Type="http://schemas.openxmlformats.org/officeDocument/2006/relationships/notesMaster" Target="/ppt/notesMasters/notesMaster1.xml" Id="R89bc9d848a6740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67dd80d547413b" /><Relationship Type="http://schemas.openxmlformats.org/officeDocument/2006/relationships/notesMaster" Target="/ppt/notesMasters/notesMaster1.xml" Id="R676ad2c59cb140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454651731c482e" /><Relationship Type="http://schemas.openxmlformats.org/officeDocument/2006/relationships/notesMaster" Target="/ppt/notesMasters/notesMaster1.xml" Id="Ra51a8b84389247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1e2be6033949fe" /><Relationship Type="http://schemas.openxmlformats.org/officeDocument/2006/relationships/notesMaster" Target="/ppt/notesMasters/notesMaster1.xml" Id="R297195d7269744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83ff55691045f9" /><Relationship Type="http://schemas.openxmlformats.org/officeDocument/2006/relationships/notesMaster" Target="/ppt/notesMasters/notesMaster1.xml" Id="R074c458014744a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e688703178475a" /><Relationship Type="http://schemas.openxmlformats.org/officeDocument/2006/relationships/notesMaster" Target="/ppt/notesMasters/notesMaster1.xml" Id="Ref48fc3012384b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b1eb37651e4ff7" /><Relationship Type="http://schemas.openxmlformats.org/officeDocument/2006/relationships/notesMaster" Target="/ppt/notesMasters/notesMaster1.xml" Id="Rc9fe5002d6d542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18bf76a9c04287" /><Relationship Type="http://schemas.openxmlformats.org/officeDocument/2006/relationships/notesMaster" Target="/ppt/notesMasters/notesMaster1.xml" Id="R9e9b1882d10d41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c2f17472294465" /><Relationship Type="http://schemas.openxmlformats.org/officeDocument/2006/relationships/notesMaster" Target="/ppt/notesMasters/notesMaster1.xml" Id="Rd9fbc5cc840543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29eb7816d04af5" /><Relationship Type="http://schemas.openxmlformats.org/officeDocument/2006/relationships/notesMaster" Target="/ppt/notesMasters/notesMaster1.xml" Id="R2b96e909054349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b16306ea364c07" /><Relationship Type="http://schemas.openxmlformats.org/officeDocument/2006/relationships/notesMaster" Target="/ppt/notesMasters/notesMaster1.xml" Id="R87dd2a2b618342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ea6d0d0ab747cb" /><Relationship Type="http://schemas.openxmlformats.org/officeDocument/2006/relationships/notesMaster" Target="/ppt/notesMasters/notesMaster1.xml" Id="Racc8cd2cfe3446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944203e76c4b28" /><Relationship Type="http://schemas.openxmlformats.org/officeDocument/2006/relationships/notesMaster" Target="/ppt/notesMasters/notesMaster1.xml" Id="R153b2279d8df49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794c003e2d45e7" /><Relationship Type="http://schemas.openxmlformats.org/officeDocument/2006/relationships/notesMaster" Target="/ppt/notesMasters/notesMaster1.xml" Id="Reac7f2628a95452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ecf99b0a8ce47bc" /><Relationship Type="http://schemas.openxmlformats.org/officeDocument/2006/relationships/notesMaster" Target="/ppt/notesMasters/notesMaster1.xml" Id="R2ce5fa39af59483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f566b2847a04602" /><Relationship Type="http://schemas.openxmlformats.org/officeDocument/2006/relationships/notesMaster" Target="/ppt/notesMasters/notesMaster1.xml" Id="Rffc30bcfc7b9458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f08c923af0c4c60" /><Relationship Type="http://schemas.openxmlformats.org/officeDocument/2006/relationships/notesMaster" Target="/ppt/notesMasters/notesMaster1.xml" Id="Rd54f358041a340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ab9a5d283f04db8" /><Relationship Type="http://schemas.openxmlformats.org/officeDocument/2006/relationships/notesMaster" Target="/ppt/notesMasters/notesMaster1.xml" Id="R7c14d7f4485b4e0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b07c7f4524f40fc" /><Relationship Type="http://schemas.openxmlformats.org/officeDocument/2006/relationships/notesMaster" Target="/ppt/notesMasters/notesMaster1.xml" Id="Rfefbd3c4eeff43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5da7126d9524fab" /><Relationship Type="http://schemas.openxmlformats.org/officeDocument/2006/relationships/notesMaster" Target="/ppt/notesMasters/notesMaster1.xml" Id="Rf9f62754740e47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547d8e5bf6548c0" /><Relationship Type="http://schemas.openxmlformats.org/officeDocument/2006/relationships/notesMaster" Target="/ppt/notesMasters/notesMaster1.xml" Id="R6018fd7775f0464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dc474b1d9ba487c" /><Relationship Type="http://schemas.openxmlformats.org/officeDocument/2006/relationships/notesMaster" Target="/ppt/notesMasters/notesMaster1.xml" Id="R39ad353fc218441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ad89e980b334291" /><Relationship Type="http://schemas.openxmlformats.org/officeDocument/2006/relationships/notesMaster" Target="/ppt/notesMasters/notesMaster1.xml" Id="R31d9f726b42744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e71a853b144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0648b1c6142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3ccfdda224c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a242d1a774f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d667a2d5d47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4054a03ea40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AFF67-C22E-489C-982C-C2DB67640C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78667"/>
            <a:ext cx="9753600" cy="110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47C9DF-6E0A-47E3-B8EA-906E4384A0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4191000"/>
            <a:ext cx="8534400" cy="84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30621B-33E8-401B-8630-FC1F1C4054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175000"/>
            <a:ext cx="97536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8EA190-9B64-4FF5-9E6E-92030B650F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2667"/>
            <a:ext cx="10820400" cy="93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374C3F-AC7C-437A-9A85-55F1FBD887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16667"/>
            <a:ext cx="10820400" cy="474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B639DE-B4C8-4694-8E05-BDDDD73FEE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2667"/>
            <a:ext cx="10820400" cy="93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26CE56-AE19-4C91-99C5-920E279788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16667"/>
            <a:ext cx="5029200" cy="474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7087E1-AE5B-4E73-BD6A-687479C9B9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2116667"/>
            <a:ext cx="5029200" cy="474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63D7AD-CC53-4F15-8A40-A2647D75C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2667"/>
            <a:ext cx="10820400" cy="93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0E6143-BEA3-45EF-A312-12D2BD91A1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16667"/>
            <a:ext cx="5029200" cy="474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82d24714e94510" /><Relationship Type="http://schemas.openxmlformats.org/officeDocument/2006/relationships/slideLayout" Target="/ppt/slideLayouts/slideLayout1.xml" Id="Rb0d063edf62c49bf" /><Relationship Type="http://schemas.openxmlformats.org/officeDocument/2006/relationships/slideLayout" Target="/ppt/slideLayouts/slideLayout2.xml" Id="R8afa9a71f8eb4305" /><Relationship Type="http://schemas.openxmlformats.org/officeDocument/2006/relationships/slideLayout" Target="/ppt/slideLayouts/slideLayout3.xml" Id="R4c6f663c83014b46" /><Relationship Type="http://schemas.openxmlformats.org/officeDocument/2006/relationships/slideLayout" Target="/ppt/slideLayouts/slideLayout4.xml" Id="R25e8a679606d4293" /><Relationship Type="http://schemas.openxmlformats.org/officeDocument/2006/relationships/slideLayout" Target="/ppt/slideLayouts/slideLayout5.xml" Id="R3d22d796c1d14458" /><Relationship Type="http://schemas.openxmlformats.org/officeDocument/2006/relationships/slideLayout" Target="/ppt/slideLayouts/slideLayout6.xml" Id="Ra64a8137134e49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d063edf62c49bf"/>
    <p:sldLayoutId xmlns:r="http://schemas.openxmlformats.org/officeDocument/2006/relationships" id="2147483650" r:id="R8afa9a71f8eb4305"/>
    <p:sldLayoutId xmlns:r="http://schemas.openxmlformats.org/officeDocument/2006/relationships" id="2147483651" r:id="R4c6f663c83014b46"/>
    <p:sldLayoutId xmlns:r="http://schemas.openxmlformats.org/officeDocument/2006/relationships" id="2147483652" r:id="R25e8a679606d4293"/>
    <p:sldLayoutId xmlns:r="http://schemas.openxmlformats.org/officeDocument/2006/relationships" id="2147483653" r:id="R3d22d796c1d14458"/>
    <p:sldLayoutId xmlns:r="http://schemas.openxmlformats.org/officeDocument/2006/relationships" id="2147483654" r:id="Ra64a8137134e49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a1c22f44614430" /><Relationship Type="http://schemas.openxmlformats.org/officeDocument/2006/relationships/image" Target="/ppt/media/image.png" Id="R5a3238ca78674dbb" /><Relationship Type="http://schemas.openxmlformats.org/officeDocument/2006/relationships/notesSlide" Target="/ppt/notesSlides/notesSlide1.xml" Id="R4750851f9e2744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d0bdffb744352" /><Relationship Type="http://schemas.openxmlformats.org/officeDocument/2006/relationships/image" Target="/ppt/media/image2.png" Id="Rfcce617f52d54b35" /><Relationship Type="http://schemas.openxmlformats.org/officeDocument/2006/relationships/notesSlide" Target="/ppt/notesSlides/notesSlide2.xml" Id="R9605c865db9548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f5391597a4bb3" /><Relationship Type="http://schemas.openxmlformats.org/officeDocument/2006/relationships/notesSlide" Target="/ppt/notesSlides/notesSlide3.xml" Id="R343ab4a8779841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762870c554992" /><Relationship Type="http://schemas.openxmlformats.org/officeDocument/2006/relationships/image" Target="/ppt/media/image3.png" Id="Ra2f213a8121b48a2" /><Relationship Type="http://schemas.openxmlformats.org/officeDocument/2006/relationships/notesSlide" Target="/ppt/notesSlides/notesSlide4.xml" Id="Re657cbc7b0de46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7fdcec0fc40b3" /><Relationship Type="http://schemas.openxmlformats.org/officeDocument/2006/relationships/image" Target="/ppt/media/image4.png" Id="R4333945b09ab455b" /><Relationship Type="http://schemas.openxmlformats.org/officeDocument/2006/relationships/notesSlide" Target="/ppt/notesSlides/notesSlide5.xml" Id="R91020c24ed994c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d2e2cc0ef4e00" /><Relationship Type="http://schemas.openxmlformats.org/officeDocument/2006/relationships/image" Target="/ppt/media/image5.png" Id="R985645c555784cd1" /><Relationship Type="http://schemas.openxmlformats.org/officeDocument/2006/relationships/notesSlide" Target="/ppt/notesSlides/notesSlide6.xml" Id="R527d23e1510c48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abc385d49240d5" /><Relationship Type="http://schemas.openxmlformats.org/officeDocument/2006/relationships/image" Target="/ppt/media/image6.png" Id="R702307ae0ad94b3c" /><Relationship Type="http://schemas.openxmlformats.org/officeDocument/2006/relationships/notesSlide" Target="/ppt/notesSlides/notesSlide7.xml" Id="R8c72fd879b0e4e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832b8b5f0474c" /><Relationship Type="http://schemas.openxmlformats.org/officeDocument/2006/relationships/image" Target="/ppt/media/image7.png" Id="Ra635b29c60354006" /><Relationship Type="http://schemas.openxmlformats.org/officeDocument/2006/relationships/notesSlide" Target="/ppt/notesSlides/notesSlide8.xml" Id="R7541cc24e37d4c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ff2af3c2840c0" /><Relationship Type="http://schemas.openxmlformats.org/officeDocument/2006/relationships/image" Target="/ppt/media/image8.png" Id="R0a758102cc8f4bed" /><Relationship Type="http://schemas.openxmlformats.org/officeDocument/2006/relationships/notesSlide" Target="/ppt/notesSlides/notesSlide9.xml" Id="Rf14b08694f1c48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007bfd56146e9" /><Relationship Type="http://schemas.openxmlformats.org/officeDocument/2006/relationships/image" Target="/ppt/media/image9.png" Id="Rc690fc89574b4c0d" /><Relationship Type="http://schemas.openxmlformats.org/officeDocument/2006/relationships/notesSlide" Target="/ppt/notesSlides/notesSlide10.xml" Id="R365d268fa31d4b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f11c1e5df4e22" /><Relationship Type="http://schemas.openxmlformats.org/officeDocument/2006/relationships/image" Target="/ppt/media/image10.png" Id="R34d6c6a1438e4559" /><Relationship Type="http://schemas.openxmlformats.org/officeDocument/2006/relationships/notesSlide" Target="/ppt/notesSlides/notesSlide11.xml" Id="R24404bd571494e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773e48b904beb" /><Relationship Type="http://schemas.openxmlformats.org/officeDocument/2006/relationships/image" Target="/ppt/media/image11.png" Id="R85bb0e5355d5491f" /><Relationship Type="http://schemas.openxmlformats.org/officeDocument/2006/relationships/notesSlide" Target="/ppt/notesSlides/notesSlide12.xml" Id="Rc227a38ef8ab41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c6e871cb34528" /><Relationship Type="http://schemas.openxmlformats.org/officeDocument/2006/relationships/image" Target="/ppt/media/image.jpeg" Id="R57a768f4743c4d86" /><Relationship Type="http://schemas.openxmlformats.org/officeDocument/2006/relationships/image" Target="/ppt/media/image2.jpeg" Id="R191e75058210450f" /><Relationship Type="http://schemas.openxmlformats.org/officeDocument/2006/relationships/notesSlide" Target="/ppt/notesSlides/notesSlide13.xml" Id="R2a20b7e0997b4e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cbd13a13f4dc8" /><Relationship Type="http://schemas.openxmlformats.org/officeDocument/2006/relationships/notesSlide" Target="/ppt/notesSlides/notesSlide14.xml" Id="R62b5057d102841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8f1e756694b29" /><Relationship Type="http://schemas.openxmlformats.org/officeDocument/2006/relationships/notesSlide" Target="/ppt/notesSlides/notesSlide15.xml" Id="R81882fa05a7148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8f04ce2ac4ab2" /><Relationship Type="http://schemas.openxmlformats.org/officeDocument/2006/relationships/notesSlide" Target="/ppt/notesSlides/notesSlide16.xml" Id="R5c9c12ae30e74f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e5bd0e4924043" /><Relationship Type="http://schemas.openxmlformats.org/officeDocument/2006/relationships/notesSlide" Target="/ppt/notesSlides/notesSlide17.xml" Id="R59d9840023d240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506b67e5e47d8" /><Relationship Type="http://schemas.openxmlformats.org/officeDocument/2006/relationships/image" Target="/ppt/media/image12.png" Id="R04ed123b6d0b430b" /><Relationship Type="http://schemas.openxmlformats.org/officeDocument/2006/relationships/notesSlide" Target="/ppt/notesSlides/notesSlide18.xml" Id="R315c92e12ea14c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60943faf34283" /><Relationship Type="http://schemas.openxmlformats.org/officeDocument/2006/relationships/image" Target="/ppt/media/image13.png" Id="R02c273fe9d984c76" /><Relationship Type="http://schemas.openxmlformats.org/officeDocument/2006/relationships/notesSlide" Target="/ppt/notesSlides/notesSlide19.xml" Id="R98e39ac7058f4f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0b94305c14463" /><Relationship Type="http://schemas.openxmlformats.org/officeDocument/2006/relationships/notesSlide" Target="/ppt/notesSlides/notesSlide20.xml" Id="Rb5c03b48e1c049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bc2f327614654" /><Relationship Type="http://schemas.openxmlformats.org/officeDocument/2006/relationships/notesSlide" Target="/ppt/notesSlides/notesSlide21.xml" Id="R9ecfded90e054e3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5f153c4e64b6c" /><Relationship Type="http://schemas.openxmlformats.org/officeDocument/2006/relationships/image" Target="/ppt/media/image14.png" Id="R642c7ed3cdb24b65" /><Relationship Type="http://schemas.openxmlformats.org/officeDocument/2006/relationships/image" Target="/ppt/media/image15.png" Id="Re1397216b0f44389" /><Relationship Type="http://schemas.openxmlformats.org/officeDocument/2006/relationships/image" Target="/ppt/media/image16.png" Id="R646a7f7aadc44be4" /><Relationship Type="http://schemas.openxmlformats.org/officeDocument/2006/relationships/image" Target="/ppt/media/image17.png" Id="Rbe29bdc45f23408e" /><Relationship Type="http://schemas.openxmlformats.org/officeDocument/2006/relationships/notesSlide" Target="/ppt/notesSlides/notesSlide22.xml" Id="R201e79f67cbd4e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d86d5cdaa4aa4" /><Relationship Type="http://schemas.openxmlformats.org/officeDocument/2006/relationships/image" Target="/ppt/media/image18.png" Id="R082639f5ea7a494f" /><Relationship Type="http://schemas.openxmlformats.org/officeDocument/2006/relationships/image" Target="/ppt/media/image19.png" Id="R2ee17f25be94419f" /><Relationship Type="http://schemas.openxmlformats.org/officeDocument/2006/relationships/image" Target="/ppt/media/image20.png" Id="R788994ed043f46df" /><Relationship Type="http://schemas.openxmlformats.org/officeDocument/2006/relationships/image" Target="/ppt/media/image21.png" Id="R14fe4a8dce3145ea" /><Relationship Type="http://schemas.openxmlformats.org/officeDocument/2006/relationships/notesSlide" Target="/ppt/notesSlides/notesSlide23.xml" Id="R06564addcdab493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7291b88a442f6" /><Relationship Type="http://schemas.openxmlformats.org/officeDocument/2006/relationships/image" Target="/ppt/media/image22.png" Id="Rc73b140143de4191" /><Relationship Type="http://schemas.openxmlformats.org/officeDocument/2006/relationships/image" Target="/ppt/media/image23.png" Id="R0b034493bbaf41b6" /><Relationship Type="http://schemas.openxmlformats.org/officeDocument/2006/relationships/image" Target="/ppt/media/image24.png" Id="Rc97235a3bca34e96" /><Relationship Type="http://schemas.openxmlformats.org/officeDocument/2006/relationships/image" Target="/ppt/media/image25.png" Id="R10015f7e53544e6c" /><Relationship Type="http://schemas.openxmlformats.org/officeDocument/2006/relationships/notesSlide" Target="/ppt/notesSlides/notesSlide24.xml" Id="Ra55e5046a54145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7d7d1a3284228" /><Relationship Type="http://schemas.openxmlformats.org/officeDocument/2006/relationships/image" Target="/ppt/media/image26.png" Id="R2ee84cf0bd39464d" /><Relationship Type="http://schemas.openxmlformats.org/officeDocument/2006/relationships/image" Target="/ppt/media/image27.png" Id="Rc43c970775294259" /><Relationship Type="http://schemas.openxmlformats.org/officeDocument/2006/relationships/image" Target="/ppt/media/image28.png" Id="R9349fff273714e73" /><Relationship Type="http://schemas.openxmlformats.org/officeDocument/2006/relationships/image" Target="/ppt/media/image29.png" Id="Ra24a032c50914f50" /><Relationship Type="http://schemas.openxmlformats.org/officeDocument/2006/relationships/notesSlide" Target="/ppt/notesSlides/notesSlide25.xml" Id="Rfcb302a7b2ca46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c000376c84f4f" /><Relationship Type="http://schemas.openxmlformats.org/officeDocument/2006/relationships/image" Target="/ppt/media/image30.png" Id="R60e20fd686e64626" /><Relationship Type="http://schemas.openxmlformats.org/officeDocument/2006/relationships/notesSlide" Target="/ppt/notesSlides/notesSlide26.xml" Id="R78d0ac1b534042c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186647d5a4893" /><Relationship Type="http://schemas.openxmlformats.org/officeDocument/2006/relationships/notesSlide" Target="/ppt/notesSlides/notesSlide27.xml" Id="R6a67ede87e32423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2670d0f9841b4" /><Relationship Type="http://schemas.openxmlformats.org/officeDocument/2006/relationships/hyperlink" Target="https://sensirion.com/resource/datasheet/SEN6x" TargetMode="External" Id="Rb9323a5be3c9428d" /><Relationship Type="http://schemas.openxmlformats.org/officeDocument/2006/relationships/hyperlink" Target="https://sensirion.com/media/documents/85536ECA/6A0D6A53/CalibrationCertification_SEN5x_6x.pdf" TargetMode="External" Id="R52fc9463978d4dad" /><Relationship Type="http://schemas.openxmlformats.org/officeDocument/2006/relationships/hyperlink" Target="https://sensirion.com/media/documents/4C2A5D87/6A70A6FF/SEN6x_Mechanical_Design_and_Assembly_Guidelines.pdf" TargetMode="External" Id="R4dfcbe29b97b4418" /><Relationship Type="http://schemas.openxmlformats.org/officeDocument/2006/relationships/hyperlink" Target="https://sensirion.com/media/documents/63F6CCF0/69709F54/PS_AN_SEN6x_Sensor_Specification_Statement_D1.pdf" TargetMode="External" Id="R58d20ec23bc94340" /><Relationship Type="http://schemas.openxmlformats.org/officeDocument/2006/relationships/hyperlink" Target="https://sensirion.com/media/documents/C964FCC8/69709EC3/PS_AN_SEN6x_Temperature_Compensation_and_Acceleration_Application_No.pdf" TargetMode="External" Id="Rda3c3213314f4d07" /><Relationship Type="http://schemas.openxmlformats.org/officeDocument/2006/relationships/hyperlink" Target="https://www.who.int/publications/i/item/9789240034228" TargetMode="External" Id="R20d1c86e699c4424" /><Relationship Type="http://schemas.openxmlformats.org/officeDocument/2006/relationships/hyperlink" Target="https://www.who.int/publications-detail-redirect/9789289002134" TargetMode="External" Id="Re2cd9e6ff47b4fb4" /><Relationship Type="http://schemas.openxmlformats.org/officeDocument/2006/relationships/notesSlide" Target="/ppt/notesSlides/notesSlide28.xml" Id="Rad828c18f28b4da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87125296848fe" /><Relationship Type="http://schemas.openxmlformats.org/officeDocument/2006/relationships/hyperlink" Target="https://www.epa.gov/chemical-research/3d-printing-research-epa" TargetMode="External" Id="R689831b5dde845bd" /><Relationship Type="http://schemas.openxmlformats.org/officeDocument/2006/relationships/hyperlink" Target="https://www.epa.gov/air-sensor-toolbox" TargetMode="External" Id="R324b22dc6701404b" /><Relationship Type="http://schemas.openxmlformats.org/officeDocument/2006/relationships/hyperlink" Target="https://www.umweltbundesamt.de/richtig-lueften-in-schulen" TargetMode="External" Id="R5eded28524c94e4d" /><Relationship Type="http://schemas.openxmlformats.org/officeDocument/2006/relationships/hyperlink" Target="https://eur-lex.europa.eu/eli/dir/2014/53/oj" TargetMode="External" Id="Rfa497db67abb48cd" /><Relationship Type="http://schemas.openxmlformats.org/officeDocument/2006/relationships/hyperlink" Target="https://eur-lex.europa.eu/eli/dir/2011/65/oj" TargetMode="External" Id="Re5651446884f4062" /><Relationship Type="http://schemas.openxmlformats.org/officeDocument/2006/relationships/hyperlink" Target="https://eur-lex.europa.eu/eli/dir_del/2015/863/oj" TargetMode="External" Id="R993b9b6e0a9e42be" /><Relationship Type="http://schemas.openxmlformats.org/officeDocument/2006/relationships/hyperlink" Target="https://eur-lex.europa.eu/eli/dir/2012/19/oj" TargetMode="External" Id="R2432fcc4ea7745ac" /><Relationship Type="http://schemas.openxmlformats.org/officeDocument/2006/relationships/notesSlide" Target="/ppt/notesSlides/notesSlide29.xml" Id="Rc832a0de9e87470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b9ca719534d18" /><Relationship Type="http://schemas.openxmlformats.org/officeDocument/2006/relationships/hyperlink" Target="https://eur-lex.europa.eu/eli/reg/2006/1907/oj" TargetMode="External" Id="R7fed448dfd824b79" /><Relationship Type="http://schemas.openxmlformats.org/officeDocument/2006/relationships/hyperlink" Target="https://sensirion.com/media/documents/09CF2E68/69DFAAD0/Sensirion_REACH-RoHS_Particulate-Matter-Sensor.pdf" TargetMode="External" Id="R58f02b3595174dfc" /><Relationship Type="http://schemas.openxmlformats.org/officeDocument/2006/relationships/hyperlink" Target="https://docs.espressif.com/projects/arduino-esp32/en/latest/installing.html" TargetMode="External" Id="Rff3f782c916144f8" /><Relationship Type="http://schemas.openxmlformats.org/officeDocument/2006/relationships/hyperlink" Target="https://github.com/Freenove/Freenove_ESP32_S3_Display_FNK0115" TargetMode="External" Id="Rd7a1ea352c4c41bc" /><Relationship Type="http://schemas.openxmlformats.org/officeDocument/2006/relationships/hyperlink" Target="https://sensirion.com/products/catalog/SEN69C" TargetMode="External" Id="R964364d510c04d41" /><Relationship Type="http://schemas.openxmlformats.org/officeDocument/2006/relationships/notesSlide" Target="/ppt/notesSlides/notesSlide30.xml" Id="R4193ad66caec4d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111D2-8168-4124-97F6-67C850C1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728A6-5430-467D-BAEF-EC2CAB91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24356-5BFB-49DD-B96D-8DAF4CF9FA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238ca78674dbb"/>
          <a:stretch xmlns:a="http://schemas.openxmlformats.org/drawingml/2006/main"/>
        </p:blipFill>
        <p:spPr>
          <a:xfrm xmlns:a="http://schemas.openxmlformats.org/drawingml/2006/main">
            <a:off x="4927600" y="787400"/>
            <a:ext cx="685800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77D4F-A640-4A08-8E8A-28856007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53340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02227-9BA8-4D6A-8292-50DE0936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435100"/>
            <a:ext cx="41910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MAKERS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0D49C-7935-42FF-97AC-4AF7F290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476500"/>
            <a:ext cx="4191000" cy="84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L’ambiente durante</a:t>
            </a:r>
          </a:p>
          <a:p xmlns:a="http://schemas.openxmlformats.org/drawingml/2006/main">
            <a: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la stampa 3D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D0269-3BAD-41B9-BEE0-80456809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759200"/>
            <a:ext cx="361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Monitoraggio ambientale</a:t>
            </a:r>
          </a:p>
          <a:p xmlns:a="http://schemas.openxmlformats.org/drawingml/2006/main">
            <a: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per gli spazi dei maker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6BC17-A11D-4ECD-9105-2B872B9A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057900"/>
            <a:ext cx="35560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Presentazione prodotto</a:t>
            </a:r>
          </a:p>
          <a:p xmlns:a="http://schemas.openxmlformats.org/drawingml/2006/main">
            <a: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Ottobre 2026</a:t>
            </a:r>
          </a:p>
        </p:txBody>
      </p:sp>
    </p:spTree>
    <p:extLst>
      <p:ext uri="{BB962C8B-B14F-4D97-AF65-F5344CB8AC3E}">
        <p14:creationId xmlns:p14="http://schemas.microsoft.com/office/powerpoint/2010/main" val="1290170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692CC-2FB5-455F-80E9-5AEA599B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IDENTITÀ DEL PROGETTO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832FE-96C7-45F3-9E0E-D4A1A549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Pensato per il banco di lavoro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88AC5-D85A-4FAB-9D4E-97396216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57BB6-558D-4701-9000-79E749AF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0A37A-953E-4D0C-BF0A-E47D650B3A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e617f52d54b35"/>
          <a:stretch xmlns:a="http://schemas.openxmlformats.org/drawingml/2006/main"/>
        </p:blipFill>
        <p:spPr>
          <a:xfrm xmlns:a="http://schemas.openxmlformats.org/drawingml/2006/main">
            <a:off x="521719" y="1651000"/>
            <a:ext cx="5712963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BAD27-F03F-4546-878A-CBFE3BE5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1651000"/>
            <a:ext cx="4940300" cy="29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Osservare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C17B-E07D-4A95-8D47-E96575D7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1987550"/>
            <a:ext cx="4940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Seguire l’evoluzione dell’ambiente durante il lavoro e confrontare</a:t>
            </a:r>
          </a:p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momenti diversi della stessa sessione.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86C04-F8FE-4953-BABF-AB6BB685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645410"/>
            <a:ext cx="4940300" cy="29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Documentare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6E538-D297-4019-BDB9-32D384D9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981960"/>
            <a:ext cx="4940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Conservare le letture in CSV e contestualizzarle con stato della</a:t>
            </a:r>
          </a:p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stampa e filamento comunicati dalla stampante.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E309D-8624-4E2B-917D-163DA2DC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3639820"/>
            <a:ext cx="4940300" cy="29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Interpretare con prudenza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B1D8E-6312-4C88-B70D-8976B3B1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3976370"/>
            <a:ext cx="4940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GUARDIAN è un monitor ambientale. Non è uno strumento di</a:t>
            </a:r>
          </a:p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riferimento, un rilevatore di sicurezza o un attestato di salubrità.</a:t>
            </a:r>
          </a:p>
        </p:txBody>
      </p:sp>
    </p:spTree>
    <p:extLst>
      <p:ext uri="{BB962C8B-B14F-4D97-AF65-F5344CB8AC3E}">
        <p14:creationId xmlns:p14="http://schemas.microsoft.com/office/powerpoint/2010/main" val="543618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9D99D-1E67-403C-90C7-CE6EA45F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PARAMETRI OSSERVATI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663D3-10D2-492D-9724-C94405E6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Dieci parametri, un’unica panoramica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1344F-0D4A-489F-BC87-871F3F82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273F9-353F-4409-B7E8-384DB26E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D62A6-337A-4D65-BB07-B23CFEAC63D4}"/>
              </a:ext>
            </a:extLst>
          </p:cNvPr>
          <p:cNvGraphicFramePr/>
          <p:nvPr/>
        </p:nvGraphicFramePr>
        <p:xfrm>
          <a:off xmlns:a="http://schemas.openxmlformats.org/drawingml/2006/main" x="457200" y="1574800"/>
          <a:ext xmlns:a="http://schemas.openxmlformats.org/drawingml/2006/main" cx="11277600" cy="25069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1000"/>
                <a:gridCol w="1460500"/>
                <a:gridCol w="6896100"/>
              </a:tblGrid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Parametro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Unità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Interpretazione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</a:tr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PM1 / PM2.5 / PM4 / PM10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µg/m³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Concentrazioni di massa stimate otticamente nelle frazioni dimensionali.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</a:tr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CO2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ppm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Supporto alla lettura del ricambio d’aria e dell’occupazione degli ambienti.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</a:tr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Temperatura / umidità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°C / % RH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Comfort personalizzabile, distinto dagli allarmi.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</a:tr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VOC / NOx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Indice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Indicatori relativi, non concentrazioni di singole sostanze.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</a:tr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HCHO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ppb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Formaldeide; disponibile anche la media su 30 minuti.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7572A-8420-4C51-82A5-7FFF90CA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25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Sensore integrato Sensirion SEN69C. Caratteristiche e limiti: S1, S4, S19. Non misura direttamente le particelle ultrafini tipiche di alcune emissioni di stampa 3D.</a:t>
            </a:r>
          </a:p>
        </p:txBody>
      </p:sp>
    </p:spTree>
    <p:extLst>
      <p:ext uri="{BB962C8B-B14F-4D97-AF65-F5344CB8AC3E}">
        <p14:creationId xmlns:p14="http://schemas.microsoft.com/office/powerpoint/2010/main" val="1078888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172DE-C34A-470E-A8DF-145DC31D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INTERFACCIA GUARDIAN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601D9-6D95-48E8-95D2-2B78FD1D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HOME: una lettura immediata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E7519-72B7-4A2F-B442-90C91667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3199F-FF8A-40A3-AAFB-CD6C08DF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9B15F-7967-479E-A8ED-F80C1F0A1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213a8121b48a2"/>
          <a:stretch xmlns:a="http://schemas.openxmlformats.org/drawingml/2006/main"/>
        </p:blipFill>
        <p:spPr>
          <a:xfrm xmlns:a="http://schemas.openxmlformats.org/drawingml/2006/main">
            <a:off x="1005417" y="1435100"/>
            <a:ext cx="5926667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6202B-02BE-4747-94BC-98E7B48F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Valori e unità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D31E2-CE32-475B-A163-681FC7FA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Dieci riquadri riuniscono misure, indici 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indicazioni sintetiche.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BCB70-C15E-4800-8B97-48BE8F71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Soglie e comfort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411A3-32FF-4B84-BDD1-23CAC985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Le soglie personali sono distinte dalle fasce di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comfort di temperatura e umidità.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68FFF-2588-488D-A46F-A6BA3E56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Navigazione essenziale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A7309-597B-426F-A94A-8B592129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HOME, GRAFICI, PRINTER 3D, ALLARMI 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ALTRO restano accessibili.</a:t>
            </a:r>
          </a:p>
        </p:txBody>
      </p:sp>
    </p:spTree>
    <p:extLst>
      <p:ext uri="{BB962C8B-B14F-4D97-AF65-F5344CB8AC3E}">
        <p14:creationId xmlns:p14="http://schemas.microsoft.com/office/powerpoint/2010/main" val="1596862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A1C9B-8CE5-467B-A9A9-6CC2AE7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INTERFACCIA GUARDIAN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AAB37-7FAE-4E28-9AC0-C092347D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Grafici: vedere l’andamento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71A02-6DAD-4B73-BE3A-FEC6E9CD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6F646-654B-410D-8CAA-92244353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EB569-5018-4FC4-B446-9FBA6BBF2B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3945b09ab455b"/>
          <a:stretch xmlns:a="http://schemas.openxmlformats.org/drawingml/2006/main"/>
        </p:blipFill>
        <p:spPr>
          <a:xfrm xmlns:a="http://schemas.openxmlformats.org/drawingml/2006/main">
            <a:off x="1180703" y="1435100"/>
            <a:ext cx="5576094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7193B-C9B4-4C52-BEFA-86F7E38A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Finestre temporali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F7312-A823-4670-92AF-E523F671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Viste su 2, 6, 12 e 24 ore, con griglia leggera 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valori interi sull’asse verticale.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07257-28A1-4D71-9FCC-B1C8CCEE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Informazioni conservate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C6113-F997-4F5F-A0CF-3363D380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Valore attuale, statistiche e riferimenti restano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disponibili sotto il grafico.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4E928-6E53-46CB-B9A6-2CE80E3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Medie pertinenti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6FCAD-84DE-423A-B67C-A09F0A04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PM2.5 e PM10 su 24 ore; HCHO su 30 minuti. Le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finestre incomplete sono segnalate.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E9ED1-239F-4B83-9038-F61FCA68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Storico grafico in memoria volatile; registrazione persistente su microSD. Le medie non trasformano il dispositivo in uno strumento normativo.</a:t>
            </a:r>
          </a:p>
        </p:txBody>
      </p:sp>
    </p:spTree>
    <p:extLst>
      <p:ext uri="{BB962C8B-B14F-4D97-AF65-F5344CB8AC3E}">
        <p14:creationId xmlns:p14="http://schemas.microsoft.com/office/powerpoint/2010/main" val="404564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C560B-0A79-4C72-B54B-9894D526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INTERFACCIA GUARDIAN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069E2-3B09-4B14-8CB6-F11D3F6A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La stampa nel suo contesto ambientale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890FB-1463-4049-9D8A-B476C8DA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D4FC3-70F6-4AAF-AB16-01889092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85AAD-42F1-46B5-88BD-C1169BFF4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645c555784cd1"/>
          <a:stretch xmlns:a="http://schemas.openxmlformats.org/drawingml/2006/main"/>
        </p:blipFill>
        <p:spPr>
          <a:xfrm xmlns:a="http://schemas.openxmlformats.org/drawingml/2006/main">
            <a:off x="1239708" y="1435100"/>
            <a:ext cx="5458083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A0E20-E4C9-4E54-AAAC-D7A69984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Prima, durante, picco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83427-37C9-47B0-A86C-6DF70708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Confronto del parametro scelto con il periodo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precedente e con i valori della sessione.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CC054-9B09-47F6-A701-7742A09F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Stato generale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10467-CFBD-4A39-93ED-8780E1BD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Una barra riassume la condizione rispetto alle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soglie impostate dei parametri valutabili.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28D98-0018-4F7E-836B-53387289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Una correlazione da interpretare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F9F89-164B-4907-BD95-2D290A9B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Variazioni simultanee non dimostrano che la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stampante sia l’unica causa.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58839-3050-4CAD-9B07-E7D6E2F0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Una sessione iniziata a stampa già avviata o con lacune viene indicata come parziale.</a:t>
            </a:r>
          </a:p>
        </p:txBody>
      </p:sp>
    </p:spTree>
    <p:extLst>
      <p:ext uri="{BB962C8B-B14F-4D97-AF65-F5344CB8AC3E}">
        <p14:creationId xmlns:p14="http://schemas.microsoft.com/office/powerpoint/2010/main" val="1029380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A8E53-083D-4982-AEB9-3A31A6CB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INTERFACCIA GUARDIAN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E9D30-C74E-46E9-8044-9028710C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La pagina PRINTER 3D resta completa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2A04D-573D-43D5-9933-42B0F1DF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010AC-D2E2-4D95-994A-AC782309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C443B-4CE5-4778-9365-E621FE85ED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307ae0ad94b3c"/>
          <a:stretch xmlns:a="http://schemas.openxmlformats.org/drawingml/2006/main"/>
        </p:blipFill>
        <p:spPr>
          <a:xfrm xmlns:a="http://schemas.openxmlformats.org/drawingml/2006/main">
            <a:off x="381000" y="1480437"/>
            <a:ext cx="7175500" cy="43543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C0293-3214-402C-8ED4-98DD3D72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Stampante supportata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FA62B-4FCC-4453-B747-64B961C6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Una Bambu Lab A1 sulla rete locale, configurata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con indirizzo, seriale e codice di accesso.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FA43F-D15E-4AE7-9E5A-9A46DD7E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Dati di lavorazione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722AD-3D3E-4473-AE52-2AEE9A61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Anteprima, avanzamento, layer, tempo residuo,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temperature e filamento quando disponibili.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5587F-D0D4-4354-9CA2-28BE5504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Continuità dei dati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FE7BC-342E-422F-8FB4-75EF605E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In caso di disconnessione, gli ultimi valori restano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distinguibili dai dati aggiornati.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E84F8-5489-4B03-AF4D-382FA599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Il collegamento è di monitoraggio: GUARDIAN non arresta la stampante. Anteprima e nome dipendono dai dati e dal file disponibili sulla A1.</a:t>
            </a:r>
          </a:p>
        </p:txBody>
      </p:sp>
    </p:spTree>
    <p:extLst>
      <p:ext uri="{BB962C8B-B14F-4D97-AF65-F5344CB8AC3E}">
        <p14:creationId xmlns:p14="http://schemas.microsoft.com/office/powerpoint/2010/main" val="372018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44312-BC6B-4055-9C7C-AA0A9FDA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INTERFACCIA GUARDIAN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F4D85-A813-4A8E-A7A2-AD7E8F72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Allarmi e comfort hanno ruoli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76A98-3E69-4823-A71F-1128444E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3EF7C-9880-4E73-ADB5-7B6EA114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2366E-9B19-4572-9893-95E9CD8FEF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5b29c60354006"/>
          <a:stretch xmlns:a="http://schemas.openxmlformats.org/drawingml/2006/main"/>
        </p:blipFill>
        <p:spPr>
          <a:xfrm xmlns:a="http://schemas.openxmlformats.org/drawingml/2006/main">
            <a:off x="1115839" y="1435100"/>
            <a:ext cx="5705822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D7158-4E91-434B-ACC8-B592B58A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Centro allarmi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BAC23-B552-4A50-8D44-5BAE2F4E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Raccoglie gli eventi e rende visibili superamenti 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condizioni da controllare.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83312-5DD6-4573-B0F2-CDB93FD3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Soglie personali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B6E40-5150-43C8-AEC8-ED8909B1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L’utente imposta i valori operativi, che non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equivalgono a limiti sanitari certificati.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6A0AD-74F5-4439-967D-2B87D7D3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Comfort discreto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9A85F-B30B-4A16-B64C-E5A9E786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719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Temperatura e umidità fuori dalla fascia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personale producono una segnalazione di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comfort.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3E191-93AC-4EE1-8A29-7E568F16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La stampante normalmente spenta o inattiva non viene interpretata come guasto. La perdita dati durante una stampa è una condizione distinta.</a:t>
            </a:r>
          </a:p>
        </p:txBody>
      </p:sp>
    </p:spTree>
    <p:extLst>
      <p:ext uri="{BB962C8B-B14F-4D97-AF65-F5344CB8AC3E}">
        <p14:creationId xmlns:p14="http://schemas.microsoft.com/office/powerpoint/2010/main" val="386541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63ACF-8832-4A8C-B019-711D0498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INTERFACCIA GUARDIAN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78F80-8777-49AF-B79C-594A59B8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Consultazione anche a distanza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A051A-F2A4-4981-80DD-06916306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C1B9B-408D-4EFC-9256-1D5BEF14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D2A28-62D2-42AB-9F7A-3B59E71D81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58102cc8f4bed"/>
          <a:stretch xmlns:a="http://schemas.openxmlformats.org/drawingml/2006/main"/>
        </p:blipFill>
        <p:spPr>
          <a:xfrm xmlns:a="http://schemas.openxmlformats.org/drawingml/2006/main">
            <a:off x="1389199" y="1435100"/>
            <a:ext cx="5159102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471B8-F8E0-4033-89D6-DF918DB9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PC e smartphone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BA790-4C73-481C-ACCB-FC4397E9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Accesso dal browser sulla rete locale; accesso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remoto tramite VPN della propria rete.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F6F3D-DC6E-4733-9B1A-3A6FEDA3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Configurazione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7EC60-1DA4-4636-B797-BB8E4C11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Rete, orario, illuminazione e impostazioni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disponibili nella versione web.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9CDC9-EB08-4734-905E-9E95F35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Accesso identificabile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74E24-EF52-437D-9FFC-8E4CC4C0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Indirizzo del dispositivo e intensità Wi-Fi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numerica nella pagina RETE.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0C677-045C-4636-BD7C-752F1DB0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Fotografia anonimizzata con dati dimostrativi. Il servizio web locale è HTTP: non esporlo direttamente a Internet.</a:t>
            </a:r>
          </a:p>
        </p:txBody>
      </p:sp>
    </p:spTree>
    <p:extLst>
      <p:ext uri="{BB962C8B-B14F-4D97-AF65-F5344CB8AC3E}">
        <p14:creationId xmlns:p14="http://schemas.microsoft.com/office/powerpoint/2010/main" val="2001232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23804-F73E-4C0B-8F9B-4BD1F06C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INTERFACCIA GUARDIAN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DCB0C-1B97-4D7C-99BF-6C3CF5F0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Luce e orario adattati all’ambiente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C30E8-531D-4AF4-982E-9D329169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BE92E-EB4E-4055-8A09-54AB8DEE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BD57F-2195-4991-9925-C93804521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0fc89574b4c0d"/>
          <a:stretch xmlns:a="http://schemas.openxmlformats.org/drawingml/2006/main"/>
        </p:blipFill>
        <p:spPr>
          <a:xfrm xmlns:a="http://schemas.openxmlformats.org/drawingml/2006/main">
            <a:off x="1088777" y="1435100"/>
            <a:ext cx="5759946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38764-C9E8-4883-BB9E-5B38E699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Manuale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60C72-8922-40C2-8E42-F7204006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Luminosità regolabile anche dal browser dello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smartphone.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C0250-FAE4-4C22-B430-F5562048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Automatica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FE7E5-F18A-4258-8B5D-C4E10603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Livelli giorno/notte con inizio e fine, anche a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cavallo della mezzanotte.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E84F8-0233-4A79-AE36-F85CFD9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Fuso orario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81DDC-8F17-493E-B3E9-C6A31A93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Selezione del fuso e gestione dell’ora legale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secondo il profilo scelto.</a:t>
            </a:r>
          </a:p>
        </p:txBody>
      </p:sp>
    </p:spTree>
    <p:extLst>
      <p:ext uri="{BB962C8B-B14F-4D97-AF65-F5344CB8AC3E}">
        <p14:creationId xmlns:p14="http://schemas.microsoft.com/office/powerpoint/2010/main" val="9984050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2DC04-64BD-4EA8-9D38-20935F8D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INTERFACCIA GUARDIAN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BC88B-3B01-4AA2-8670-AAB23019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Una traccia dei dati da conservare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04AC2-6159-4311-A1C5-2ECB3163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962FF-C119-446B-A54D-477FE927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808D3-F692-475B-BA9E-79965A5BE6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6c6a1438e4559"/>
          <a:stretch xmlns:a="http://schemas.openxmlformats.org/drawingml/2006/main"/>
        </p:blipFill>
        <p:spPr>
          <a:xfrm xmlns:a="http://schemas.openxmlformats.org/drawingml/2006/main">
            <a:off x="1191615" y="1435100"/>
            <a:ext cx="5554269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0EE35-C4B9-4C2B-AB18-51BFC760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microSD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2FBEC-76BE-42DB-8CA8-8BB6ADA3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Registrazione periodica in CSV con unità 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contesto della sessione.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9A56F-40FA-4BBE-9DA2-B3823861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Download dal 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8EBC5-8847-4346-8DE5-B334D430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Accesso dedicato al CSV corrente e pagine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successive per lo storico.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E2A33-B096-477D-9352-A51CBC21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Gestione locale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6DED3-AF7B-484B-8713-875F90BF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Lettura, test della scheda e formattazione con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conferma esplicita.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626BE-44E5-4B88-975E-059E2E77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FORMATTA cancella tutti i file della microSD.</a:t>
            </a:r>
          </a:p>
        </p:txBody>
      </p:sp>
    </p:spTree>
    <p:extLst>
      <p:ext uri="{BB962C8B-B14F-4D97-AF65-F5344CB8AC3E}">
        <p14:creationId xmlns:p14="http://schemas.microsoft.com/office/powerpoint/2010/main" val="1183276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CBCD0-2EEF-400D-8646-85D7C2CF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INTERFACCIA GUARDIAN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9DA84-771D-4D17-AD83-DAEEB5B3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Manutenzione leggibile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1631E-491A-48D6-8E64-16EFD129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66603-371D-4C6B-8790-D4698952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DD074-E57A-4911-BDAC-286110BD9D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b0e5355d5491f"/>
          <a:stretch xmlns:a="http://schemas.openxmlformats.org/drawingml/2006/main"/>
        </p:blipFill>
        <p:spPr>
          <a:xfrm xmlns:a="http://schemas.openxmlformats.org/drawingml/2006/main">
            <a:off x="1322640" y="1435100"/>
            <a:ext cx="5292219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52737-3E10-41A7-8A9F-CE6DD43C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Pulizia ventola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076FD-B194-4A0C-8800-3B85F617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Comando dedicato con stato della procedura 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ripresa delle misure.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000D-6922-48BA-9D36-45956F9F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F120B-98C7-4A90-9378-7B77B5BB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Preparazione separata dalla calibrazione, che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richiede un riferimento affidabile.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72365-A9C6-427D-B283-5A5DFA08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Ripristini distinti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D6121-D99F-4E7A-A358-10745F00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Reset CO2, ripristino GUARDIAN e formattazione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SD hanno effetti diversi.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21F94-5049-4A26-A09F-E391BBB1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La disponibilità di un comando non attesta l’accuratezza dopo la sua esecuzione. Seguire le condizioni del produttore e il manuale.</a:t>
            </a:r>
          </a:p>
        </p:txBody>
      </p:sp>
    </p:spTree>
    <p:extLst>
      <p:ext uri="{BB962C8B-B14F-4D97-AF65-F5344CB8AC3E}">
        <p14:creationId xmlns:p14="http://schemas.microsoft.com/office/powerpoint/2010/main" val="2631244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00CEA-2E90-430C-A143-57B036CC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REALIZZAZIONE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2EF8C-3668-40CD-976D-3D9F9FB9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Accessibile e manutenibile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764F4-015A-4941-BC02-41E78BB8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8266D-8F68-4336-8B53-3593A3A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C4939-6356-4000-89F6-71D3F0393F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768f4743c4d86"/>
          <a:stretch xmlns:a="http://schemas.openxmlformats.org/drawingml/2006/main"/>
        </p:blipFill>
        <p:spPr>
          <a:xfrm xmlns:a="http://schemas.openxmlformats.org/drawingml/2006/main">
            <a:off x="901700" y="1397000"/>
            <a:ext cx="4572000" cy="3429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83972-1239-401C-B4B2-50E6E1BCF7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e75058210450f"/>
          <a:stretch xmlns:a="http://schemas.openxmlformats.org/drawingml/2006/main"/>
        </p:blipFill>
        <p:spPr>
          <a:xfrm xmlns:a="http://schemas.openxmlformats.org/drawingml/2006/main">
            <a:off x="6756400" y="1397000"/>
            <a:ext cx="45720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43959-1AA1-4F63-AE11-16D5397F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4510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Due accessi USB-C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1DD4C-7757-4C0E-93AB-39AA95B3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5140"/>
            <a:ext cx="11277600" cy="24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Presa posteriore per alimentazione; laterale per programmazione, protetta da tappo in TPU.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B872D-BBFE-4064-9585-5CD983E7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86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Sensore e vano elettronica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A89FD-9427-432D-B5EC-53D0BF40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11900"/>
            <a:ext cx="11277600" cy="24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SEN69C sul retro, supporto rimovibile e pannello separatore interno. Mantenere liberi e distinti i percorsi dell’aria.</a:t>
            </a:r>
          </a:p>
        </p:txBody>
      </p:sp>
    </p:spTree>
    <p:extLst>
      <p:ext uri="{BB962C8B-B14F-4D97-AF65-F5344CB8AC3E}">
        <p14:creationId xmlns:p14="http://schemas.microsoft.com/office/powerpoint/2010/main" val="96185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C2CC6-C9FE-4FAC-815C-00D98E9A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MISURE, MEDIE E LIMITI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5C7D8-7165-42B6-8D97-F42A1FCC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Come leggere i riferimenti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CD185-21FB-4508-8750-F5B7BCBD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B552E-8470-4788-8F10-ADAC8931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B905C-D351-453C-9D46-2B0EA023F64B}"/>
              </a:ext>
            </a:extLst>
          </p:cNvPr>
          <p:cNvGraphicFramePr/>
          <p:nvPr/>
        </p:nvGraphicFramePr>
        <p:xfrm>
          <a:off xmlns:a="http://schemas.openxmlformats.org/drawingml/2006/main" x="457200" y="1587500"/>
          <a:ext xmlns:a="http://schemas.openxmlformats.org/drawingml/2006/main" cx="11277600" cy="200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87500"/>
                <a:gridCol w="3365500"/>
                <a:gridCol w="6324600"/>
              </a:tblGrid>
              <a:tr h="40132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Indicazione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Riferimento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Uso corretto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</a:tr>
              <a:tr h="40132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PM2.5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OMS 2021: 15 µg/m³ / 24 h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Media completa dopo 24 ore di registrazione valida; prima è parziale.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</a:tr>
              <a:tr h="40132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PM10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OMS 2021: 45 µg/m³ / 24 h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Media completa dopo 24 ore di registrazione valida; prima è parziale.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</a:tr>
              <a:tr h="40132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HCHO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OMS 2010: 0,1 mg/m³ / 30 min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Circa 81 ppb a 25 °C e 1 atm; la conversione dipende dalle condizioni.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</a:tr>
              <a:tr h="40132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CO2, VOC, NOx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Ventilazione / indici relativi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Non rilevano tutti gli inquinanti e non garantiscono da soli aria sicura.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BE43C-6038-4B7D-A25C-2FEA9995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85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S6, S7, S10. Le linee guida OMS non certificano GUARDIAN e non sostituiscono la valutazione dell’esposizione professionale.</a:t>
            </a:r>
          </a:p>
        </p:txBody>
      </p:sp>
    </p:spTree>
    <p:extLst>
      <p:ext uri="{BB962C8B-B14F-4D97-AF65-F5344CB8AC3E}">
        <p14:creationId xmlns:p14="http://schemas.microsoft.com/office/powerpoint/2010/main" val="5650906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ABEEC-8E3E-4B64-A8CF-02C92FC2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IMPIEGO E LIMITI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E835E-969A-4B1E-B1FF-18849768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Interpretare correttamente le misure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B2D03-8C5B-4197-AE8A-E865C399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6E12C-7252-436B-B22F-3E003746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62EF7-A40B-40A6-B151-594403E0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Monitoraggio continuo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0DE0D-588E-41F9-A840-8A2DF195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0570"/>
            <a:ext cx="1127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GUARDIAN riunisce letture ambientali, storico, registrazione su microSD, consultazione web e informazioni della stampante in</a:t>
            </a:r>
          </a:p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un’unica interfaccia.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52B37-1773-4573-8D34-099F1434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4470"/>
            <a:ext cx="112776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Accuratezza e condizioni di utilizzo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BD154-7410-491C-B70C-2FBCB5CC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040"/>
            <a:ext cx="1127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Le letture dipendono anche dal posizionamento, dai ricambi d’aria e dalle condizioni termiche. Non è disponibile una validazione</a:t>
            </a:r>
          </a:p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metrologica indipendente del dispositivo completo.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203B8-DAC4-425E-A98F-8009824A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37940"/>
            <a:ext cx="112776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Limiti da mantenere visibili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BBCF4-DEB4-4D64-AD53-A90F4BC8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7510"/>
            <a:ext cx="1127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Il PM ottico non misura direttamente l’intera frazione ultrafine. Gli indici gas non identificano ogni composto. Valori bassi non</a:t>
            </a:r>
          </a:p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equivalgono automaticamente ad aria sicura. [S1, S8, S9]</a:t>
            </a:r>
          </a:p>
        </p:txBody>
      </p:sp>
    </p:spTree>
    <p:extLst>
      <p:ext uri="{BB962C8B-B14F-4D97-AF65-F5344CB8AC3E}">
        <p14:creationId xmlns:p14="http://schemas.microsoft.com/office/powerpoint/2010/main" val="997133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D645C-54A5-4667-9821-68D77559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DOCUMENTAZIONE TECNICA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90BF7-4133-4375-9296-43828927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Calibrazione e conformità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68AEC-AE1F-49D2-ADBE-869629BB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0D86A-0405-412A-AFBF-215F8743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97B09-D706-4513-8112-F867A9BE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Dichiarazione Sensirion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8FB0B-83CC-4CD4-A7FC-4E3371E0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4060"/>
            <a:ext cx="11277600" cy="744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Sensirion dichiara che ogni dispositivo delle famiglie elencate, incluso SEN69C, viene collaudato singolarmente dopo la calibrazione. La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dichiarazione riguarda i sensori di particolato SEN5x/SEN6x; il documento originale è allegato al manuale. Non è un rapporto di taratura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individuale di GUARDIAN né una certificazione di tutti i suoi canali. [S2]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59321-80FD-4F33-8420-2D331968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Prodotto completo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6E3CD-63AF-43A7-825C-12D54DF3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914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La documentazione REACH/RoHS dei componenti è un elemento del fascicolo tecnico, non una dichiarazione di conformità dell’intero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dispositivo. [S16]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BFB2B-ADC2-49E9-BF84-EC9ABF58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002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Prima di un’eventuale commercializzazione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22BC7-3286-4F03-9BA6-174896AD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308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Andranno definiti gli obblighi applicabili al prodotto finito e verificate sicurezza, radio/compatibilità elettromagnetica e documentazione. RED,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RoHS, RAEE e REACH sono riferimenti da valutare: qui non si dichiara una certificazione ottenuta. [S11-S15]</a:t>
            </a:r>
          </a:p>
        </p:txBody>
      </p:sp>
    </p:spTree>
    <p:extLst>
      <p:ext uri="{BB962C8B-B14F-4D97-AF65-F5344CB8AC3E}">
        <p14:creationId xmlns:p14="http://schemas.microsoft.com/office/powerpoint/2010/main" val="16262622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3F1B4-E8FF-4DA4-BCA4-21FD034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EDIZIONE OTTOBRE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E3C09-71CE-4B94-A30D-DF3BFBB6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Illuminazione: aggiornamento collaudato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923CE-DFD1-4E72-A35E-FA3BF813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C9EE8-9739-42E0-8D5F-0C2547E5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9EC82-A5C7-49D6-ADE3-A6A0E4F3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PWM della retroilluminazione a 25 kHz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ECB46-DEF6-4743-A53C-257FC9CA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406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Il proprietario ha confermato la scomparsa del sibilo a 5 kHz dopo il passaggio a 25 kHz. Verificate con esito positivo la luminosità manuale e la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programmazione giorno/notte.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FF073-39B4-4226-AB08-1D80F648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494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Identificazione della versione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5E36B-8060-4ED8-AEEA-E380900B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Questa edizione descrive GUARDIAN bilingue con la modifica a 25 kHz. Lo sketch collaudato riporta 1.0.0-rc3-pwm25-test1: questa sigla può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ancora comparire sul dispositivo e nel browser.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EFF07-DD47-4454-B26F-61577D43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888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Impostazioni e aggiornamenti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68C8D-DDF9-4EF3-868B-E9EC9D7E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194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La luminosità resta regolabile da display e browser. Questa modifica non richiede ripristino di fabbrica né formattazione della microSD.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39B3D-BC16-4B56-96B1-F5527ECC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168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Ambito del collaudo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1E34A-46F8-4672-A16C-4F2E0967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474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La verifica funzionale sul prototipo del proprietario consente di mantenere questa impostazione. Non costituisce validazione metrologica o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certificazione del prodotto completo.</a:t>
            </a:r>
          </a:p>
        </p:txBody>
      </p:sp>
    </p:spTree>
    <p:extLst>
      <p:ext uri="{BB962C8B-B14F-4D97-AF65-F5344CB8AC3E}">
        <p14:creationId xmlns:p14="http://schemas.microsoft.com/office/powerpoint/2010/main" val="5468514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CF9E3-A854-469F-8CDB-1CB9A1C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COMANDI SUL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294D1-625B-420E-9396-93B83509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Il menu ALTRO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7C3C4-13D7-43F3-8474-6408FAF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DCFF0-2FF6-43CB-82FB-7A305B3E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97B27-A068-4FE7-8FF6-208C6ED9D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d123b6d0b430b"/>
          <a:stretch xmlns:a="http://schemas.openxmlformats.org/drawingml/2006/main"/>
        </p:blipFill>
        <p:spPr>
          <a:xfrm xmlns:a="http://schemas.openxmlformats.org/drawingml/2006/main">
            <a:off x="2707938" y="1333500"/>
            <a:ext cx="6776124" cy="406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97CB3-BAE2-464C-B659-81C59965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8500"/>
            <a:ext cx="11277600" cy="265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Selezionare SISTEMA per scegliere la lingua oppure accedere a riavvio e ripristino.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FBAAF-EFAC-40F3-B9D7-618CFEC0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945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Immagine ripulita dalla fotografia fornita: riflessi rimossi e prospettiva corretta. Testi e comandi mantenuti.</a:t>
            </a:r>
          </a:p>
        </p:txBody>
      </p:sp>
    </p:spTree>
    <p:extLst>
      <p:ext uri="{BB962C8B-B14F-4D97-AF65-F5344CB8AC3E}">
        <p14:creationId xmlns:p14="http://schemas.microsoft.com/office/powerpoint/2010/main" val="5119328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86DFB-2E82-44D7-AFA8-BC50D61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COMANDI SUL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FE11A-3B46-47BC-9848-0F264975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Sistema e lingua dell’interfaccia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00007-29ED-4C89-9C83-56311BE4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2EA6D-4D3A-4DDF-A1CE-92BB5182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C3AFC-A4A4-4C8C-9560-615A08A616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273fe9d984c76"/>
          <a:stretch xmlns:a="http://schemas.openxmlformats.org/drawingml/2006/main"/>
        </p:blipFill>
        <p:spPr>
          <a:xfrm xmlns:a="http://schemas.openxmlformats.org/drawingml/2006/main">
            <a:off x="2707938" y="1333500"/>
            <a:ext cx="6776124" cy="406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4B6F0-644B-460A-AD21-AF2B3E18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8500"/>
            <a:ext cx="112776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Scegliere Italiano o English: la lingua viene salvata senza riavvio. RIAVVIA conserva le impostazioni; RIPRISTINO cancella impostazioni GUARDIAN e</a:t>
            </a:r>
          </a:p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accesso web. I CSV restano sulla microSD.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BC181-3239-4C92-A96F-A6DBD7E0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945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Immagine ripulita dalla fotografia fornita: riflessi rimossi e prospettiva corretta. Testi e comandi mantenuti.</a:t>
            </a:r>
          </a:p>
        </p:txBody>
      </p:sp>
    </p:spTree>
    <p:extLst>
      <p:ext uri="{BB962C8B-B14F-4D97-AF65-F5344CB8AC3E}">
        <p14:creationId xmlns:p14="http://schemas.microsoft.com/office/powerpoint/2010/main" val="17430488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5AD6E-FD68-4B94-9875-20F4F4E7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LINGUA DELL’INTERFACCIA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67B9B-958C-43F2-9EF2-DDF9757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Italiano e English sullo stesso dispositivo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BA82C-9019-4E24-B236-10F37F50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1E9F9-5A26-4EF5-A207-0F0D7B64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D786D-2E54-4FED-9246-4F72B641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Scelta sul display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B3A41-19C0-483F-9B05-22C21494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406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ALTRO → SISTEMA: scegliere Italiano o English. La scelta viene memorizzata senza riavvio. Al primo avvio senza preferenze salvate viene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usato l’italiano.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7D217-97AC-4809-AE6A-01291BA9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494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PC e smartphone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052F1-49F6-49E3-968A-481A2831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Seguono la lingua del display ricaricando la pagina entro circa 3 secondi quando raggiungibile. Salvare i moduli aperti prima di cambiare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lingua.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795C1-C41B-4B4A-9CF6-A7F5DAF3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0774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Dopo il riavvio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A6AAA-7200-42E1-9EF3-42C58EC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080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La scelta resta salvata. Il ripristino GUARDIAN riporta all’italiano. Nomi lavori, dati inseriti e formato CSV rimangono invariati.</a:t>
            </a:r>
          </a:p>
        </p:txBody>
      </p:sp>
    </p:spTree>
    <p:extLst>
      <p:ext uri="{BB962C8B-B14F-4D97-AF65-F5344CB8AC3E}">
        <p14:creationId xmlns:p14="http://schemas.microsoft.com/office/powerpoint/2010/main" val="657008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5F87E-6698-4142-A4F3-5BA1E26B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CONTESTO DELLE IMMAGINI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876A8-7DC8-4FF0-A79E-73E884CB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Misure reali e compatibilità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2DEE9-A45F-44C7-BB01-451F7AE2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92CE9-D65E-41FE-B9DB-60B3A4DB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2C72D-C017-46CE-96A4-D07F6045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24 ore per la media completa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C1CC2-6879-4A9D-BC29-20A258E7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406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La media completa PM2.5 / PM10 richiede 24 ore di registrazione con dati validi. Prima del completamento riguarda solo il periodo disponibile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ed è parziale. HCHO usa un periodo distinto di 30 minuti.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29E23-C319-4174-ADB3-82AF2B07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494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Fotografie e dimostrazioni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1B255-8E85-4A8B-AD21-08367FFE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Le fotografie delle schermate mostrano letture reali raccolte su tempi parziali, non medie complete di 24 ore. Rete e credenziali sono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dimostrative. Le schermate ricostruite dal firmware sono indicate separatamente.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EC23E-0BFC-4237-92C9-DCAE7E94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888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Stampante usata nel collaudo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AEB14-22D9-4A13-AF97-64B06F0F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194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Il collaudo è stato eseguito con Bambu Lab A1. GUARDIAN utilizza i protocolli Bambu Lab; altri modelli richiedono verifica. Per altri marchi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occorrono verifica e possibile adattamento.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1C09F-D343-41E6-A6E2-108C49DB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282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Edizione bilingue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A07EA-A92F-49BC-B69D-F64E0B94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3588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Questa documentazione descrive l’interfaccia italiana e inglese. Il primo collaudo funzionale ha dato esito positivo secondo il proprietario; il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collaudo software non costituisce validazione metrologica.</a:t>
            </a:r>
          </a:p>
        </p:txBody>
      </p:sp>
    </p:spTree>
    <p:extLst>
      <p:ext uri="{BB962C8B-B14F-4D97-AF65-F5344CB8AC3E}">
        <p14:creationId xmlns:p14="http://schemas.microsoft.com/office/powerpoint/2010/main" val="8466625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EA9B6-653D-4382-A0E4-300BA64C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ATLANTE DELLE SCHERMATE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80486-E5B3-4047-85D3-16B700D5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Le altre schermate di servizio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F8D30-BF11-4247-9894-E4CFED2A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92289-FB2F-45A0-AE56-7F9BD5E1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BFAF5-0C30-41ED-8088-A0BF849F2D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c7ed3cdb24b65"/>
          <a:stretch xmlns:a="http://schemas.openxmlformats.org/drawingml/2006/main"/>
        </p:blipFill>
        <p:spPr>
          <a:xfrm xmlns:a="http://schemas.openxmlformats.org/drawingml/2006/main">
            <a:off x="1673673" y="1587500"/>
            <a:ext cx="2964554" cy="177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5686A-FFC5-4BCB-866B-E7E662F8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1700"/>
            <a:ext cx="11480800" cy="19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ALTRO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93BA0-605E-4561-8692-18279FAD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Accesso alle funzioni complementari.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A1C14-6EE5-4D68-8CD3-C1D0FB7D7C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97216b0f44389"/>
          <a:stretch xmlns:a="http://schemas.openxmlformats.org/drawingml/2006/main"/>
        </p:blipFill>
        <p:spPr>
          <a:xfrm xmlns:a="http://schemas.openxmlformats.org/drawingml/2006/main">
            <a:off x="7850717" y="1587500"/>
            <a:ext cx="2370667" cy="177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6624B-B4DD-43F9-B2E6-04E7CA08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441700"/>
            <a:ext cx="5600700" cy="19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SENSORE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BA12A-D87C-44BB-861B-284DBFEF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Presenza del modulo e informazioni di stato.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EDAE0-1D9F-4B7D-8996-458E5E8842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a7f7aadc44be4"/>
          <a:stretch xmlns:a="http://schemas.openxmlformats.org/drawingml/2006/main"/>
        </p:blipFill>
        <p:spPr>
          <a:xfrm xmlns:a="http://schemas.openxmlformats.org/drawingml/2006/main">
            <a:off x="2057310" y="4254500"/>
            <a:ext cx="2197280" cy="1778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74C26-77F7-4995-9082-B53FABB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8700"/>
            <a:ext cx="11480800" cy="19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DIAGNOSTICA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69D35-C8EF-471F-A01C-83F508B1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Accesso ai test display, touch e SD.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AA2A1-0995-4036-B589-DB526F50A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9bdc45f23408e"/>
          <a:stretch xmlns:a="http://schemas.openxmlformats.org/drawingml/2006/main"/>
        </p:blipFill>
        <p:spPr>
          <a:xfrm xmlns:a="http://schemas.openxmlformats.org/drawingml/2006/main">
            <a:off x="7964112" y="4254500"/>
            <a:ext cx="2143876" cy="1778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0BA8B-D861-4401-B754-552B43FA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108700"/>
            <a:ext cx="5600700" cy="19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SCHEDA SD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9D0BD-2E79-45A5-96ED-438B4E1B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Stato di registrazione e comandi locali.</a:t>
            </a:r>
          </a:p>
        </p:txBody>
      </p:sp>
    </p:spTree>
    <p:extLst>
      <p:ext uri="{BB962C8B-B14F-4D97-AF65-F5344CB8AC3E}">
        <p14:creationId xmlns:p14="http://schemas.microsoft.com/office/powerpoint/2010/main" val="18676807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30D7B-B276-4535-9C55-114FF01E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ATLANTE DELLE SCHERMATE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56639-D3B9-49AF-B098-ADD80999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Controlli e configurazione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286DF-84FC-4B2F-BBB0-B52EF5F5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F9E28-9B9E-428C-98BD-9BC04310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5FAEF-4E1C-4108-A514-287B80387E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639f5ea7a494f"/>
          <a:stretch xmlns:a="http://schemas.openxmlformats.org/drawingml/2006/main"/>
        </p:blipFill>
        <p:spPr>
          <a:xfrm xmlns:a="http://schemas.openxmlformats.org/drawingml/2006/main">
            <a:off x="2025513" y="1587500"/>
            <a:ext cx="2260874" cy="177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A890B-0D13-4831-85AC-3D47FEBD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1700"/>
            <a:ext cx="11480800" cy="19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SOGLIA PARAMETRO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268A6-F395-4342-9869-3385345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Impostazione del limite operativo personale.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1C30B-B695-476F-A7D8-978EDC198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17f25be94419f"/>
          <a:stretch xmlns:a="http://schemas.openxmlformats.org/drawingml/2006/main"/>
        </p:blipFill>
        <p:spPr>
          <a:xfrm xmlns:a="http://schemas.openxmlformats.org/drawingml/2006/main">
            <a:off x="7915448" y="1587500"/>
            <a:ext cx="2241203" cy="177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CA013-11C2-4745-8DC8-B9CC0C90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441700"/>
            <a:ext cx="5600700" cy="19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ORA E FUSO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D7099-75CC-4416-AEF1-AE207167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Profilo geografico dell’orologio.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CACD5-2692-4EF4-9E16-FC24410172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994ed043f46df"/>
          <a:stretch xmlns:a="http://schemas.openxmlformats.org/drawingml/2006/main"/>
        </p:blipFill>
        <p:spPr>
          <a:xfrm xmlns:a="http://schemas.openxmlformats.org/drawingml/2006/main">
            <a:off x="1995716" y="4254500"/>
            <a:ext cx="2320468" cy="1778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82042-38DD-4C24-8A11-B7464B3A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8700"/>
            <a:ext cx="11480800" cy="19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RIPRISTINO CO2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96A15-D75D-4892-9FBD-1F0CD7D1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Conferma separata per il canale CO2.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F64C3-272D-4313-9435-197AE62624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e4a8dce3145ea"/>
          <a:stretch xmlns:a="http://schemas.openxmlformats.org/drawingml/2006/main"/>
        </p:blipFill>
        <p:spPr>
          <a:xfrm xmlns:a="http://schemas.openxmlformats.org/drawingml/2006/main">
            <a:off x="7553773" y="4254500"/>
            <a:ext cx="2964554" cy="1778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CB21B-40F1-4E02-832D-4F14E783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108700"/>
            <a:ext cx="5600700" cy="19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7EBAF-DA7C-442F-B419-401FC662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Riavvio o ripristino GUARDIAN.</a:t>
            </a:r>
          </a:p>
        </p:txBody>
      </p:sp>
    </p:spTree>
    <p:extLst>
      <p:ext uri="{BB962C8B-B14F-4D97-AF65-F5344CB8AC3E}">
        <p14:creationId xmlns:p14="http://schemas.microsoft.com/office/powerpoint/2010/main" val="11212739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CBAF7-21CC-4BB0-9ABB-7E256B3F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ATLANTE DELLE SCHERMATE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0895D-59D7-4A13-B803-F495619F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Riconoscere gli stati ambientali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86E2A-CCB9-4071-B217-3AEAA750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9C490-B613-43C4-A38D-6B676295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54025-2088-4754-AE6F-06D2C8D2BC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b140143de4191"/>
          <a:stretch xmlns:a="http://schemas.openxmlformats.org/drawingml/2006/main"/>
        </p:blipFill>
        <p:spPr>
          <a:xfrm xmlns:a="http://schemas.openxmlformats.org/drawingml/2006/main">
            <a:off x="1972525" y="1587500"/>
            <a:ext cx="2366850" cy="177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49782-2392-480B-8161-92119468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4400"/>
            <a:ext cx="11480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HOME: allarme CO2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F5072-5098-4F0F-A2B4-7DF455F9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Il colore segnala la condizione rispetto alla soglia impostata.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E6141-0F10-4DF8-A465-3726CA9284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34493bbaf41b6"/>
          <a:stretch xmlns:a="http://schemas.openxmlformats.org/drawingml/2006/main"/>
        </p:blipFill>
        <p:spPr>
          <a:xfrm xmlns:a="http://schemas.openxmlformats.org/drawingml/2006/main">
            <a:off x="7850717" y="1587500"/>
            <a:ext cx="2370667" cy="177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38C5B-C8EF-4341-8C7E-CB30D0CD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454400"/>
            <a:ext cx="56007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CENTRO ALLARMI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A7681-E6B1-4DEF-B239-836A5852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Leggere causa e dato corrente; un allarme è informativo.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552C0-504C-4AD3-976F-5CF27342D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235a3bca34e96"/>
          <a:stretch xmlns:a="http://schemas.openxmlformats.org/drawingml/2006/main"/>
        </p:blipFill>
        <p:spPr>
          <a:xfrm xmlns:a="http://schemas.openxmlformats.org/drawingml/2006/main">
            <a:off x="2105944" y="4254500"/>
            <a:ext cx="2100012" cy="1778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031EB-6846-4E56-B27B-2402340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1400"/>
            <a:ext cx="11480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ANALISI: stampa conclusa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DF92F-0FB6-4F90-9B71-751BD9DE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Riepilogo della sessione e dei campioni disponibili.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ED08D-E585-4DF8-AE50-FECC3766EC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15f7e53544e6c"/>
          <a:stretch xmlns:a="http://schemas.openxmlformats.org/drawingml/2006/main"/>
        </p:blipFill>
        <p:spPr>
          <a:xfrm xmlns:a="http://schemas.openxmlformats.org/drawingml/2006/main">
            <a:off x="7933090" y="4254500"/>
            <a:ext cx="2205920" cy="1778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29504-F76A-4767-8A35-856BFA5A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121400"/>
            <a:ext cx="56007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FORMATTA: conferma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D06A9-4621-494B-BA93-C3737E8D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Cancella tutti i file della scheda; prima eseguire una copia.</a:t>
            </a:r>
          </a:p>
        </p:txBody>
      </p:sp>
    </p:spTree>
    <p:extLst>
      <p:ext uri="{BB962C8B-B14F-4D97-AF65-F5344CB8AC3E}">
        <p14:creationId xmlns:p14="http://schemas.microsoft.com/office/powerpoint/2010/main" val="16483096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21014-7A63-47DA-8130-278EC006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ATLANTE DELLE SCHERMATE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29F00-FF45-425D-8F93-B2DFCB87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Accesso e controlli locali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F0893-256E-4DAF-A117-F71D53FD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CE2D4-EC45-45C1-9ACF-FE4AFCC2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C39D5-EDE4-44F2-ACE8-0327BB754D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84cf0bd39464d"/>
          <a:stretch xmlns:a="http://schemas.openxmlformats.org/drawingml/2006/main"/>
        </p:blipFill>
        <p:spPr>
          <a:xfrm xmlns:a="http://schemas.openxmlformats.org/drawingml/2006/main">
            <a:off x="1970617" y="1587500"/>
            <a:ext cx="2370667" cy="177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9B868-8BCA-42EE-AD15-2DE68054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4400"/>
            <a:ext cx="11480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IMPOSTAZIONI STAMPANTE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65554-8230-4D65-A07A-B3240D95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IP, seriale e codice locale della propria A1. Qui dati dimostrativi.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8D804-77B4-40CA-A5DA-7752BBB251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c970775294259"/>
          <a:stretch xmlns:a="http://schemas.openxmlformats.org/drawingml/2006/main"/>
        </p:blipFill>
        <p:spPr>
          <a:xfrm xmlns:a="http://schemas.openxmlformats.org/drawingml/2006/main">
            <a:off x="7965828" y="1587500"/>
            <a:ext cx="2140444" cy="177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707CA-FD0E-4E51-B054-CDD943C9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454400"/>
            <a:ext cx="56007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ACCESSO DAL 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3ACBD-6D1C-47D8-8A33-2BED94D1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Usare l’indirizzo del proprio monitor. QR qui sostituito.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F4C66-2C17-44B0-8E5D-99B3058956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9fff273714e73"/>
          <a:stretch xmlns:a="http://schemas.openxmlformats.org/drawingml/2006/main"/>
        </p:blipFill>
        <p:spPr>
          <a:xfrm xmlns:a="http://schemas.openxmlformats.org/drawingml/2006/main">
            <a:off x="2041525" y="4254500"/>
            <a:ext cx="2228850" cy="1778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3EE25-9903-46E5-8A15-E171BCD0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1400"/>
            <a:ext cx="11480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TEST DISPLAY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D39E7-92EE-4C85-BB50-4C01A531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Verificare uniformità e difetti persistenti.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48C81-8EED-4558-AD14-E1218BFF76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a032c50914f50"/>
          <a:stretch xmlns:a="http://schemas.openxmlformats.org/drawingml/2006/main"/>
        </p:blipFill>
        <p:spPr>
          <a:xfrm xmlns:a="http://schemas.openxmlformats.org/drawingml/2006/main">
            <a:off x="7886717" y="4254500"/>
            <a:ext cx="2298665" cy="1778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58028-A485-4159-92F8-E3E613EA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121400"/>
            <a:ext cx="56007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TEST TOUCH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6AC95-6A5C-407E-8DED-8444C898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Controllare la risposta nei diversi punti dello schermo.</a:t>
            </a:r>
          </a:p>
        </p:txBody>
      </p:sp>
    </p:spTree>
    <p:extLst>
      <p:ext uri="{BB962C8B-B14F-4D97-AF65-F5344CB8AC3E}">
        <p14:creationId xmlns:p14="http://schemas.microsoft.com/office/powerpoint/2010/main" val="2392469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236B4-E197-4EF9-AE23-2FBCC4AA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INTERFACCIA GUARDIAN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AF027-ADA3-4EF1-A682-5967D152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Regolare rapidamente le soglie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59A3A-764A-47F0-8AAF-ED1F8B54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DCCB1-C73D-4642-BDB9-3AEAEFB4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14EC3-0A50-4BA1-9B55-EF03A94770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20fd686e64626"/>
          <a:stretch xmlns:a="http://schemas.openxmlformats.org/drawingml/2006/main"/>
        </p:blipFill>
        <p:spPr>
          <a:xfrm xmlns:a="http://schemas.openxmlformats.org/drawingml/2006/main">
            <a:off x="1142657" y="1435100"/>
            <a:ext cx="5652185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E1B6B-D6F3-470A-BEC7-B629121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Passi piccoli o grandi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B44CC-93FB-4EB8-9C88-B593C9DB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Tasti ±1, ±10 e ±100: per aumentare di 100 basta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un tocco su +100.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F7754-C445-4480-B1E6-9562DAA5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Pressione prolungata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9FADC-D9D7-4D13-A437-A6EE73DE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Ripete la variazione; mantenendo ±1 premuto il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passo accelera.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1BF59-38E8-4F63-9AB2-1A7ACCFB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Applicare e conservare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DEC16-89BC-4DB3-A8FF-B3C4F5B8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Leggere l’esito del comando. Nel browser il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valore si può inserire direttamente.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55EE3-699F-4CF8-BC1D-DD620C1C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Soglie operative personali: non equivalgono a limiti sanitari certificati.</a:t>
            </a:r>
          </a:p>
        </p:txBody>
      </p:sp>
    </p:spTree>
    <p:extLst>
      <p:ext uri="{BB962C8B-B14F-4D97-AF65-F5344CB8AC3E}">
        <p14:creationId xmlns:p14="http://schemas.microsoft.com/office/powerpoint/2010/main" val="9193970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33A7B-CF79-4089-A13F-F6599010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UTILIZZO QUOTIDIANO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A11E4-E42A-4A6A-9DBF-093FE79C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Dal monitor al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AEC4E-D391-40D2-B308-7BECDC70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8E02F-A48F-4B65-A041-9969906A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57A53-989D-4E43-BFAE-4F89C015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Un percorso ordinato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EC6DA-C08B-4AB7-BBD8-76175A73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406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ANDAMENTO AMBIENTALE → MEDIE AMBIENTALI; ANALISI STAMPA → STAMPA 3D nelle pagine PC e smartphone.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E77B9-1D1C-4661-9A9C-1DF4B8BE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38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Nome del lavoro leggibile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949F1-6CC3-4362-894A-2E55F711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686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“tappo in tpu + tappo in tpu” compare come “tappo in tpu”. Nomi differenti restano visibili. Il file originale della stampa non viene rinominato.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02151-AE5C-47BC-BCC2-B444686A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MANUTENZIONE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61949-48FD-4242-9446-BCA80369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66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Il menu usa la dicitura estesa. Preparazione CO2, calibrazione e pulizia restano procedure distinte.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1A937-8F98-43C0-B652-80C1EFBB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894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Dati e immagini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8D091-E094-4BBC-9CAC-19083813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246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L’anteprima del pezzo è disponibile sul monitor. Le schermate di questa guida sono esempi; rete, credenziali e seriali sono sostituiti con dati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dimostrativi.</a:t>
            </a:r>
          </a:p>
        </p:txBody>
      </p:sp>
    </p:spTree>
    <p:extLst>
      <p:ext uri="{BB962C8B-B14F-4D97-AF65-F5344CB8AC3E}">
        <p14:creationId xmlns:p14="http://schemas.microsoft.com/office/powerpoint/2010/main" val="20423865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2683D-D728-4ED3-8642-8495BD33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BIBLIOGRAFIA VERIFICABILE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9B067-4A8C-4537-BEF3-4DDC7217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Fonti e documenti di riferimento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8BB3B-C625-4126-B46C-A868BB9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40363-1C48-49BF-ABD5-68990A07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8C3D7-E968-4D25-A15E-D7067646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240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b9323a5be3c9428d"/>
              </a:rPr>
              <a:t>S1 · Sensirion - datasheet SEN6x (v1.0, ottobre 2026)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b9323a5be3c9428d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b9323a5be3c9428d"/>
              </a:rPr>
              <a:t>Apri il documento originale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49D8A-8179-4906-90C1-6F971AAA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612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2fc9463978d4dad"/>
              </a:rPr>
              <a:t>S2 · Sensirion - calibrazione di fabbrica SEN5x / SEN6x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2fc9463978d4dad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2fc9463978d4dad"/>
              </a:rPr>
              <a:t>Apri il documento originale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02F8B-8E1F-4440-B109-9630D1C3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984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dfcbe29b97b4418"/>
              </a:rPr>
              <a:t>S3 · Sensirion - integrazione meccanica SEN6x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dfcbe29b97b4418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dfcbe29b97b4418"/>
              </a:rPr>
              <a:t>Apri il documento originale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A8C60-CB23-4386-9DDC-390C4A6A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356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8d20ec23bc94340"/>
              </a:rPr>
              <a:t>S4 · Sensirion - dichiarazione sulle specifiche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8d20ec23bc94340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8d20ec23bc94340"/>
              </a:rPr>
              <a:t>Apri il documento originale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9DC01-4718-43AB-8875-F0ADF792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728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a3c3213314f4d07"/>
              </a:rPr>
              <a:t>S5 · Sensirion - compensazione termica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a3c3213314f4d07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a3c3213314f4d07"/>
              </a:rPr>
              <a:t>Apri il documento originale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48F67-FB3E-45D8-9D30-40CC63CA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20d1c86e699c4424"/>
              </a:rPr>
              <a:t>S6 · OMS - Global Air Quality Guidelines, 2021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20d1c86e699c4424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20d1c86e699c4424"/>
              </a:rPr>
              <a:t>Apri il documento originale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14ACB-EB68-4751-8F9F-98D9A501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472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e2cd9e6ff47b4fb4"/>
              </a:rPr>
              <a:t>S7 · OMS - Indoor Air Quality: selected pollutants, 2010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e2cd9e6ff47b4fb4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e2cd9e6ff47b4fb4"/>
              </a:rPr>
              <a:t>Apri il documento originale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43824-4E6C-45B4-99C2-0BB7062F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194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Consultazione: 13 ottobre 2026. I documenti dei componenti non certificano GUARDIAN completo. Le foto mostrano GUARDIAN: i numeri visualizzati sono esempi di letture, non risultati di validazione</a:t>
            </a:r>
          </a:p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metrologica.</a:t>
            </a:r>
          </a:p>
        </p:txBody>
      </p:sp>
    </p:spTree>
    <p:extLst>
      <p:ext uri="{BB962C8B-B14F-4D97-AF65-F5344CB8AC3E}">
        <p14:creationId xmlns:p14="http://schemas.microsoft.com/office/powerpoint/2010/main" val="5082454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D1C09-88B0-4C01-8F02-72408699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BIBLIOGRAFIA VERIFICABILE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2901B-40AE-4D63-B1EA-CB6CE7E9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Fonti e documenti di riferimento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43D3A-941C-4B77-8AF8-1EF85B0C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1B5C6-7C3C-4412-9110-C3307058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FFE48-D908-4286-8B0E-73FF34FE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240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689831b5dde845bd"/>
              </a:rPr>
              <a:t>S8 · EPA - ricerca sulle emissioni della stampa 3D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689831b5dde845bd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689831b5dde845bd"/>
              </a:rPr>
              <a:t>Apri il documento originale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99A8D-6493-4E20-9F23-832BB06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612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324b22dc6701404b"/>
              </a:rPr>
              <a:t>S9 · EPA - Air Sensor Toolbox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324b22dc6701404b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324b22dc6701404b"/>
              </a:rPr>
              <a:t>Apri il documento originale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0ADD4-D384-4C54-8707-A5C35685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984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eded28524c94e4d"/>
              </a:rPr>
              <a:t>S10 · UBA - CO2 e ricambio d’aria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eded28524c94e4d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eded28524c94e4d"/>
              </a:rPr>
              <a:t>Apri il documento originale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4219C-426F-44A2-A9E0-FD621552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356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fa497db67abb48cd"/>
              </a:rPr>
              <a:t>S11 · Direttiva RED 2014/53/UE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fa497db67abb48cd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fa497db67abb48cd"/>
              </a:rPr>
              <a:t>Apri il documento originale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58379-24DF-43C5-A796-B68BCE62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728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e5651446884f4062"/>
              </a:rPr>
              <a:t>S12 · Direttiva RoHS 2011/65/UE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e5651446884f4062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e5651446884f4062"/>
              </a:rPr>
              <a:t>Apri il documento originale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A9413-0D78-4522-B390-9F0AE008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993b9b6e0a9e42be"/>
              </a:rPr>
              <a:t>S13 · Direttiva delegata (UE) 2015/863 - RoHS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993b9b6e0a9e42be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993b9b6e0a9e42be"/>
              </a:rPr>
              <a:t>Apri il documento originale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44052-5AA1-4C02-A7BB-0C43BB4C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472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2432fcc4ea7745ac"/>
              </a:rPr>
              <a:t>S14 · Direttiva RAEE 2012/19/UE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2432fcc4ea7745ac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2432fcc4ea7745ac"/>
              </a:rPr>
              <a:t>Apri il documento originale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4C502-6080-42A9-990A-E54C6E5A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194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Consultazione: 13 ottobre 2026. I documenti dei componenti non certificano GUARDIAN completo. Le foto mostrano GUARDIAN: i numeri visualizzati sono esempi di letture, non risultati di validazione</a:t>
            </a:r>
          </a:p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metrologica.</a:t>
            </a:r>
          </a:p>
        </p:txBody>
      </p:sp>
    </p:spTree>
    <p:extLst>
      <p:ext uri="{BB962C8B-B14F-4D97-AF65-F5344CB8AC3E}">
        <p14:creationId xmlns:p14="http://schemas.microsoft.com/office/powerpoint/2010/main" val="16078027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F1B16-A8FA-4DBA-9ECA-4BEBE710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5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BIBLIOGRAFIA VERIFICABILE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01A1E-EB59-4EA6-B9F5-A5038822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Fonti e documenti di riferimento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A3948-301E-4805-952A-21E6513C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8B9EE-0074-449C-B98B-9F024E9B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B043F-6051-486B-B134-BC98D6F5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240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7fed448dfd824b79"/>
              </a:rPr>
              <a:t>S15 · Regolamento REACH (CE) 1907/2006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7fed448dfd824b79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7fed448dfd824b79"/>
              </a:rPr>
              <a:t>Apri il documento originale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8EE64-7A87-4569-9991-ED11E83E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612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8f02b3595174dfc"/>
              </a:rPr>
              <a:t>S16 · Sensirion - dichiarazione REACH / RoHS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8f02b3595174dfc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8f02b3595174dfc"/>
              </a:rPr>
              <a:t>Apri il documento originale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14C6E-BA75-46B8-B319-4F8F6254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984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ff3f782c916144f8"/>
              </a:rPr>
              <a:t>S17 · Espressif - installazione Arduino ESP32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ff3f782c916144f8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ff3f782c916144f8"/>
              </a:rPr>
              <a:t>Apri il documento originale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EF4C6-1ACB-4A39-AEAB-A0E70A8F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356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7a1ea352c4c41bc"/>
              </a:rPr>
              <a:t>S18 · Freenove - repository FNK0115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7a1ea352c4c41bc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7a1ea352c4c41bc"/>
              </a:rPr>
              <a:t>Apri il documento originale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7B14C-872F-4CEC-AA2B-06A08AA7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728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964364d510c04d41"/>
              </a:rPr>
              <a:t>S19 · Sensirion - scheda prodotto SEN69C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964364d510c04d41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964364d510c04d41"/>
              </a:rPr>
              <a:t>Apri il documento originale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3DEF2-0ACC-4FDF-A058-E2AD5C84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450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Consultazione: 13 ottobre 2026. I documenti dei componenti non certificano GUARDIAN completo. Le foto mostrano GUARDIAN: i numeri visualizzati sono esempi di letture, non risultati di validazione</a:t>
            </a:r>
          </a:p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metrologica.</a:t>
            </a:r>
          </a:p>
        </p:txBody>
      </p:sp>
    </p:spTree>
    <p:extLst>
      <p:ext uri="{BB962C8B-B14F-4D97-AF65-F5344CB8AC3E}">
        <p14:creationId xmlns:p14="http://schemas.microsoft.com/office/powerpoint/2010/main" val="605332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2026-10-19T16:15:30.0910000Z</dcterms:created>
  <dcterms:modified xsi:type="dcterms:W3CDTF">2026-10-19T16:15:30.0920000Z</dcterms:modified>
</coreProperties>
</file>